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strictFirstAndLastChars="0">
  <p:sldMasterIdLst>
    <p:sldMasterId id="2147483650" r:id="rId1"/>
  </p:sldMasterIdLst>
  <p:notesMasterIdLst>
    <p:notesMasterId r:id="rId2"/>
  </p:notesMasterIdLst>
  <p:sldIdLst>
    <p:sldId id="278" r:id="rId3"/>
    <p:sldId id="279" r:id="rId4"/>
    <p:sldId id="280" r:id="rId5"/>
    <p:sldId id="281" r:id="rId6"/>
    <p:sldId id="282" r:id="rId7"/>
    <p:sldId id="283" r:id="rId8"/>
    <p:sldId id="284" r:id="rId9"/>
    <p:sldId id="285" r:id="rId10"/>
    <p:sldId id="286" r:id="rId11"/>
    <p:sldId id="287" r:id="rId12"/>
  </p:sldIdLst>
  <p:sldSz cy="5143500" cx="9144000"/>
  <p:notesSz cx="5143500" cy="9144000"/>
  <p:defaultTextStyle>
    <a:defPPr lvl="0"/>
    <a:lvl1pPr algn="l" defTabSz="914400" eaLnBrk="1" hangingPunct="1" latinLnBrk="0" lvl="0" marL="0" rtl="0">
      <a:defRPr sz="1800" kern="1200">
        <a:solidFill>
          <a:schemeClr val="tx1"/>
        </a:solidFill>
        <a:latin typeface="+mn-lt"/>
        <a:ea typeface="+mn-ea"/>
        <a:cs typeface="+mn-cs"/>
      </a:defRPr>
    </a:lvl1pPr>
    <a:lvl2pPr algn="l" defTabSz="914400" eaLnBrk="1" hangingPunct="1" latinLnBrk="0" lvl="1" marL="457200" rtl="0">
      <a:defRPr sz="1800" kern="1200">
        <a:solidFill>
          <a:schemeClr val="tx1"/>
        </a:solidFill>
        <a:latin typeface="+mn-lt"/>
        <a:ea typeface="+mn-ea"/>
        <a:cs typeface="+mn-cs"/>
      </a:defRPr>
    </a:lvl2pPr>
    <a:lvl3pPr algn="l" defTabSz="914400" eaLnBrk="1" hangingPunct="1" latinLnBrk="0" lvl="2" marL="914400" rtl="0">
      <a:defRPr sz="1800" kern="1200">
        <a:solidFill>
          <a:schemeClr val="tx1"/>
        </a:solidFill>
        <a:latin typeface="+mn-lt"/>
        <a:ea typeface="+mn-ea"/>
        <a:cs typeface="+mn-cs"/>
      </a:defRPr>
    </a:lvl3pPr>
    <a:lvl4pPr algn="l" defTabSz="914400" eaLnBrk="1" hangingPunct="1" latinLnBrk="0" lvl="3" marL="1371600" rtl="0">
      <a:defRPr sz="1800" kern="1200">
        <a:solidFill>
          <a:schemeClr val="tx1"/>
        </a:solidFill>
        <a:latin typeface="+mn-lt"/>
        <a:ea typeface="+mn-ea"/>
        <a:cs typeface="+mn-cs"/>
      </a:defRPr>
    </a:lvl4pPr>
    <a:lvl5pPr algn="l" defTabSz="914400" eaLnBrk="1" hangingPunct="1" latinLnBrk="0" lvl="4" marL="1828800" rtl="0">
      <a:defRPr sz="1800" kern="1200">
        <a:solidFill>
          <a:schemeClr val="tx1"/>
        </a:solidFill>
        <a:latin typeface="+mn-lt"/>
        <a:ea typeface="+mn-ea"/>
        <a:cs typeface="+mn-cs"/>
      </a:defRPr>
    </a:lvl5pPr>
    <a:lvl6pPr algn="l" defTabSz="914400" eaLnBrk="1" hangingPunct="1" latinLnBrk="0" lvl="5" marL="2286000" rtl="0">
      <a:defRPr sz="1800" kern="1200">
        <a:solidFill>
          <a:schemeClr val="tx1"/>
        </a:solidFill>
        <a:latin typeface="+mn-lt"/>
        <a:ea typeface="+mn-ea"/>
        <a:cs typeface="+mn-cs"/>
      </a:defRPr>
    </a:lvl6pPr>
    <a:lvl7pPr algn="l" defTabSz="914400" eaLnBrk="1" hangingPunct="1" latinLnBrk="0" lvl="6" marL="2743200" rtl="0">
      <a:defRPr sz="1800" kern="1200">
        <a:solidFill>
          <a:schemeClr val="tx1"/>
        </a:solidFill>
        <a:latin typeface="+mn-lt"/>
        <a:ea typeface="+mn-ea"/>
        <a:cs typeface="+mn-cs"/>
      </a:defRPr>
    </a:lvl7pPr>
    <a:lvl8pPr algn="l" defTabSz="914400" eaLnBrk="1" hangingPunct="1" latinLnBrk="0" lvl="7" marL="3200400" rtl="0">
      <a:defRPr sz="1800" kern="1200">
        <a:solidFill>
          <a:schemeClr val="tx1"/>
        </a:solidFill>
        <a:latin typeface="+mn-lt"/>
        <a:ea typeface="+mn-ea"/>
        <a:cs typeface="+mn-cs"/>
      </a:defRPr>
    </a:lvl8pPr>
    <a:lvl9pPr algn="l" defTabSz="914400" eaLnBrk="1" hangingPunct="1" latinLnBrk="0" lvl="8"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5987" autoAdjust="0"/>
    <p:restoredTop sz="94660"/>
  </p:normalViewPr>
  <p:slideViewPr>
    <p:cSldViewPr>
      <p:cViewPr varScale="1">
        <p:scale>
          <a:sx n="116" d="100"/>
          <a:sy n="116" d="100"/>
        </p:scale>
        <p:origin x="1446" y="108"/>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tableStyles" Target="tableStyles.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5" name=""/>
        <p:cNvGrpSpPr/>
        <p:nvPr/>
      </p:nvGrpSpPr>
      <p:grpSpPr>
        <a:xfrm>
          <a:off x="0" y="0"/>
          <a:ext cx="0" cy="0"/>
          <a:chOff x="0" y="0"/>
          <a:chExt cx="0" cy="0"/>
        </a:xfrm>
      </p:grpSpPr>
      <p:sp>
        <p:nvSpPr>
          <p:cNvPr id="1048866"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US"/>
          </a:p>
        </p:txBody>
      </p:sp>
      <p:sp>
        <p:nvSpPr>
          <p:cNvPr id="1048867"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5282F153-3F37-0F45-9E97-73ACFA13230C}" type="datetimeFigureOut">
              <a:rPr lang="en-US"/>
              <a:t>7/23/19</a:t>
            </a:fld>
            <a:endParaRPr lang="en-US"/>
          </a:p>
        </p:txBody>
      </p:sp>
      <p:sp>
        <p:nvSpPr>
          <p:cNvPr id="1048868"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US"/>
          </a:p>
        </p:txBody>
      </p:sp>
      <p:sp>
        <p:nvSpPr>
          <p:cNvPr id="1048869"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0"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US"/>
          </a:p>
        </p:txBody>
      </p:sp>
      <p:sp>
        <p:nvSpPr>
          <p:cNvPr id="1048871"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CE5E9CC1-C706-0F49-92D6-E571CC5EEA8F}" type="slidenum">
              <a:rPr lang="en-US"/>
              <a:t>‹#›</a:t>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746" name="Slide Image Placeholder 1"/>
          <p:cNvSpPr>
            <a:spLocks noChangeAspect="1" noRot="1" noGrp="1"/>
          </p:cNvSpPr>
          <p:nvPr>
            <p:ph type="sldImg"/>
          </p:nvPr>
        </p:nvSpPr>
        <p:spPr/>
      </p:sp>
      <p:sp>
        <p:nvSpPr>
          <p:cNvPr id="1048747" name="Notes Placeholder 2"/>
          <p:cNvSpPr>
            <a:spLocks noGrp="1"/>
          </p:cNvSpPr>
          <p:nvPr>
            <p:ph type="body" idx="1"/>
          </p:nvPr>
        </p:nvSpPr>
        <p:spPr/>
        <p:txBody>
          <a:bodyPr/>
          <a:p>
            <a:r>
              <a:rPr dirty="0" lang="en-US"/>
              <a:t>Welcome. We are Group 39 from TS Academy's Phoenix Cohort. The product we built is called LifeLine — a personal safety and check-in web app for Nigerian campus students. We will walk you through the problem, our user, the solution, and the road ahead.</a:t>
            </a:r>
            <a:endParaRPr dirty="0" lang="en-US"/>
          </a:p>
        </p:txBody>
      </p:sp>
      <p:sp>
        <p:nvSpPr>
          <p:cNvPr id="1048748" name="Slide Number Placeholder 3"/>
          <p:cNvSpPr>
            <a:spLocks noGrp="1"/>
          </p:cNvSpPr>
          <p:nvPr>
            <p:ph type="sldNum" sz="quarter" idx="10"/>
          </p:nvPr>
        </p:nvSpPr>
        <p:spPr/>
        <p:txBody>
          <a:bodyPr/>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692" name="Slide Image Placeholder 1"/>
          <p:cNvSpPr>
            <a:spLocks noChangeAspect="1" noRot="1" noGrp="1"/>
          </p:cNvSpPr>
          <p:nvPr>
            <p:ph type="sldImg"/>
          </p:nvPr>
        </p:nvSpPr>
        <p:spPr/>
      </p:sp>
      <p:sp>
        <p:nvSpPr>
          <p:cNvPr id="1048693" name="Notes Placeholder 2"/>
          <p:cNvSpPr>
            <a:spLocks noGrp="1"/>
          </p:cNvSpPr>
          <p:nvPr>
            <p:ph type="body" idx="1"/>
          </p:nvPr>
        </p:nvSpPr>
        <p:spPr/>
        <p:txBody>
          <a:bodyPr/>
          <a:p>
            <a:r>
              <a:rPr dirty="0" lang="en-US"/>
              <a:t>Our discovery research consistently surfaced one core pain: there is a dangerous gap between informal check-ins (WhatsApp, phone calls) and the emergency services. 79% of the 52 survey respondents reported feeling unsafe on campus after 7pm. All 6 interviewees had already invented manual safety systems for themselves — sharing live locations, pretending to be on calls, texting repeatedly. The product's job is to formalise and automate what they already do.</a:t>
            </a:r>
            <a:endParaRPr dirty="0" lang="en-US"/>
          </a:p>
        </p:txBody>
      </p:sp>
      <p:sp>
        <p:nvSpPr>
          <p:cNvPr id="1048694" name="Slide Number Placeholder 3"/>
          <p:cNvSpPr>
            <a:spLocks noGrp="1"/>
          </p:cNvSpPr>
          <p:nvPr>
            <p:ph type="sldNum" sz="quarter" idx="10"/>
          </p:nvPr>
        </p:nvSpPr>
        <p:spPr/>
        <p:txBody>
          <a:bodyPr/>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3" name=""/>
        <p:cNvGrpSpPr/>
        <p:nvPr/>
      </p:nvGrpSpPr>
      <p:grpSpPr>
        <a:xfrm>
          <a:off x="0" y="0"/>
          <a:ext cx="0" cy="0"/>
          <a:chOff x="0" y="0"/>
          <a:chExt cx="0" cy="0"/>
        </a:xfrm>
      </p:grpSpPr>
      <p:sp>
        <p:nvSpPr>
          <p:cNvPr id="1048638" name="Slide Image Placeholder 1"/>
          <p:cNvSpPr>
            <a:spLocks noChangeAspect="1" noRot="1" noGrp="1"/>
          </p:cNvSpPr>
          <p:nvPr>
            <p:ph type="sldImg"/>
          </p:nvPr>
        </p:nvSpPr>
        <p:spPr/>
      </p:sp>
      <p:sp>
        <p:nvSpPr>
          <p:cNvPr id="1048639" name="Notes Placeholder 2"/>
          <p:cNvSpPr>
            <a:spLocks noGrp="1"/>
          </p:cNvSpPr>
          <p:nvPr>
            <p:ph type="body" idx="1"/>
          </p:nvPr>
        </p:nvSpPr>
        <p:spPr/>
        <p:txBody>
          <a:bodyPr/>
          <a:p>
            <a:r>
              <a:rPr dirty="0" lang="en-US"/>
              <a:t>This is the single insight that changed our product. We originally designed the SOS panic button as the hero feature. After 6 interviews, the pattern was clear: users don't actually fear emergencies every day — they fear the anxiety of routine journeys with no structured check-in. The Safe Arrival flow is used daily. The SOS is the safety net that must be flawless when it fires. This reframe is reflected in our North Star metric, our UI hierarchy, and our GTM messaging.</a:t>
            </a:r>
            <a:endParaRPr dirty="0" lang="en-US"/>
          </a:p>
        </p:txBody>
      </p:sp>
      <p:sp>
        <p:nvSpPr>
          <p:cNvPr id="1048640" name="Slide Number Placeholder 3"/>
          <p:cNvSpPr>
            <a:spLocks noGrp="1"/>
          </p:cNvSpPr>
          <p:nvPr>
            <p:ph type="sldNum" sz="quarter" idx="10"/>
          </p:nvPr>
        </p:nvSpPr>
        <p:spPr/>
        <p:txBody>
          <a:bodyPr/>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048593" name="Slide Image Placeholder 1"/>
          <p:cNvSpPr>
            <a:spLocks noChangeAspect="1" noRot="1" noGrp="1"/>
          </p:cNvSpPr>
          <p:nvPr>
            <p:ph type="sldImg"/>
          </p:nvPr>
        </p:nvSpPr>
        <p:spPr/>
      </p:sp>
      <p:sp>
        <p:nvSpPr>
          <p:cNvPr id="1048594" name="Notes Placeholder 2"/>
          <p:cNvSpPr>
            <a:spLocks noGrp="1"/>
          </p:cNvSpPr>
          <p:nvPr>
            <p:ph type="body" idx="1"/>
          </p:nvPr>
        </p:nvSpPr>
        <p:spPr/>
        <p:txBody>
          <a:bodyPr/>
          <a:p>
            <a:r>
              <a:rPr dirty="0" lang="en-US"/>
              <a:t>Ada is our primary persona. She is not a fictional construct — she represents the composite of 6 real users we interviewed, all of whom shared the same core pattern: they move alone at night on campus, they have invented manual safety systems, and they are anxious not because emergencies happen daily, but because they have no reliable check-in mechanism. Ada's decision to stay in the library late is directly affected by the anxiety of the walk home — that is the opportunity LifeLine addresses.</a:t>
            </a:r>
            <a:endParaRPr dirty="0" lang="en-US"/>
          </a:p>
        </p:txBody>
      </p:sp>
      <p:sp>
        <p:nvSpPr>
          <p:cNvPr id="1048595" name="Slide Number Placeholder 3"/>
          <p:cNvSpPr>
            <a:spLocks noGrp="1"/>
          </p:cNvSpPr>
          <p:nvPr>
            <p:ph type="sldNum" sz="quarter" idx="10"/>
          </p:nvPr>
        </p:nvSpPr>
        <p:spPr/>
        <p:txBody>
          <a:bodyPr/>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0" name=""/>
        <p:cNvGrpSpPr/>
        <p:nvPr/>
      </p:nvGrpSpPr>
      <p:grpSpPr>
        <a:xfrm>
          <a:off x="0" y="0"/>
          <a:ext cx="0" cy="0"/>
          <a:chOff x="0" y="0"/>
          <a:chExt cx="0" cy="0"/>
        </a:xfrm>
      </p:grpSpPr>
      <p:sp>
        <p:nvSpPr>
          <p:cNvPr id="1048620" name="Slide Image Placeholder 1"/>
          <p:cNvSpPr>
            <a:spLocks noChangeAspect="1" noRot="1" noGrp="1"/>
          </p:cNvSpPr>
          <p:nvPr>
            <p:ph type="sldImg"/>
          </p:nvPr>
        </p:nvSpPr>
        <p:spPr/>
      </p:sp>
      <p:sp>
        <p:nvSpPr>
          <p:cNvPr id="1048621" name="Notes Placeholder 2"/>
          <p:cNvSpPr>
            <a:spLocks noGrp="1"/>
          </p:cNvSpPr>
          <p:nvPr>
            <p:ph type="body" idx="1"/>
          </p:nvPr>
        </p:nvSpPr>
        <p:spPr/>
        <p:txBody>
          <a:bodyPr/>
          <a:p>
            <a:r>
              <a:rPr dirty="0" lang="en-US"/>
              <a:t>LifeLine delivers exactly two core flows. Safe Arrival is the daily-habit flow — it handles the routine 'let mum know I'm home' automatically. SOS is the safety net — it rarely fires, but when it does it must be flawless: 3-second deliberate hold to prevent accidental triggers, a 2:45 cancellation window, and automatic escalation if the user cannot respond. Demo OTP code for today is 8484.</a:t>
            </a:r>
            <a:endParaRPr dirty="0" lang="en-US"/>
          </a:p>
        </p:txBody>
      </p:sp>
      <p:sp>
        <p:nvSpPr>
          <p:cNvPr id="1048622" name="Slide Number Placeholder 3"/>
          <p:cNvSpPr>
            <a:spLocks noGrp="1"/>
          </p:cNvSpPr>
          <p:nvPr>
            <p:ph type="sldNum" sz="quarter" idx="10"/>
          </p:nvPr>
        </p:nvSpPr>
        <p:spPr/>
        <p:txBody>
          <a:bodyPr/>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sp>
        <p:nvSpPr>
          <p:cNvPr id="1048671" name="Slide Image Placeholder 1"/>
          <p:cNvSpPr>
            <a:spLocks noChangeAspect="1" noRot="1" noGrp="1"/>
          </p:cNvSpPr>
          <p:nvPr>
            <p:ph type="sldImg"/>
          </p:nvPr>
        </p:nvSpPr>
        <p:spPr/>
      </p:sp>
      <p:sp>
        <p:nvSpPr>
          <p:cNvPr id="1048672" name="Notes Placeholder 2"/>
          <p:cNvSpPr>
            <a:spLocks noGrp="1"/>
          </p:cNvSpPr>
          <p:nvPr>
            <p:ph type="body" idx="1"/>
          </p:nvPr>
        </p:nvSpPr>
        <p:spPr/>
        <p:txBody>
          <a:bodyPr/>
          <a:p>
            <a:r>
              <a:rPr dirty="0" lang="en-US"/>
              <a:t>Open the app on your phone or laptop: tsa-phoenix-safetytech-39.github.io/lifeline/lifelineapp. Walk through: (1) OTP screen — enter 8484. (2) Add a trusted contact. (3) Start a Safe Arrival trip — pick destination, set 30-min ETA, share with contacts. (4) Show the live map and countdown. (5) Tap 'I've arrived safely' — watch the confetti. (6) Return to home screen, hold the SOS button for 3 seconds — show the escalation timer and cancel. If network is slow: the app is a single file with Leaflet embedded — it works offline. OSM tiles are the only network dependency and degrade gracefully to grey.</a:t>
            </a:r>
            <a:endParaRPr dirty="0" lang="en-US"/>
          </a:p>
        </p:txBody>
      </p:sp>
      <p:sp>
        <p:nvSpPr>
          <p:cNvPr id="1048673" name="Slide Number Placeholder 3"/>
          <p:cNvSpPr>
            <a:spLocks noGrp="1"/>
          </p:cNvSpPr>
          <p:nvPr>
            <p:ph type="sldNum" sz="quarter" idx="10"/>
          </p:nvPr>
        </p:nvSpPr>
        <p:spPr/>
        <p:txBody>
          <a:bodyPr/>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737" name="Slide Image Placeholder 1"/>
          <p:cNvSpPr>
            <a:spLocks noChangeAspect="1" noRot="1" noGrp="1"/>
          </p:cNvSpPr>
          <p:nvPr>
            <p:ph type="sldImg"/>
          </p:nvPr>
        </p:nvSpPr>
        <p:spPr/>
      </p:sp>
      <p:sp>
        <p:nvSpPr>
          <p:cNvPr id="1048738" name="Notes Placeholder 2"/>
          <p:cNvSpPr>
            <a:spLocks noGrp="1"/>
          </p:cNvSpPr>
          <p:nvPr>
            <p:ph type="body" idx="1"/>
          </p:nvPr>
        </p:nvSpPr>
        <p:spPr/>
        <p:txBody>
          <a:bodyPr/>
          <a:p>
            <a:r>
              <a:rPr dirty="0" lang="en-US"/>
              <a:t>The defining technical decision was to embed Leaflet (the map library) directly into the HTML file rather than loading it from a CDN. This was not laziness — it was an explicit network-resilience design choice after discovering that CDNs are frequently blocked or throttled on MTN 3G in Nigeria. The result: the app loads from a single 210KB file with no external dependencies at load time. Known limitations are honest — no backend persistence in MVP (planned for V2 via Supabase), and tiles still require network (they degrade gracefully).</a:t>
            </a:r>
            <a:endParaRPr dirty="0" lang="en-US"/>
          </a:p>
        </p:txBody>
      </p:sp>
      <p:sp>
        <p:nvSpPr>
          <p:cNvPr id="1048739" name="Slide Number Placeholder 3"/>
          <p:cNvSpPr>
            <a:spLocks noGrp="1"/>
          </p:cNvSpPr>
          <p:nvPr>
            <p:ph type="sldNum" sz="quarter" idx="10"/>
          </p:nvPr>
        </p:nvSpPr>
        <p:spPr/>
        <p:txBody>
          <a:bodyPr/>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775" name="Slide Image Placeholder 1"/>
          <p:cNvSpPr>
            <a:spLocks noChangeAspect="1" noRot="1" noGrp="1"/>
          </p:cNvSpPr>
          <p:nvPr>
            <p:ph type="sldImg"/>
          </p:nvPr>
        </p:nvSpPr>
        <p:spPr/>
      </p:sp>
      <p:sp>
        <p:nvSpPr>
          <p:cNvPr id="1048776" name="Notes Placeholder 2"/>
          <p:cNvSpPr>
            <a:spLocks noGrp="1"/>
          </p:cNvSpPr>
          <p:nvPr>
            <p:ph type="body" idx="1"/>
          </p:nvPr>
        </p:nvSpPr>
        <p:spPr/>
        <p:txBody>
          <a:bodyPr/>
          <a:p>
            <a:r>
              <a:rPr dirty="0" lang="en-US"/>
              <a:t>The North Star is the single clearest measure of whether LifeLine fulfils its core promise: does Ada get home and does the app register it? We deliberately chose this over vanity metrics like downloads or DAU because it cannot be gamed. The three supporting metrics diagnose WHY the North Star moves: activation rate (are users configured?), daily habit frequency (are they using it?), and emergency effectiveness (does it work when it matters?). A full mocked dashboard is documented in our Metrics &amp; Tracking Plan v2, Section 6.</a:t>
            </a:r>
            <a:endParaRPr dirty="0" lang="en-US"/>
          </a:p>
        </p:txBody>
      </p:sp>
      <p:sp>
        <p:nvSpPr>
          <p:cNvPr id="1048777" name="Slide Number Placeholder 3"/>
          <p:cNvSpPr>
            <a:spLocks noGrp="1"/>
          </p:cNvSpPr>
          <p:nvPr>
            <p:ph type="sldNum" sz="quarter" idx="10"/>
          </p:nvPr>
        </p:nvSpPr>
        <p:spPr/>
        <p:txBody>
          <a:bodyPr/>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824" name="Slide Image Placeholder 1"/>
          <p:cNvSpPr>
            <a:spLocks noChangeAspect="1" noRot="1" noGrp="1"/>
          </p:cNvSpPr>
          <p:nvPr>
            <p:ph type="sldImg"/>
          </p:nvPr>
        </p:nvSpPr>
        <p:spPr/>
      </p:sp>
      <p:sp>
        <p:nvSpPr>
          <p:cNvPr id="1048825" name="Notes Placeholder 2"/>
          <p:cNvSpPr>
            <a:spLocks noGrp="1"/>
          </p:cNvSpPr>
          <p:nvPr>
            <p:ph type="body" idx="1"/>
          </p:nvPr>
        </p:nvSpPr>
        <p:spPr/>
        <p:txBody>
          <a:bodyPr/>
          <a:p>
            <a:r>
              <a:rPr dirty="0" lang="en-US"/>
              <a:t>Our GTM starts hyper-local: UNN, where Ada lives. We start small because it lets us close the feedback loop quickly — we know the campus, we have contacts there, and the tight-knit hostel community is high on referral behaviour. The built-in referral loop is the product's best marketing: every trusted contact Ada adds receives an invitation to download LifeLine. The roadmap is honest about what's in the MVP and what's coming. V2 is the critical milestone — real backend, real SMS, persistent accounts. Full GTM Mini-Plan is a separate 2-page deliverable.</a:t>
            </a:r>
            <a:endParaRPr dirty="0" lang="en-US"/>
          </a:p>
        </p:txBody>
      </p:sp>
      <p:sp>
        <p:nvSpPr>
          <p:cNvPr id="1048826" name="Slide Number Placeholder 3"/>
          <p:cNvSpPr>
            <a:spLocks noGrp="1"/>
          </p:cNvSpPr>
          <p:nvPr>
            <p:ph type="sldNum" sz="quarter" idx="10"/>
          </p:nvPr>
        </p:nvSpPr>
        <p:spPr/>
        <p:txBody>
          <a:bodyPr/>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863" name="Slide Image Placeholder 1"/>
          <p:cNvSpPr>
            <a:spLocks noChangeAspect="1" noRot="1" noGrp="1"/>
          </p:cNvSpPr>
          <p:nvPr>
            <p:ph type="sldImg"/>
          </p:nvPr>
        </p:nvSpPr>
        <p:spPr/>
      </p:sp>
      <p:sp>
        <p:nvSpPr>
          <p:cNvPr id="1048864" name="Notes Placeholder 2"/>
          <p:cNvSpPr>
            <a:spLocks noGrp="1"/>
          </p:cNvSpPr>
          <p:nvPr>
            <p:ph type="body" idx="1"/>
          </p:nvPr>
        </p:nvSpPr>
        <p:spPr/>
        <p:txBody>
          <a:bodyPr/>
          <a:p>
            <a:r>
              <a:rPr dirty="0" lang="en-US"/>
              <a:t>We are five squads who built a real, working safety app from scratch in under four weeks. PM designed the product logic and metrics. Research validated the problem with real users. Design built the flows and Figma prototype. Build shipped a working HTML app. GTM built the strategy and this deck. Three things we would tell the next cohort: let discovery lead, not confirm; treat network constraints as part of your MVP spec; and be honest about what you built vs what you plan to build — judges respect that more than polished fiction. We are ready for questions. The demo URL is live.</a:t>
            </a:r>
            <a:endParaRPr dirty="0" lang="en-US"/>
          </a:p>
        </p:txBody>
      </p:sp>
      <p:sp>
        <p:nvSpPr>
          <p:cNvPr id="1048865" name="Slide Number Placeholder 3"/>
          <p:cNvSpPr>
            <a:spLocks noGrp="1"/>
          </p:cNvSpPr>
          <p:nvPr>
            <p:ph type="sldNum" sz="quarter" idx="10"/>
          </p:nvPr>
        </p:nvSpPr>
        <p:spPr/>
        <p:txBody>
          <a:bodyPr/>
          <a:p>
            <a:fld id="{F7021451-1387-4CA6-816F-3879F97B5CBC}" type="slidenum">
              <a:rPr lang="en-US"/>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4"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2"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51" r:id="rId1"/>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hyperlink" Target="http://tsa-phoenix-safetytech-39.github.io/lifeline/lifelineapp"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E3F"/>
        </a:solidFill>
      </p:bgPr>
    </p:bg>
    <p:spTree>
      <p:nvGrpSpPr>
        <p:cNvPr id="33" name="Shape 50"/>
        <p:cNvGrpSpPr/>
        <p:nvPr/>
      </p:nvGrpSpPr>
      <p:grpSpPr>
        <a:xfrm>
          <a:off x="0" y="0"/>
          <a:ext cx="0" cy="0"/>
          <a:chOff x="0" y="0"/>
          <a:chExt cx="0" cy="0"/>
        </a:xfrm>
      </p:grpSpPr>
      <p:pic>
        <p:nvPicPr>
          <p:cNvPr id="2097158" name="Google Shape;51;p1" descr="/mnt/user-data/uploads/IMG-20260517-WA0000-removebg-preview.png"/>
          <p:cNvPicPr preferRelativeResize="0">
            <a:picLocks/>
          </p:cNvPicPr>
          <p:nvPr/>
        </p:nvPicPr>
        <p:blipFill rotWithShape="1">
          <a:blip xmlns:r="http://schemas.openxmlformats.org/officeDocument/2006/relationships" r:embed="rId1">
            <a:alphaModFix/>
          </a:blip>
          <a:srcRect l="0" t="0" r="0" b="0"/>
          <a:stretch>
            <a:fillRect/>
          </a:stretch>
        </p:blipFill>
        <p:spPr>
          <a:xfrm>
            <a:off x="3566160" y="228600"/>
            <a:ext cx="2011680" cy="2011680"/>
          </a:xfrm>
          <a:prstGeom prst="rect"/>
          <a:noFill/>
          <a:ln>
            <a:noFill/>
          </a:ln>
        </p:spPr>
      </p:pic>
      <p:sp>
        <p:nvSpPr>
          <p:cNvPr id="1048740" name="Google Shape;52;p1"/>
          <p:cNvSpPr/>
          <p:nvPr/>
        </p:nvSpPr>
        <p:spPr>
          <a:xfrm>
            <a:off x="2286000" y="2286000"/>
            <a:ext cx="4572000" cy="777300"/>
          </a:xfrm>
          <a:prstGeom prst="rect"/>
          <a:noFill/>
          <a:ln>
            <a:noFill/>
          </a:ln>
        </p:spPr>
        <p:txBody>
          <a:bodyPr anchor="ctr" anchorCtr="0" bIns="0" lIns="0" rIns="0" spcFirstLastPara="1" tIns="0" wrap="square">
            <a:noAutofit/>
          </a:bodyPr>
          <a:p>
            <a:pPr algn="ctr" indent="0" lvl="0" marL="0" marR="0" rtl="0">
              <a:spcBef>
                <a:spcPts val="0"/>
              </a:spcBef>
              <a:spcAft>
                <a:spcPts val="0"/>
              </a:spcAft>
              <a:buClr>
                <a:srgbClr val="C8D9EE"/>
              </a:buClr>
              <a:buSzPts val="5200"/>
              <a:buFont typeface="Calibri"/>
              <a:buNone/>
            </a:pPr>
            <a:r>
              <a:rPr b="1" cap="none" sz="5200" i="0" lang="en-US" strike="noStrike" u="none">
                <a:solidFill>
                  <a:srgbClr val="C8D9EE"/>
                </a:solidFill>
                <a:latin typeface="Calibri"/>
                <a:ea typeface="Calibri"/>
                <a:cs typeface="Calibri"/>
                <a:sym typeface="Calibri"/>
              </a:rPr>
              <a:t>Life</a:t>
            </a:r>
            <a:r>
              <a:rPr b="1" cap="none" sz="5200" i="0" lang="en-US" strike="noStrike" u="none">
                <a:solidFill>
                  <a:srgbClr val="2DD4BF"/>
                </a:solidFill>
                <a:latin typeface="Calibri"/>
                <a:ea typeface="Calibri"/>
                <a:cs typeface="Calibri"/>
                <a:sym typeface="Calibri"/>
              </a:rPr>
              <a:t>Line</a:t>
            </a:r>
            <a:endParaRPr b="0" cap="none" sz="5200" i="0" strike="noStrike" u="none">
              <a:solidFill>
                <a:schemeClr val="dk1"/>
              </a:solidFill>
              <a:latin typeface="Calibri"/>
              <a:ea typeface="Calibri"/>
              <a:cs typeface="Calibri"/>
              <a:sym typeface="Calibri"/>
            </a:endParaRPr>
          </a:p>
        </p:txBody>
      </p:sp>
      <p:sp>
        <p:nvSpPr>
          <p:cNvPr id="1048741" name="Google Shape;53;p1"/>
          <p:cNvSpPr/>
          <p:nvPr/>
        </p:nvSpPr>
        <p:spPr>
          <a:xfrm>
            <a:off x="2286000" y="3063240"/>
            <a:ext cx="4572000" cy="365700"/>
          </a:xfrm>
          <a:prstGeom prst="rect"/>
          <a:noFill/>
          <a:ln>
            <a:noFill/>
          </a:ln>
        </p:spPr>
        <p:txBody>
          <a:bodyPr anchor="ctr" anchorCtr="0" bIns="0" lIns="0" rIns="0" spcFirstLastPara="1" tIns="0" wrap="square">
            <a:noAutofit/>
          </a:bodyPr>
          <a:p>
            <a:pPr algn="ctr" indent="0" lvl="0" marL="0" marR="0" rtl="0">
              <a:spcBef>
                <a:spcPts val="0"/>
              </a:spcBef>
              <a:spcAft>
                <a:spcPts val="0"/>
              </a:spcAft>
              <a:buClr>
                <a:srgbClr val="2DD4BF"/>
              </a:buClr>
              <a:buSzPts val="1800"/>
              <a:buFont typeface="Calibri"/>
              <a:buNone/>
            </a:pPr>
            <a:r>
              <a:rPr b="0" cap="none" sz="1800" i="1" lang="en-US" strike="noStrike" u="none">
                <a:solidFill>
                  <a:srgbClr val="2DD4BF"/>
                </a:solidFill>
                <a:latin typeface="Calibri"/>
                <a:ea typeface="Calibri"/>
                <a:cs typeface="Calibri"/>
                <a:sym typeface="Calibri"/>
              </a:rPr>
              <a:t>Safety in one tap.</a:t>
            </a:r>
            <a:endParaRPr b="0" cap="none" sz="1800" i="0" strike="noStrike" u="none">
              <a:solidFill>
                <a:schemeClr val="dk1"/>
              </a:solidFill>
              <a:latin typeface="Calibri"/>
              <a:ea typeface="Calibri"/>
              <a:cs typeface="Calibri"/>
              <a:sym typeface="Calibri"/>
            </a:endParaRPr>
          </a:p>
        </p:txBody>
      </p:sp>
      <p:sp>
        <p:nvSpPr>
          <p:cNvPr id="1048742" name="Google Shape;54;p1"/>
          <p:cNvSpPr/>
          <p:nvPr/>
        </p:nvSpPr>
        <p:spPr>
          <a:xfrm>
            <a:off x="1828800" y="3456432"/>
            <a:ext cx="5486400" cy="274200"/>
          </a:xfrm>
          <a:prstGeom prst="rect"/>
          <a:noFill/>
          <a:ln>
            <a:noFill/>
          </a:ln>
        </p:spPr>
        <p:txBody>
          <a:bodyPr anchor="ctr" anchorCtr="0" bIns="0" lIns="0" rIns="0" spcFirstLastPara="1" tIns="0" wrap="square">
            <a:noAutofit/>
          </a:bodyPr>
          <a:p>
            <a:pPr algn="ctr" indent="0" lvl="0" marL="0" marR="0" rtl="0">
              <a:spcBef>
                <a:spcPts val="0"/>
              </a:spcBef>
              <a:spcAft>
                <a:spcPts val="0"/>
              </a:spcAft>
              <a:buClr>
                <a:srgbClr val="8BA9C8"/>
              </a:buClr>
              <a:buSzPts val="1300"/>
              <a:buFont typeface="Calibri"/>
              <a:buNone/>
            </a:pPr>
            <a:r>
              <a:rPr b="0" cap="none" sz="1300" i="0" lang="en-US" strike="noStrike" u="none">
                <a:solidFill>
                  <a:srgbClr val="8BA9C8"/>
                </a:solidFill>
                <a:latin typeface="Calibri"/>
                <a:ea typeface="Calibri"/>
                <a:cs typeface="Calibri"/>
                <a:sym typeface="Calibri"/>
              </a:rPr>
              <a:t>Personal Safety &amp; Check-In</a:t>
            </a:r>
            <a:endParaRPr b="0" cap="none" sz="1300" i="0" strike="noStrike" u="none">
              <a:solidFill>
                <a:schemeClr val="dk1"/>
              </a:solidFill>
              <a:latin typeface="Calibri"/>
              <a:ea typeface="Calibri"/>
              <a:cs typeface="Calibri"/>
              <a:sym typeface="Calibri"/>
            </a:endParaRPr>
          </a:p>
        </p:txBody>
      </p:sp>
      <p:sp>
        <p:nvSpPr>
          <p:cNvPr id="1048743" name="Google Shape;55;p1"/>
          <p:cNvSpPr/>
          <p:nvPr/>
        </p:nvSpPr>
        <p:spPr>
          <a:xfrm>
            <a:off x="3474720" y="3822192"/>
            <a:ext cx="2194500" cy="9000"/>
          </a:xfrm>
          <a:prstGeom prst="rect"/>
          <a:solidFill>
            <a:srgbClr val="2DD4BF"/>
          </a:solidFill>
          <a:ln w="12700" cap="flat" cmpd="sng">
            <a:solidFill>
              <a:srgbClr val="2DD4BF"/>
            </a:solidFill>
            <a:prstDash val="solid"/>
            <a:round/>
            <a:headEnd type="none" w="sm" len="sm"/>
            <a:tailEnd type="none" w="sm" len="sm"/>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744" name="Google Shape;56;p1"/>
          <p:cNvSpPr/>
          <p:nvPr/>
        </p:nvSpPr>
        <p:spPr>
          <a:xfrm>
            <a:off x="914400" y="3913632"/>
            <a:ext cx="7315200" cy="228600"/>
          </a:xfrm>
          <a:prstGeom prst="rect"/>
          <a:noFill/>
          <a:ln>
            <a:noFill/>
          </a:ln>
        </p:spPr>
        <p:txBody>
          <a:bodyPr anchor="ctr" anchorCtr="0" bIns="0" lIns="0" rIns="0" spcFirstLastPara="1" tIns="0" wrap="square">
            <a:noAutofit/>
          </a:bodyPr>
          <a:p>
            <a:pPr algn="ctr" indent="0" lvl="0" marL="0" marR="0" rtl="0">
              <a:spcBef>
                <a:spcPts val="0"/>
              </a:spcBef>
              <a:spcAft>
                <a:spcPts val="0"/>
              </a:spcAft>
              <a:buClr>
                <a:srgbClr val="6B8CAE"/>
              </a:buClr>
              <a:buSzPts val="1000"/>
              <a:buFont typeface="Calibri"/>
              <a:buNone/>
            </a:pPr>
            <a:r>
              <a:rPr b="0" cap="none" sz="1000" i="0" lang="en-US" strike="noStrike" u="none">
                <a:solidFill>
                  <a:srgbClr val="6B8CAE"/>
                </a:solidFill>
                <a:latin typeface="Calibri"/>
                <a:ea typeface="Calibri"/>
                <a:cs typeface="Calibri"/>
                <a:sym typeface="Calibri"/>
              </a:rPr>
              <a:t>Group 39  ·  Phoenix Cohort  ·  TS Academy PM Capstone  ·  May 2026</a:t>
            </a:r>
            <a:endParaRPr b="0" cap="none" sz="1000" i="0" strike="noStrike" u="none">
              <a:solidFill>
                <a:schemeClr val="dk1"/>
              </a:solidFill>
              <a:latin typeface="Calibri"/>
              <a:ea typeface="Calibri"/>
              <a:cs typeface="Calibri"/>
              <a:sym typeface="Calibri"/>
            </a:endParaRPr>
          </a:p>
        </p:txBody>
      </p:sp>
      <p:sp>
        <p:nvSpPr>
          <p:cNvPr id="1048745" name="Google Shape;57;p1"/>
          <p:cNvSpPr/>
          <p:nvPr/>
        </p:nvSpPr>
        <p:spPr>
          <a:xfrm>
            <a:off x="914400" y="4169664"/>
            <a:ext cx="7315200" cy="201300"/>
          </a:xfrm>
          <a:prstGeom prst="rect"/>
          <a:noFill/>
          <a:ln>
            <a:noFill/>
          </a:ln>
        </p:spPr>
        <p:txBody>
          <a:bodyPr anchor="ctr" anchorCtr="0" bIns="0" lIns="0" rIns="0" spcFirstLastPara="1" tIns="0" wrap="square">
            <a:noAutofit/>
          </a:bodyPr>
          <a:p>
            <a:pPr algn="ctr" indent="0" lvl="0" marL="0" marR="0" rtl="0">
              <a:spcBef>
                <a:spcPts val="0"/>
              </a:spcBef>
              <a:spcAft>
                <a:spcPts val="0"/>
              </a:spcAft>
              <a:buClr>
                <a:srgbClr val="5A7A9E"/>
              </a:buClr>
              <a:buSzPts val="950"/>
              <a:buFont typeface="Calibri"/>
              <a:buNone/>
            </a:pPr>
            <a:r>
              <a:rPr sz="950" i="1" lang="en-US">
                <a:solidFill>
                  <a:srgbClr val="5A7A9E"/>
                </a:solidFill>
                <a:latin typeface="Calibri"/>
                <a:ea typeface="Calibri"/>
                <a:cs typeface="Calibri"/>
                <a:sym typeface="Calibri"/>
              </a:rPr>
              <a:t>Anthony Osakwe</a:t>
            </a:r>
            <a:r>
              <a:rPr b="0" cap="none" sz="950" i="1" lang="en-US" strike="noStrike" u="none">
                <a:solidFill>
                  <a:srgbClr val="5A7A9E"/>
                </a:solidFill>
                <a:latin typeface="Calibri"/>
                <a:ea typeface="Calibri"/>
                <a:cs typeface="Calibri"/>
                <a:sym typeface="Calibri"/>
              </a:rPr>
              <a:t>  ·  Faith  ·  </a:t>
            </a:r>
            <a:r>
              <a:rPr sz="950" i="1" lang="en-US">
                <a:solidFill>
                  <a:srgbClr val="5A7A9E"/>
                </a:solidFill>
                <a:latin typeface="Calibri"/>
                <a:ea typeface="Calibri"/>
                <a:cs typeface="Calibri"/>
                <a:sym typeface="Calibri"/>
              </a:rPr>
              <a:t>Bolanle</a:t>
            </a:r>
            <a:r>
              <a:rPr b="0" cap="none" sz="950" i="1" lang="en-US" strike="noStrike" u="none">
                <a:solidFill>
                  <a:srgbClr val="5A7A9E"/>
                </a:solidFill>
                <a:latin typeface="Calibri"/>
                <a:ea typeface="Calibri"/>
                <a:cs typeface="Calibri"/>
                <a:sym typeface="Calibri"/>
              </a:rPr>
              <a:t>  ·  </a:t>
            </a:r>
            <a:r>
              <a:rPr sz="950" i="1" lang="en-US">
                <a:solidFill>
                  <a:srgbClr val="5A7A9E"/>
                </a:solidFill>
                <a:latin typeface="Calibri"/>
                <a:ea typeface="Calibri"/>
                <a:cs typeface="Calibri"/>
                <a:sym typeface="Calibri"/>
              </a:rPr>
              <a:t>Nosa</a:t>
            </a:r>
            <a:r>
              <a:rPr b="0" cap="none" sz="950" i="1" lang="en-US" strike="noStrike" u="none">
                <a:solidFill>
                  <a:srgbClr val="5A7A9E"/>
                </a:solidFill>
                <a:latin typeface="Calibri"/>
                <a:ea typeface="Calibri"/>
                <a:cs typeface="Calibri"/>
                <a:sym typeface="Calibri"/>
              </a:rPr>
              <a:t>  ·  </a:t>
            </a:r>
            <a:r>
              <a:rPr sz="950" i="1" lang="en-US">
                <a:solidFill>
                  <a:srgbClr val="5A7A9E"/>
                </a:solidFill>
                <a:latin typeface="Calibri"/>
                <a:ea typeface="Calibri"/>
                <a:cs typeface="Calibri"/>
                <a:sym typeface="Calibri"/>
              </a:rPr>
              <a:t>Favour</a:t>
            </a:r>
            <a:endParaRPr b="0" cap="none" sz="950" i="0" strike="noStrike" u="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27" name=""/>
        <p:cNvGrpSpPr/>
        <p:nvPr/>
      </p:nvGrpSpPr>
      <p:grpSpPr>
        <a:xfrm>
          <a:off x="0" y="0"/>
          <a:ext cx="0" cy="0"/>
          <a:chOff x="0" y="0"/>
          <a:chExt cx="0" cy="0"/>
        </a:xfrm>
      </p:grpSpPr>
      <p:pic>
        <p:nvPicPr>
          <p:cNvPr id="2097156" name="Image 0" descr="/mnt/user-data/uploads/IMG-20260517-WA0000.jpg"/>
          <p:cNvPicPr>
            <a:picLocks noChangeAspect="1"/>
          </p:cNvPicPr>
          <p:nvPr/>
        </p:nvPicPr>
        <p:blipFill>
          <a:blip xmlns:r="http://schemas.openxmlformats.org/officeDocument/2006/relationships" r:embed="rId1"/>
          <a:stretch>
            <a:fillRect/>
          </a:stretch>
        </p:blipFill>
        <p:spPr>
          <a:xfrm>
            <a:off x="7955280" y="91440"/>
            <a:ext cx="1005840" cy="1005840"/>
          </a:xfrm>
          <a:prstGeom prst="rect"/>
        </p:spPr>
      </p:pic>
      <p:sp>
        <p:nvSpPr>
          <p:cNvPr id="1048674" name="Text 0"/>
          <p:cNvSpPr/>
          <p:nvPr/>
        </p:nvSpPr>
        <p:spPr>
          <a:xfrm>
            <a:off x="411480" y="201168"/>
            <a:ext cx="2743200" cy="228600"/>
          </a:xfrm>
          <a:prstGeom prst="rect"/>
          <a:noFill/>
        </p:spPr>
        <p:txBody>
          <a:bodyPr anchor="ctr" bIns="0" lIns="0" rIns="0" rtlCol="0" tIns="0" wrap="square"/>
          <a:p>
            <a:pPr indent="0" marL="0">
              <a:buNone/>
            </a:pPr>
            <a:r>
              <a:rPr dirty="0" sz="900" kern="0" lang="en-US" spc="400">
                <a:solidFill>
                  <a:srgbClr val="94A3B8"/>
                </a:solidFill>
                <a:latin typeface="Calibri" pitchFamily="34" charset="0"/>
                <a:ea typeface="Calibri" pitchFamily="34" charset="-122"/>
                <a:cs typeface="Calibri" pitchFamily="34" charset="-120"/>
              </a:rPr>
              <a:t>THE PROBLEM</a:t>
            </a:r>
            <a:endParaRPr dirty="0" sz="900" lang="en-US"/>
          </a:p>
        </p:txBody>
      </p:sp>
      <p:sp>
        <p:nvSpPr>
          <p:cNvPr id="1048675" name="Text 1"/>
          <p:cNvSpPr/>
          <p:nvPr/>
        </p:nvSpPr>
        <p:spPr>
          <a:xfrm>
            <a:off x="411480" y="438912"/>
            <a:ext cx="6400800" cy="502920"/>
          </a:xfrm>
          <a:prstGeom prst="rect"/>
          <a:noFill/>
        </p:spPr>
        <p:txBody>
          <a:bodyPr anchor="ctr" bIns="0" lIns="0" rIns="0" rtlCol="0" tIns="0" wrap="square"/>
          <a:p>
            <a:pPr indent="0" marL="0">
              <a:buNone/>
            </a:pPr>
            <a:r>
              <a:rPr b="1" dirty="0" sz="3000" lang="en-US">
                <a:solidFill>
                  <a:srgbClr val="0A1E3F"/>
                </a:solidFill>
                <a:latin typeface="Calibri" pitchFamily="34" charset="0"/>
                <a:ea typeface="Calibri" pitchFamily="34" charset="-122"/>
                <a:cs typeface="Calibri" pitchFamily="34" charset="-120"/>
              </a:rPr>
              <a:t>Where harm happens</a:t>
            </a:r>
            <a:endParaRPr dirty="0" sz="3000" lang="en-US"/>
          </a:p>
        </p:txBody>
      </p:sp>
      <p:sp>
        <p:nvSpPr>
          <p:cNvPr id="1048676" name="Shape 2"/>
          <p:cNvSpPr/>
          <p:nvPr/>
        </p:nvSpPr>
        <p:spPr>
          <a:xfrm>
            <a:off x="411480" y="1097280"/>
            <a:ext cx="4206240" cy="2560320"/>
          </a:xfrm>
          <a:prstGeom prst="rect"/>
          <a:solidFill>
            <a:srgbClr val="0A1E3F"/>
          </a:solidFill>
          <a:ln w="12700">
            <a:solidFill>
              <a:srgbClr val="0A1E3F"/>
            </a:solidFill>
            <a:prstDash val="solid"/>
          </a:ln>
        </p:spPr>
      </p:sp>
      <p:sp>
        <p:nvSpPr>
          <p:cNvPr id="1048677" name="Shape 3"/>
          <p:cNvSpPr/>
          <p:nvPr/>
        </p:nvSpPr>
        <p:spPr>
          <a:xfrm>
            <a:off x="411480" y="1097280"/>
            <a:ext cx="64008" cy="2560320"/>
          </a:xfrm>
          <a:prstGeom prst="rect"/>
          <a:solidFill>
            <a:srgbClr val="2DD4BF"/>
          </a:solidFill>
          <a:ln w="12700">
            <a:solidFill>
              <a:srgbClr val="2DD4BF"/>
            </a:solidFill>
            <a:prstDash val="solid"/>
          </a:ln>
        </p:spPr>
      </p:sp>
      <p:sp>
        <p:nvSpPr>
          <p:cNvPr id="1048678" name="Text 4"/>
          <p:cNvSpPr/>
          <p:nvPr/>
        </p:nvSpPr>
        <p:spPr>
          <a:xfrm>
            <a:off x="566928" y="1234440"/>
            <a:ext cx="3886200" cy="1463040"/>
          </a:xfrm>
          <a:prstGeom prst="rect"/>
          <a:noFill/>
        </p:spPr>
        <p:txBody>
          <a:bodyPr anchor="t" bIns="0" lIns="0" rIns="0" rtlCol="0" tIns="0" wrap="square"/>
          <a:p>
            <a:pPr indent="0" marL="0">
              <a:buNone/>
            </a:pPr>
            <a:r>
              <a:rPr dirty="0" sz="1350" i="1" lang="en-US">
                <a:solidFill>
                  <a:srgbClr val="FFFFFF"/>
                </a:solidFill>
                <a:latin typeface="Calibri" pitchFamily="34" charset="0"/>
                <a:ea typeface="Calibri" pitchFamily="34" charset="-122"/>
                <a:cs typeface="Calibri" pitchFamily="34" charset="-120"/>
              </a:rPr>
              <a:t>“Whenever I’m entering Bolt at night, I always send my live location to at least two people. Even after that, I still feel anxious till I reach home.”</a:t>
            </a:r>
            <a:endParaRPr dirty="0" sz="1350" lang="en-US"/>
          </a:p>
        </p:txBody>
      </p:sp>
      <p:sp>
        <p:nvSpPr>
          <p:cNvPr id="1048679" name="Text 5"/>
          <p:cNvSpPr/>
          <p:nvPr/>
        </p:nvSpPr>
        <p:spPr>
          <a:xfrm>
            <a:off x="566928" y="2816352"/>
            <a:ext cx="3886200" cy="228600"/>
          </a:xfrm>
          <a:prstGeom prst="rect"/>
          <a:noFill/>
        </p:spPr>
        <p:txBody>
          <a:bodyPr anchor="ctr" bIns="0" lIns="0" rIns="0" rtlCol="0" tIns="0" wrap="square"/>
          <a:p>
            <a:pPr indent="0" marL="0">
              <a:buNone/>
            </a:pPr>
            <a:r>
              <a:rPr dirty="0" sz="1000" lang="en-US">
                <a:solidFill>
                  <a:srgbClr val="2DD4BF"/>
                </a:solidFill>
                <a:latin typeface="Calibri" pitchFamily="34" charset="0"/>
                <a:ea typeface="Calibri" pitchFamily="34" charset="-122"/>
                <a:cs typeface="Calibri" pitchFamily="34" charset="-120"/>
              </a:rPr>
              <a:t>Amaka O., 22 — University student, Lagos</a:t>
            </a:r>
            <a:endParaRPr dirty="0" sz="1000" lang="en-US"/>
          </a:p>
        </p:txBody>
      </p:sp>
      <p:sp>
        <p:nvSpPr>
          <p:cNvPr id="1048680" name="Text 6"/>
          <p:cNvSpPr/>
          <p:nvPr/>
        </p:nvSpPr>
        <p:spPr>
          <a:xfrm>
            <a:off x="566928" y="3063240"/>
            <a:ext cx="3886200" cy="182880"/>
          </a:xfrm>
          <a:prstGeom prst="rect"/>
          <a:noFill/>
        </p:spPr>
        <p:txBody>
          <a:bodyPr anchor="ctr" bIns="0" lIns="0" rIns="0" rtlCol="0" tIns="0" wrap="square"/>
          <a:p>
            <a:pPr indent="0" marL="0">
              <a:buNone/>
            </a:pPr>
            <a:r>
              <a:rPr dirty="0" sz="900" i="1" lang="en-US">
                <a:solidFill>
                  <a:srgbClr val="5A7A9E"/>
                </a:solidFill>
                <a:latin typeface="Calibri" pitchFamily="34" charset="0"/>
                <a:ea typeface="Calibri" pitchFamily="34" charset="-122"/>
                <a:cs typeface="Calibri" pitchFamily="34" charset="-120"/>
              </a:rPr>
              <a:t>Discovery interview #1</a:t>
            </a:r>
            <a:endParaRPr dirty="0" sz="900" lang="en-US"/>
          </a:p>
        </p:txBody>
      </p:sp>
      <p:sp>
        <p:nvSpPr>
          <p:cNvPr id="1048681" name="Text 7"/>
          <p:cNvSpPr/>
          <p:nvPr/>
        </p:nvSpPr>
        <p:spPr>
          <a:xfrm>
            <a:off x="566928" y="3319272"/>
            <a:ext cx="3886200" cy="182880"/>
          </a:xfrm>
          <a:prstGeom prst="rect"/>
          <a:noFill/>
        </p:spPr>
        <p:txBody>
          <a:bodyPr anchor="ctr" bIns="0" lIns="0" rIns="0" rtlCol="0" tIns="0" wrap="square"/>
          <a:p>
            <a:pPr indent="0" marL="0">
              <a:buNone/>
            </a:pPr>
            <a:r>
              <a:rPr dirty="0" sz="950" lang="en-US">
                <a:solidFill>
                  <a:srgbClr val="94A3B8"/>
                </a:solidFill>
                <a:latin typeface="Calibri" pitchFamily="34" charset="0"/>
                <a:ea typeface="Calibri" pitchFamily="34" charset="-122"/>
                <a:cs typeface="Calibri" pitchFamily="34" charset="-120"/>
              </a:rPr>
              <a:t>6 real interviews confirmed:</a:t>
            </a:r>
            <a:endParaRPr dirty="0" sz="950" lang="en-US"/>
          </a:p>
        </p:txBody>
      </p:sp>
      <p:sp>
        <p:nvSpPr>
          <p:cNvPr id="1048682" name="Shape 8"/>
          <p:cNvSpPr/>
          <p:nvPr/>
        </p:nvSpPr>
        <p:spPr>
          <a:xfrm>
            <a:off x="4892040" y="1097280"/>
            <a:ext cx="3840480" cy="822960"/>
          </a:xfrm>
          <a:prstGeom prst="rect"/>
          <a:solidFill>
            <a:srgbClr val="FEF2F2"/>
          </a:solidFill>
          <a:ln w="12700">
            <a:solidFill>
              <a:srgbClr val="FECACA"/>
            </a:solidFill>
            <a:prstDash val="solid"/>
          </a:ln>
        </p:spPr>
      </p:sp>
      <p:sp>
        <p:nvSpPr>
          <p:cNvPr id="1048683" name="Text 9"/>
          <p:cNvSpPr/>
          <p:nvPr/>
        </p:nvSpPr>
        <p:spPr>
          <a:xfrm>
            <a:off x="4983480" y="1115568"/>
            <a:ext cx="1280160" cy="804672"/>
          </a:xfrm>
          <a:prstGeom prst="rect"/>
          <a:noFill/>
        </p:spPr>
        <p:txBody>
          <a:bodyPr anchor="ctr" bIns="0" lIns="0" rIns="0" rtlCol="0" tIns="0" wrap="square"/>
          <a:p>
            <a:pPr indent="0" marL="0">
              <a:buNone/>
            </a:pPr>
            <a:r>
              <a:rPr b="1" dirty="0" sz="3600" lang="en-US">
                <a:solidFill>
                  <a:srgbClr val="EF4444"/>
                </a:solidFill>
                <a:latin typeface="Calibri" pitchFamily="34" charset="0"/>
                <a:ea typeface="Calibri" pitchFamily="34" charset="-122"/>
                <a:cs typeface="Calibri" pitchFamily="34" charset="-120"/>
              </a:rPr>
              <a:t>79%</a:t>
            </a:r>
            <a:endParaRPr dirty="0" sz="3600" lang="en-US"/>
          </a:p>
        </p:txBody>
      </p:sp>
      <p:sp>
        <p:nvSpPr>
          <p:cNvPr id="1048684" name="Text 10"/>
          <p:cNvSpPr/>
          <p:nvPr/>
        </p:nvSpPr>
        <p:spPr>
          <a:xfrm>
            <a:off x="6309360" y="1143000"/>
            <a:ext cx="2286000" cy="777240"/>
          </a:xfrm>
          <a:prstGeom prst="rect"/>
          <a:noFill/>
        </p:spPr>
        <p:txBody>
          <a:bodyPr anchor="ctr" bIns="0" lIns="0" rIns="0" rtlCol="0" tIns="0" wrap="square"/>
          <a:p>
            <a:pPr indent="0" marL="0">
              <a:buNone/>
            </a:pPr>
            <a:r>
              <a:rPr dirty="0" sz="1100" lang="en-US">
                <a:solidFill>
                  <a:srgbClr val="334155"/>
                </a:solidFill>
                <a:latin typeface="Calibri" pitchFamily="34" charset="0"/>
                <a:ea typeface="Calibri" pitchFamily="34" charset="-122"/>
                <a:cs typeface="Calibri" pitchFamily="34" charset="-120"/>
              </a:rPr>
              <a:t>of campus women feel unsafe</a:t>
            </a:r>
            <a:endParaRPr dirty="0" sz="1100" lang="en-US"/>
          </a:p>
          <a:p>
            <a:pPr indent="0" marL="0">
              <a:buNone/>
            </a:pPr>
            <a:r>
              <a:rPr dirty="0" sz="1100" lang="en-US">
                <a:solidFill>
                  <a:srgbClr val="334155"/>
                </a:solidFill>
                <a:latin typeface="Calibri" pitchFamily="34" charset="0"/>
                <a:ea typeface="Calibri" pitchFamily="34" charset="-122"/>
                <a:cs typeface="Calibri" pitchFamily="34" charset="-120"/>
              </a:rPr>
              <a:t>walking alone after 7pm</a:t>
            </a:r>
            <a:endParaRPr dirty="0" sz="1100" lang="en-US"/>
          </a:p>
        </p:txBody>
      </p:sp>
      <p:sp>
        <p:nvSpPr>
          <p:cNvPr id="1048685" name="Shape 11"/>
          <p:cNvSpPr/>
          <p:nvPr/>
        </p:nvSpPr>
        <p:spPr>
          <a:xfrm>
            <a:off x="4892040" y="2029968"/>
            <a:ext cx="3840480" cy="822960"/>
          </a:xfrm>
          <a:prstGeom prst="rect"/>
          <a:solidFill>
            <a:srgbClr val="FFF7ED"/>
          </a:solidFill>
          <a:ln w="12700">
            <a:solidFill>
              <a:srgbClr val="FED7AA"/>
            </a:solidFill>
            <a:prstDash val="solid"/>
          </a:ln>
        </p:spPr>
      </p:sp>
      <p:sp>
        <p:nvSpPr>
          <p:cNvPr id="1048686" name="Text 12"/>
          <p:cNvSpPr/>
          <p:nvPr/>
        </p:nvSpPr>
        <p:spPr>
          <a:xfrm>
            <a:off x="4983480" y="2048256"/>
            <a:ext cx="1280160" cy="804672"/>
          </a:xfrm>
          <a:prstGeom prst="rect"/>
          <a:noFill/>
        </p:spPr>
        <p:txBody>
          <a:bodyPr anchor="ctr" bIns="0" lIns="0" rIns="0" rtlCol="0" tIns="0" wrap="square"/>
          <a:p>
            <a:pPr indent="0" marL="0">
              <a:buNone/>
            </a:pPr>
            <a:r>
              <a:rPr b="1" dirty="0" sz="3600" lang="en-US">
                <a:solidFill>
                  <a:srgbClr val="D97706"/>
                </a:solidFill>
                <a:latin typeface="Calibri" pitchFamily="34" charset="0"/>
                <a:ea typeface="Calibri" pitchFamily="34" charset="-122"/>
                <a:cs typeface="Calibri" pitchFamily="34" charset="-120"/>
              </a:rPr>
              <a:t>69%</a:t>
            </a:r>
            <a:endParaRPr dirty="0" sz="3600" lang="en-US"/>
          </a:p>
        </p:txBody>
      </p:sp>
      <p:sp>
        <p:nvSpPr>
          <p:cNvPr id="1048687" name="Text 13"/>
          <p:cNvSpPr/>
          <p:nvPr/>
        </p:nvSpPr>
        <p:spPr>
          <a:xfrm>
            <a:off x="6309360" y="2075688"/>
            <a:ext cx="2286000" cy="777240"/>
          </a:xfrm>
          <a:prstGeom prst="rect"/>
          <a:noFill/>
        </p:spPr>
        <p:txBody>
          <a:bodyPr anchor="ctr" bIns="0" lIns="0" rIns="0" rtlCol="0" tIns="0" wrap="square"/>
          <a:p>
            <a:pPr indent="0" marL="0">
              <a:buNone/>
            </a:pPr>
            <a:r>
              <a:rPr dirty="0" sz="1100" lang="en-US">
                <a:solidFill>
                  <a:srgbClr val="334155"/>
                </a:solidFill>
                <a:latin typeface="Calibri" pitchFamily="34" charset="0"/>
                <a:ea typeface="Calibri" pitchFamily="34" charset="-122"/>
                <a:cs typeface="Calibri" pitchFamily="34" charset="-120"/>
              </a:rPr>
              <a:t>have experienced or</a:t>
            </a:r>
            <a:endParaRPr dirty="0" sz="1100" lang="en-US"/>
          </a:p>
          <a:p>
            <a:pPr indent="0" marL="0">
              <a:buNone/>
            </a:pPr>
            <a:r>
              <a:rPr dirty="0" sz="1100" lang="en-US">
                <a:solidFill>
                  <a:srgbClr val="334155"/>
                </a:solidFill>
                <a:latin typeface="Calibri" pitchFamily="34" charset="0"/>
                <a:ea typeface="Calibri" pitchFamily="34" charset="-122"/>
                <a:cs typeface="Calibri" pitchFamily="34" charset="-120"/>
              </a:rPr>
              <a:t>witnessed a safety incident</a:t>
            </a:r>
            <a:endParaRPr dirty="0" sz="1100" lang="en-US"/>
          </a:p>
        </p:txBody>
      </p:sp>
      <p:sp>
        <p:nvSpPr>
          <p:cNvPr id="1048688" name="Shape 14"/>
          <p:cNvSpPr/>
          <p:nvPr/>
        </p:nvSpPr>
        <p:spPr>
          <a:xfrm>
            <a:off x="4892040" y="2962656"/>
            <a:ext cx="3840480" cy="822960"/>
          </a:xfrm>
          <a:prstGeom prst="rect"/>
          <a:solidFill>
            <a:srgbClr val="F0FDF4"/>
          </a:solidFill>
          <a:ln w="12700">
            <a:solidFill>
              <a:srgbClr val="BBF7D0"/>
            </a:solidFill>
            <a:prstDash val="solid"/>
          </a:ln>
        </p:spPr>
      </p:sp>
      <p:sp>
        <p:nvSpPr>
          <p:cNvPr id="1048689" name="Text 15"/>
          <p:cNvSpPr/>
          <p:nvPr/>
        </p:nvSpPr>
        <p:spPr>
          <a:xfrm>
            <a:off x="4983480" y="2980944"/>
            <a:ext cx="1280160" cy="804672"/>
          </a:xfrm>
          <a:prstGeom prst="rect"/>
          <a:noFill/>
        </p:spPr>
        <p:txBody>
          <a:bodyPr anchor="ctr" bIns="0" lIns="0" rIns="0" rtlCol="0" tIns="0" wrap="square"/>
          <a:p>
            <a:pPr indent="0" marL="0">
              <a:buNone/>
            </a:pPr>
            <a:r>
              <a:rPr b="1" dirty="0" sz="3600" lang="en-US">
                <a:solidFill>
                  <a:srgbClr val="10B981"/>
                </a:solidFill>
                <a:latin typeface="Calibri" pitchFamily="34" charset="0"/>
                <a:ea typeface="Calibri" pitchFamily="34" charset="-122"/>
                <a:cs typeface="Calibri" pitchFamily="34" charset="-120"/>
              </a:rPr>
              <a:t>61%</a:t>
            </a:r>
            <a:endParaRPr dirty="0" sz="3600" lang="en-US"/>
          </a:p>
        </p:txBody>
      </p:sp>
      <p:sp>
        <p:nvSpPr>
          <p:cNvPr id="1048690" name="Text 16"/>
          <p:cNvSpPr/>
          <p:nvPr/>
        </p:nvSpPr>
        <p:spPr>
          <a:xfrm>
            <a:off x="6309360" y="3008376"/>
            <a:ext cx="2286000" cy="777240"/>
          </a:xfrm>
          <a:prstGeom prst="rect"/>
          <a:noFill/>
        </p:spPr>
        <p:txBody>
          <a:bodyPr anchor="ctr" bIns="0" lIns="0" rIns="0" rtlCol="0" tIns="0" wrap="square"/>
          <a:p>
            <a:pPr indent="0" marL="0">
              <a:buNone/>
            </a:pPr>
            <a:r>
              <a:rPr dirty="0" sz="1100" lang="en-US">
                <a:solidFill>
                  <a:srgbClr val="334155"/>
                </a:solidFill>
                <a:latin typeface="Calibri" pitchFamily="34" charset="0"/>
                <a:ea typeface="Calibri" pitchFamily="34" charset="-122"/>
                <a:cs typeface="Calibri" pitchFamily="34" charset="-120"/>
              </a:rPr>
              <a:t>rely on manual workarounds:</a:t>
            </a:r>
            <a:endParaRPr dirty="0" sz="1100" lang="en-US"/>
          </a:p>
          <a:p>
            <a:pPr indent="0" marL="0">
              <a:buNone/>
            </a:pPr>
            <a:r>
              <a:rPr dirty="0" sz="1100" lang="en-US">
                <a:solidFill>
                  <a:srgbClr val="334155"/>
                </a:solidFill>
                <a:latin typeface="Calibri" pitchFamily="34" charset="0"/>
                <a:ea typeface="Calibri" pitchFamily="34" charset="-122"/>
                <a:cs typeface="Calibri" pitchFamily="34" charset="-120"/>
              </a:rPr>
              <a:t>share location, fake phone calls</a:t>
            </a:r>
            <a:endParaRPr dirty="0" sz="1100" lang="en-US"/>
          </a:p>
        </p:txBody>
      </p:sp>
      <p:sp>
        <p:nvSpPr>
          <p:cNvPr id="1048691" name="Text 17"/>
          <p:cNvSpPr/>
          <p:nvPr/>
        </p:nvSpPr>
        <p:spPr>
          <a:xfrm>
            <a:off x="411480" y="3977640"/>
            <a:ext cx="8321040" cy="411480"/>
          </a:xfrm>
          <a:prstGeom prst="rect"/>
          <a:noFill/>
        </p:spPr>
        <p:txBody>
          <a:bodyPr anchor="ctr" bIns="0" lIns="0" rIns="0" rtlCol="0" tIns="0" wrap="square"/>
          <a:p>
            <a:pPr algn="ctr" indent="0" marL="0">
              <a:buNone/>
            </a:pPr>
            <a:r>
              <a:rPr b="1" dirty="0" sz="1300" i="1" lang="en-US">
                <a:solidFill>
                  <a:srgbClr val="0A1E3F"/>
                </a:solidFill>
                <a:latin typeface="Calibri" pitchFamily="34" charset="0"/>
                <a:ea typeface="Calibri" pitchFamily="34" charset="-122"/>
                <a:cs typeface="Calibri" pitchFamily="34" charset="-120"/>
              </a:rPr>
              <a:t>The gap between “text a friend” and “call the police” is where harm happens.</a:t>
            </a:r>
            <a:endParaRPr dirty="0" sz="130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21" name=""/>
        <p:cNvGrpSpPr/>
        <p:nvPr/>
      </p:nvGrpSpPr>
      <p:grpSpPr>
        <a:xfrm>
          <a:off x="0" y="0"/>
          <a:ext cx="0" cy="0"/>
          <a:chOff x="0" y="0"/>
          <a:chExt cx="0" cy="0"/>
        </a:xfrm>
      </p:grpSpPr>
      <p:pic>
        <p:nvPicPr>
          <p:cNvPr id="2097154" name="Image 0" descr="/mnt/user-data/uploads/IMG-20260517-WA0000.jpg"/>
          <p:cNvPicPr>
            <a:picLocks noChangeAspect="1"/>
          </p:cNvPicPr>
          <p:nvPr/>
        </p:nvPicPr>
        <p:blipFill>
          <a:blip xmlns:r="http://schemas.openxmlformats.org/officeDocument/2006/relationships" r:embed="rId1"/>
          <a:stretch>
            <a:fillRect/>
          </a:stretch>
        </p:blipFill>
        <p:spPr>
          <a:xfrm>
            <a:off x="7955280" y="91440"/>
            <a:ext cx="1005840" cy="1005840"/>
          </a:xfrm>
          <a:prstGeom prst="rect"/>
        </p:spPr>
      </p:pic>
      <p:sp>
        <p:nvSpPr>
          <p:cNvPr id="1048623" name="Text 0"/>
          <p:cNvSpPr/>
          <p:nvPr/>
        </p:nvSpPr>
        <p:spPr>
          <a:xfrm>
            <a:off x="411480" y="201168"/>
            <a:ext cx="3657600" cy="228600"/>
          </a:xfrm>
          <a:prstGeom prst="rect"/>
          <a:noFill/>
        </p:spPr>
        <p:txBody>
          <a:bodyPr anchor="ctr" bIns="0" lIns="0" rIns="0" rtlCol="0" tIns="0" wrap="square"/>
          <a:p>
            <a:pPr indent="0" marL="0">
              <a:buNone/>
            </a:pPr>
            <a:r>
              <a:rPr dirty="0" sz="900" kern="0" lang="en-US" spc="400">
                <a:solidFill>
                  <a:srgbClr val="94A3B8"/>
                </a:solidFill>
                <a:latin typeface="Calibri" pitchFamily="34" charset="0"/>
                <a:ea typeface="Calibri" pitchFamily="34" charset="-122"/>
                <a:cs typeface="Calibri" pitchFamily="34" charset="-120"/>
              </a:rPr>
              <a:t>DISCOVERY INSIGHT</a:t>
            </a:r>
            <a:endParaRPr dirty="0" sz="900" lang="en-US"/>
          </a:p>
        </p:txBody>
      </p:sp>
      <p:sp>
        <p:nvSpPr>
          <p:cNvPr id="1048624" name="Text 1"/>
          <p:cNvSpPr/>
          <p:nvPr/>
        </p:nvSpPr>
        <p:spPr>
          <a:xfrm>
            <a:off x="411480" y="438912"/>
            <a:ext cx="7589520" cy="502920"/>
          </a:xfrm>
          <a:prstGeom prst="rect"/>
          <a:noFill/>
        </p:spPr>
        <p:txBody>
          <a:bodyPr anchor="ctr" bIns="0" lIns="0" rIns="0" rtlCol="0" tIns="0" wrap="square"/>
          <a:p>
            <a:pPr indent="0" marL="0">
              <a:buNone/>
            </a:pPr>
            <a:r>
              <a:rPr b="1" dirty="0" sz="2800" lang="en-US">
                <a:solidFill>
                  <a:srgbClr val="0A1E3F"/>
                </a:solidFill>
                <a:latin typeface="Calibri" pitchFamily="34" charset="0"/>
                <a:ea typeface="Calibri" pitchFamily="34" charset="-122"/>
                <a:cs typeface="Calibri" pitchFamily="34" charset="-120"/>
              </a:rPr>
              <a:t>The reframe that shaped everything</a:t>
            </a:r>
            <a:endParaRPr dirty="0" sz="2800" lang="en-US"/>
          </a:p>
        </p:txBody>
      </p:sp>
      <p:sp>
        <p:nvSpPr>
          <p:cNvPr id="1048625" name="Shape 2"/>
          <p:cNvSpPr/>
          <p:nvPr/>
        </p:nvSpPr>
        <p:spPr>
          <a:xfrm>
            <a:off x="411480" y="1143000"/>
            <a:ext cx="3566160" cy="2743200"/>
          </a:xfrm>
          <a:prstGeom prst="rect"/>
          <a:solidFill>
            <a:srgbClr val="FEF2F2"/>
          </a:solidFill>
          <a:ln w="12700">
            <a:solidFill>
              <a:srgbClr val="FECACA"/>
            </a:solidFill>
            <a:prstDash val="solid"/>
          </a:ln>
        </p:spPr>
      </p:sp>
      <p:sp>
        <p:nvSpPr>
          <p:cNvPr id="1048626" name="Text 3"/>
          <p:cNvSpPr/>
          <p:nvPr/>
        </p:nvSpPr>
        <p:spPr>
          <a:xfrm>
            <a:off x="502920" y="1234440"/>
            <a:ext cx="3383280" cy="274320"/>
          </a:xfrm>
          <a:prstGeom prst="rect"/>
          <a:noFill/>
        </p:spPr>
        <p:txBody>
          <a:bodyPr anchor="ctr" bIns="0" lIns="0" rIns="0" rtlCol="0" tIns="0" wrap="square"/>
          <a:p>
            <a:pPr indent="0" marL="0">
              <a:buNone/>
            </a:pPr>
            <a:r>
              <a:rPr b="1" dirty="0" sz="950" kern="0" lang="en-US" spc="300">
                <a:solidFill>
                  <a:srgbClr val="EF4444"/>
                </a:solidFill>
                <a:latin typeface="Calibri" pitchFamily="34" charset="0"/>
                <a:ea typeface="Calibri" pitchFamily="34" charset="-122"/>
                <a:cs typeface="Calibri" pitchFamily="34" charset="-120"/>
              </a:rPr>
              <a:t>BEFORE</a:t>
            </a:r>
            <a:endParaRPr dirty="0" sz="950" lang="en-US"/>
          </a:p>
        </p:txBody>
      </p:sp>
      <p:sp>
        <p:nvSpPr>
          <p:cNvPr id="1048627" name="Text 4"/>
          <p:cNvSpPr/>
          <p:nvPr/>
        </p:nvSpPr>
        <p:spPr>
          <a:xfrm>
            <a:off x="502920" y="1508760"/>
            <a:ext cx="3383280" cy="347472"/>
          </a:xfrm>
          <a:prstGeom prst="rect"/>
          <a:noFill/>
        </p:spPr>
        <p:txBody>
          <a:bodyPr anchor="ctr" bIns="0" lIns="0" rIns="0" rtlCol="0" tIns="0" wrap="square"/>
          <a:p>
            <a:pPr indent="0" marL="0">
              <a:buNone/>
            </a:pPr>
            <a:r>
              <a:rPr b="1" dirty="0" sz="1600" lang="en-US">
                <a:solidFill>
                  <a:srgbClr val="334155"/>
                </a:solidFill>
                <a:latin typeface="Calibri" pitchFamily="34" charset="0"/>
                <a:ea typeface="Calibri" pitchFamily="34" charset="-122"/>
                <a:cs typeface="Calibri" pitchFamily="34" charset="-120"/>
              </a:rPr>
              <a:t>Emergency-first thinking</a:t>
            </a:r>
            <a:endParaRPr dirty="0" sz="1600" lang="en-US"/>
          </a:p>
        </p:txBody>
      </p:sp>
      <p:sp>
        <p:nvSpPr>
          <p:cNvPr id="1048628" name="Text 5"/>
          <p:cNvSpPr/>
          <p:nvPr/>
        </p:nvSpPr>
        <p:spPr>
          <a:xfrm>
            <a:off x="502920" y="1920240"/>
            <a:ext cx="3383280" cy="1371600"/>
          </a:xfrm>
          <a:prstGeom prst="rect"/>
          <a:noFill/>
        </p:spPr>
        <p:txBody>
          <a:bodyPr anchor="ctr" bIns="0" lIns="0" rIns="0" rtlCol="0" tIns="0" wrap="square"/>
          <a:p>
            <a:pPr indent="0" marL="0">
              <a:buNone/>
            </a:pPr>
            <a:r>
              <a:rPr dirty="0" sz="1200" lang="en-US">
                <a:solidFill>
                  <a:srgbClr val="334155"/>
                </a:solidFill>
                <a:latin typeface="Calibri" pitchFamily="34" charset="0"/>
                <a:ea typeface="Calibri" pitchFamily="34" charset="-122"/>
                <a:cs typeface="Calibri" pitchFamily="34" charset="-120"/>
              </a:rPr>
              <a:t>We started building an SOS panic button as the</a:t>
            </a:r>
            <a:endParaRPr dirty="0" sz="1200" lang="en-US"/>
          </a:p>
          <a:p>
            <a:pPr indent="0" marL="0">
              <a:buNone/>
            </a:pPr>
            <a:r>
              <a:rPr dirty="0" sz="1200" lang="en-US">
                <a:solidFill>
                  <a:srgbClr val="334155"/>
                </a:solidFill>
                <a:latin typeface="Calibri" pitchFamily="34" charset="0"/>
                <a:ea typeface="Calibri" pitchFamily="34" charset="-122"/>
                <a:cs typeface="Calibri" pitchFamily="34" charset="-120"/>
              </a:rPr>
              <a:t>primary feature. The assumption was: </a:t>
            </a:r>
            <a:endParaRPr dirty="0" sz="1200" lang="en-US"/>
          </a:p>
          <a:p>
            <a:pPr indent="0" marL="0">
              <a:buNone/>
            </a:pPr>
            <a:r>
              <a:rPr dirty="0" sz="1200" lang="en-US">
                <a:solidFill>
                  <a:srgbClr val="334155"/>
                </a:solidFill>
                <a:latin typeface="Calibri" pitchFamily="34" charset="0"/>
                <a:ea typeface="Calibri" pitchFamily="34" charset="-122"/>
                <a:cs typeface="Calibri" pitchFamily="34" charset="-120"/>
              </a:rPr>
              <a:t>users need emergency help in a crisis.</a:t>
            </a:r>
            <a:endParaRPr dirty="0" sz="1200" lang="en-US"/>
          </a:p>
        </p:txBody>
      </p:sp>
      <p:sp>
        <p:nvSpPr>
          <p:cNvPr id="1048629" name="Text 6"/>
          <p:cNvSpPr/>
          <p:nvPr/>
        </p:nvSpPr>
        <p:spPr>
          <a:xfrm>
            <a:off x="502920" y="3200400"/>
            <a:ext cx="3383280" cy="594360"/>
          </a:xfrm>
          <a:prstGeom prst="rect"/>
          <a:noFill/>
        </p:spPr>
        <p:txBody>
          <a:bodyPr anchor="ctr" bIns="0" lIns="0" rIns="0" rtlCol="0" tIns="0" wrap="square"/>
          <a:p>
            <a:pPr indent="0" marL="0">
              <a:buNone/>
            </a:pPr>
            <a:r>
              <a:rPr dirty="0" sz="1150" i="1" lang="en-US">
                <a:solidFill>
                  <a:srgbClr val="EF4444"/>
                </a:solidFill>
                <a:latin typeface="Calibri" pitchFamily="34" charset="0"/>
                <a:ea typeface="Calibri" pitchFamily="34" charset="-122"/>
                <a:cs typeface="Calibri" pitchFamily="34" charset="-120"/>
              </a:rPr>
              <a:t>“We were solving for the rare moment,</a:t>
            </a:r>
            <a:endParaRPr dirty="0" sz="1150" lang="en-US"/>
          </a:p>
          <a:p>
            <a:pPr indent="0" marL="0">
              <a:buNone/>
            </a:pPr>
            <a:r>
              <a:rPr dirty="0" sz="1150" i="1" lang="en-US">
                <a:solidFill>
                  <a:srgbClr val="EF4444"/>
                </a:solidFill>
                <a:latin typeface="Calibri" pitchFamily="34" charset="0"/>
                <a:ea typeface="Calibri" pitchFamily="34" charset="-122"/>
                <a:cs typeface="Calibri" pitchFamily="34" charset="-120"/>
              </a:rPr>
              <a:t>not the daily need.”</a:t>
            </a:r>
            <a:endParaRPr dirty="0" sz="1150" lang="en-US"/>
          </a:p>
        </p:txBody>
      </p:sp>
      <p:sp>
        <p:nvSpPr>
          <p:cNvPr id="1048630" name="Shape 7"/>
          <p:cNvSpPr/>
          <p:nvPr/>
        </p:nvSpPr>
        <p:spPr>
          <a:xfrm>
            <a:off x="4114800" y="2423160"/>
            <a:ext cx="914400" cy="36576"/>
          </a:xfrm>
          <a:prstGeom prst="rect"/>
          <a:solidFill>
            <a:srgbClr val="0A1E3F"/>
          </a:solidFill>
          <a:ln w="12700">
            <a:solidFill>
              <a:srgbClr val="0A1E3F"/>
            </a:solidFill>
            <a:prstDash val="solid"/>
          </a:ln>
        </p:spPr>
      </p:sp>
      <p:sp>
        <p:nvSpPr>
          <p:cNvPr id="1048631" name="Text 8"/>
          <p:cNvSpPr/>
          <p:nvPr/>
        </p:nvSpPr>
        <p:spPr>
          <a:xfrm>
            <a:off x="4297680" y="2240280"/>
            <a:ext cx="548640" cy="411480"/>
          </a:xfrm>
          <a:prstGeom prst="rect"/>
          <a:noFill/>
        </p:spPr>
        <p:txBody>
          <a:bodyPr anchor="ctr" bIns="0" lIns="0" rIns="0" rtlCol="0" tIns="0" wrap="square"/>
          <a:p>
            <a:pPr algn="ctr" indent="0" marL="0">
              <a:buNone/>
            </a:pPr>
            <a:r>
              <a:rPr dirty="0" sz="2200" lang="en-US">
                <a:solidFill>
                  <a:srgbClr val="0A1E3F"/>
                </a:solidFill>
                <a:latin typeface="Calibri" pitchFamily="34" charset="0"/>
                <a:ea typeface="Calibri" pitchFamily="34" charset="-122"/>
                <a:cs typeface="Calibri" pitchFamily="34" charset="-120"/>
              </a:rPr>
              <a:t>➡</a:t>
            </a:r>
            <a:endParaRPr dirty="0" sz="2200" lang="en-US"/>
          </a:p>
        </p:txBody>
      </p:sp>
      <p:sp>
        <p:nvSpPr>
          <p:cNvPr id="1048632" name="Text 9"/>
          <p:cNvSpPr/>
          <p:nvPr/>
        </p:nvSpPr>
        <p:spPr>
          <a:xfrm>
            <a:off x="4041648" y="2651760"/>
            <a:ext cx="1051560" cy="457200"/>
          </a:xfrm>
          <a:prstGeom prst="rect"/>
          <a:noFill/>
        </p:spPr>
        <p:txBody>
          <a:bodyPr anchor="ctr" bIns="0" lIns="0" rIns="0" rtlCol="0" tIns="0" wrap="square"/>
          <a:p>
            <a:pPr algn="ctr" indent="0" marL="0">
              <a:buNone/>
            </a:pPr>
            <a:r>
              <a:rPr dirty="0" sz="900" lang="en-US">
                <a:solidFill>
                  <a:srgbClr val="94A3B8"/>
                </a:solidFill>
                <a:latin typeface="Calibri" pitchFamily="34" charset="0"/>
                <a:ea typeface="Calibri" pitchFamily="34" charset="-122"/>
                <a:cs typeface="Calibri" pitchFamily="34" charset="-120"/>
              </a:rPr>
              <a:t>Discovery</a:t>
            </a:r>
            <a:endParaRPr dirty="0" sz="900" lang="en-US"/>
          </a:p>
          <a:p>
            <a:pPr algn="ctr" indent="0" marL="0">
              <a:buNone/>
            </a:pPr>
            <a:r>
              <a:rPr dirty="0" sz="900" lang="en-US">
                <a:solidFill>
                  <a:srgbClr val="94A3B8"/>
                </a:solidFill>
                <a:latin typeface="Calibri" pitchFamily="34" charset="0"/>
                <a:ea typeface="Calibri" pitchFamily="34" charset="-122"/>
                <a:cs typeface="Calibri" pitchFamily="34" charset="-120"/>
              </a:rPr>
              <a:t>revealed</a:t>
            </a:r>
            <a:endParaRPr dirty="0" sz="900" lang="en-US"/>
          </a:p>
        </p:txBody>
      </p:sp>
      <p:sp>
        <p:nvSpPr>
          <p:cNvPr id="1048633" name="Shape 10"/>
          <p:cNvSpPr/>
          <p:nvPr/>
        </p:nvSpPr>
        <p:spPr>
          <a:xfrm>
            <a:off x="5166360" y="1143000"/>
            <a:ext cx="3566160" cy="2743200"/>
          </a:xfrm>
          <a:prstGeom prst="rect"/>
          <a:solidFill>
            <a:srgbClr val="ECFDF5"/>
          </a:solidFill>
          <a:ln w="12700">
            <a:solidFill>
              <a:srgbClr val="86EFAC"/>
            </a:solidFill>
            <a:prstDash val="solid"/>
          </a:ln>
        </p:spPr>
      </p:sp>
      <p:sp>
        <p:nvSpPr>
          <p:cNvPr id="1048634" name="Text 11"/>
          <p:cNvSpPr/>
          <p:nvPr/>
        </p:nvSpPr>
        <p:spPr>
          <a:xfrm>
            <a:off x="5257800" y="1234440"/>
            <a:ext cx="3383280" cy="274320"/>
          </a:xfrm>
          <a:prstGeom prst="rect"/>
          <a:noFill/>
        </p:spPr>
        <p:txBody>
          <a:bodyPr anchor="ctr" bIns="0" lIns="0" rIns="0" rtlCol="0" tIns="0" wrap="square"/>
          <a:p>
            <a:pPr indent="0" marL="0">
              <a:buNone/>
            </a:pPr>
            <a:r>
              <a:rPr b="1" dirty="0" sz="950" kern="0" lang="en-US" spc="300">
                <a:solidFill>
                  <a:srgbClr val="10B981"/>
                </a:solidFill>
                <a:latin typeface="Calibri" pitchFamily="34" charset="0"/>
                <a:ea typeface="Calibri" pitchFamily="34" charset="-122"/>
                <a:cs typeface="Calibri" pitchFamily="34" charset="-120"/>
              </a:rPr>
              <a:t>AFTER</a:t>
            </a:r>
            <a:endParaRPr dirty="0" sz="950" lang="en-US"/>
          </a:p>
        </p:txBody>
      </p:sp>
      <p:sp>
        <p:nvSpPr>
          <p:cNvPr id="1048635" name="Text 12"/>
          <p:cNvSpPr/>
          <p:nvPr/>
        </p:nvSpPr>
        <p:spPr>
          <a:xfrm>
            <a:off x="5257800" y="1508760"/>
            <a:ext cx="3383280" cy="347472"/>
          </a:xfrm>
          <a:prstGeom prst="rect"/>
          <a:noFill/>
        </p:spPr>
        <p:txBody>
          <a:bodyPr anchor="ctr" bIns="0" lIns="0" rIns="0" rtlCol="0" tIns="0" wrap="square"/>
          <a:p>
            <a:pPr indent="0" marL="0">
              <a:buNone/>
            </a:pPr>
            <a:r>
              <a:rPr b="1" dirty="0" sz="1600" lang="en-US">
                <a:solidFill>
                  <a:srgbClr val="334155"/>
                </a:solidFill>
                <a:latin typeface="Calibri" pitchFamily="34" charset="0"/>
                <a:ea typeface="Calibri" pitchFamily="34" charset="-122"/>
                <a:cs typeface="Calibri" pitchFamily="34" charset="-120"/>
              </a:rPr>
              <a:t>Prevention-first design</a:t>
            </a:r>
            <a:endParaRPr dirty="0" sz="1600" lang="en-US"/>
          </a:p>
        </p:txBody>
      </p:sp>
      <p:sp>
        <p:nvSpPr>
          <p:cNvPr id="1048636" name="Text 13"/>
          <p:cNvSpPr/>
          <p:nvPr/>
        </p:nvSpPr>
        <p:spPr>
          <a:xfrm>
            <a:off x="5257800" y="1920240"/>
            <a:ext cx="3383280" cy="1371600"/>
          </a:xfrm>
          <a:prstGeom prst="rect"/>
          <a:noFill/>
        </p:spPr>
        <p:txBody>
          <a:bodyPr anchor="ctr" bIns="0" lIns="0" rIns="0" rtlCol="0" tIns="0" wrap="square"/>
          <a:p>
            <a:pPr indent="0" marL="0">
              <a:buNone/>
            </a:pPr>
            <a:r>
              <a:rPr dirty="0" sz="1200" lang="en-US">
                <a:solidFill>
                  <a:srgbClr val="334155"/>
                </a:solidFill>
                <a:latin typeface="Calibri" pitchFamily="34" charset="0"/>
                <a:ea typeface="Calibri" pitchFamily="34" charset="-122"/>
                <a:cs typeface="Calibri" pitchFamily="34" charset="-120"/>
              </a:rPr>
              <a:t>Users don’t expect emergencies. They want a</a:t>
            </a:r>
            <a:endParaRPr dirty="0" sz="1200" lang="en-US"/>
          </a:p>
          <a:p>
            <a:pPr indent="0" marL="0">
              <a:buNone/>
            </a:pPr>
            <a:r>
              <a:rPr dirty="0" sz="1200" lang="en-US">
                <a:solidFill>
                  <a:srgbClr val="334155"/>
                </a:solidFill>
                <a:latin typeface="Calibri" pitchFamily="34" charset="0"/>
                <a:ea typeface="Calibri" pitchFamily="34" charset="-122"/>
                <a:cs typeface="Calibri" pitchFamily="34" charset="-120"/>
              </a:rPr>
              <a:t>routine “I arrived safely” signal — automatic,</a:t>
            </a:r>
            <a:endParaRPr dirty="0" sz="1200" lang="en-US"/>
          </a:p>
          <a:p>
            <a:pPr indent="0" marL="0">
              <a:buNone/>
            </a:pPr>
            <a:r>
              <a:rPr dirty="0" sz="1200" lang="en-US">
                <a:solidFill>
                  <a:srgbClr val="334155"/>
                </a:solidFill>
                <a:latin typeface="Calibri" pitchFamily="34" charset="0"/>
                <a:ea typeface="Calibri" pitchFamily="34" charset="-122"/>
                <a:cs typeface="Calibri" pitchFamily="34" charset="-120"/>
              </a:rPr>
              <a:t>low-friction, every journey.</a:t>
            </a:r>
            <a:endParaRPr dirty="0" sz="1200" lang="en-US"/>
          </a:p>
        </p:txBody>
      </p:sp>
      <p:sp>
        <p:nvSpPr>
          <p:cNvPr id="1048637" name="Text 14"/>
          <p:cNvSpPr/>
          <p:nvPr/>
        </p:nvSpPr>
        <p:spPr>
          <a:xfrm>
            <a:off x="5257800" y="3200400"/>
            <a:ext cx="3383280" cy="594360"/>
          </a:xfrm>
          <a:prstGeom prst="rect"/>
          <a:noFill/>
        </p:spPr>
        <p:txBody>
          <a:bodyPr anchor="ctr" bIns="0" lIns="0" rIns="0" rtlCol="0" tIns="0" wrap="square"/>
          <a:p>
            <a:pPr indent="0" marL="0">
              <a:buNone/>
            </a:pPr>
            <a:r>
              <a:rPr dirty="0" sz="1150" i="1" lang="en-US">
                <a:solidFill>
                  <a:srgbClr val="10B981"/>
                </a:solidFill>
                <a:latin typeface="Calibri" pitchFamily="34" charset="0"/>
                <a:ea typeface="Calibri" pitchFamily="34" charset="-122"/>
                <a:cs typeface="Calibri" pitchFamily="34" charset="-120"/>
              </a:rPr>
              <a:t>“Safe Arrival is the daily habit.</a:t>
            </a:r>
            <a:endParaRPr dirty="0" sz="1150" lang="en-US"/>
          </a:p>
          <a:p>
            <a:pPr indent="0" marL="0">
              <a:buNone/>
            </a:pPr>
            <a:r>
              <a:rPr dirty="0" sz="1150" i="1" lang="en-US">
                <a:solidFill>
                  <a:srgbClr val="10B981"/>
                </a:solidFill>
                <a:latin typeface="Calibri" pitchFamily="34" charset="0"/>
                <a:ea typeface="Calibri" pitchFamily="34" charset="-122"/>
                <a:cs typeface="Calibri" pitchFamily="34" charset="-120"/>
              </a:rPr>
              <a:t>SOS is the safety net.”</a:t>
            </a:r>
            <a:endParaRPr dirty="0" sz="115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5" name=""/>
        <p:cNvGrpSpPr/>
        <p:nvPr/>
      </p:nvGrpSpPr>
      <p:grpSpPr>
        <a:xfrm>
          <a:off x="0" y="0"/>
          <a:ext cx="0" cy="0"/>
          <a:chOff x="0" y="0"/>
          <a:chExt cx="0" cy="0"/>
        </a:xfrm>
      </p:grpSpPr>
      <p:pic>
        <p:nvPicPr>
          <p:cNvPr id="2097152" name="Image 0" descr="/mnt/user-data/uploads/IMG-20260517-WA0000.jpg"/>
          <p:cNvPicPr>
            <a:picLocks noChangeAspect="1"/>
          </p:cNvPicPr>
          <p:nvPr/>
        </p:nvPicPr>
        <p:blipFill>
          <a:blip xmlns:r="http://schemas.openxmlformats.org/officeDocument/2006/relationships" r:embed="rId1"/>
          <a:stretch>
            <a:fillRect/>
          </a:stretch>
        </p:blipFill>
        <p:spPr>
          <a:xfrm>
            <a:off x="7955280" y="91440"/>
            <a:ext cx="1005840" cy="1005840"/>
          </a:xfrm>
          <a:prstGeom prst="rect"/>
        </p:spPr>
      </p:pic>
      <p:sp>
        <p:nvSpPr>
          <p:cNvPr id="1048576" name="Text 0"/>
          <p:cNvSpPr/>
          <p:nvPr/>
        </p:nvSpPr>
        <p:spPr>
          <a:xfrm>
            <a:off x="411480" y="201168"/>
            <a:ext cx="2743200" cy="228600"/>
          </a:xfrm>
          <a:prstGeom prst="rect"/>
          <a:noFill/>
        </p:spPr>
        <p:txBody>
          <a:bodyPr anchor="ctr" bIns="0" lIns="0" rIns="0" rtlCol="0" tIns="0" wrap="square"/>
          <a:p>
            <a:pPr indent="0" marL="0">
              <a:buNone/>
            </a:pPr>
            <a:r>
              <a:rPr dirty="0" sz="900" kern="0" lang="en-US" spc="400">
                <a:solidFill>
                  <a:srgbClr val="94A3B8"/>
                </a:solidFill>
                <a:latin typeface="Calibri" pitchFamily="34" charset="0"/>
                <a:ea typeface="Calibri" pitchFamily="34" charset="-122"/>
                <a:cs typeface="Calibri" pitchFamily="34" charset="-120"/>
              </a:rPr>
              <a:t>THE USER</a:t>
            </a:r>
            <a:endParaRPr dirty="0" sz="900" lang="en-US"/>
          </a:p>
        </p:txBody>
      </p:sp>
      <p:sp>
        <p:nvSpPr>
          <p:cNvPr id="1048577" name="Shape 1"/>
          <p:cNvSpPr/>
          <p:nvPr/>
        </p:nvSpPr>
        <p:spPr>
          <a:xfrm>
            <a:off x="411480" y="530352"/>
            <a:ext cx="8321040" cy="4297680"/>
          </a:xfrm>
          <a:prstGeom prst="rect"/>
          <a:solidFill>
            <a:srgbClr val="0A1E3F"/>
          </a:solidFill>
          <a:ln w="12700">
            <a:solidFill>
              <a:srgbClr val="0A1E3F"/>
            </a:solidFill>
            <a:prstDash val="solid"/>
          </a:ln>
        </p:spPr>
      </p:sp>
      <p:sp>
        <p:nvSpPr>
          <p:cNvPr id="1048578" name="Text 2"/>
          <p:cNvSpPr/>
          <p:nvPr/>
        </p:nvSpPr>
        <p:spPr>
          <a:xfrm>
            <a:off x="594360" y="658368"/>
            <a:ext cx="4572000" cy="594360"/>
          </a:xfrm>
          <a:prstGeom prst="rect"/>
          <a:noFill/>
        </p:spPr>
        <p:txBody>
          <a:bodyPr anchor="ctr" bIns="0" lIns="0" rIns="0" rtlCol="0" tIns="0" wrap="square"/>
          <a:p>
            <a:pPr indent="0" marL="0">
              <a:buNone/>
            </a:pPr>
            <a:r>
              <a:rPr b="1" dirty="0" sz="3400" lang="en-US">
                <a:solidFill>
                  <a:srgbClr val="FFFFFF"/>
                </a:solidFill>
                <a:latin typeface="Calibri" pitchFamily="34" charset="0"/>
                <a:ea typeface="Calibri" pitchFamily="34" charset="-122"/>
                <a:cs typeface="Calibri" pitchFamily="34" charset="-120"/>
              </a:rPr>
              <a:t>Ada Umeh</a:t>
            </a:r>
            <a:endParaRPr dirty="0" sz="3400" lang="en-US"/>
          </a:p>
        </p:txBody>
      </p:sp>
      <p:sp>
        <p:nvSpPr>
          <p:cNvPr id="1048579" name="Text 3"/>
          <p:cNvSpPr/>
          <p:nvPr/>
        </p:nvSpPr>
        <p:spPr>
          <a:xfrm>
            <a:off x="594360" y="1243584"/>
            <a:ext cx="7589520" cy="274320"/>
          </a:xfrm>
          <a:prstGeom prst="rect"/>
          <a:noFill/>
        </p:spPr>
        <p:txBody>
          <a:bodyPr anchor="ctr" bIns="0" lIns="0" rIns="0" rtlCol="0" tIns="0" wrap="square"/>
          <a:p>
            <a:pPr indent="0" marL="0">
              <a:buNone/>
            </a:pPr>
            <a:r>
              <a:rPr dirty="0" sz="1300" lang="en-US">
                <a:solidFill>
                  <a:srgbClr val="2DD4BF"/>
                </a:solidFill>
                <a:latin typeface="Calibri" pitchFamily="34" charset="0"/>
                <a:ea typeface="Calibri" pitchFamily="34" charset="-122"/>
                <a:cs typeface="Calibri" pitchFamily="34" charset="-120"/>
              </a:rPr>
              <a:t>20 years old  ·  300-level Biochemistry  ·  University of Nigeria, Nsukka</a:t>
            </a:r>
            <a:endParaRPr dirty="0" sz="1300" lang="en-US"/>
          </a:p>
        </p:txBody>
      </p:sp>
      <p:sp>
        <p:nvSpPr>
          <p:cNvPr id="1048580" name="Shape 4"/>
          <p:cNvSpPr/>
          <p:nvPr/>
        </p:nvSpPr>
        <p:spPr>
          <a:xfrm>
            <a:off x="594360" y="1572768"/>
            <a:ext cx="7955280" cy="13716"/>
          </a:xfrm>
          <a:prstGeom prst="rect"/>
          <a:solidFill>
            <a:srgbClr val="1D3A5F"/>
          </a:solidFill>
          <a:ln w="12700">
            <a:solidFill>
              <a:srgbClr val="1D3A5F"/>
            </a:solidFill>
            <a:prstDash val="solid"/>
          </a:ln>
        </p:spPr>
      </p:sp>
      <p:sp>
        <p:nvSpPr>
          <p:cNvPr id="1048581" name="Text 5"/>
          <p:cNvSpPr/>
          <p:nvPr/>
        </p:nvSpPr>
        <p:spPr>
          <a:xfrm>
            <a:off x="594360" y="1719072"/>
            <a:ext cx="2560320" cy="201168"/>
          </a:xfrm>
          <a:prstGeom prst="rect"/>
          <a:noFill/>
        </p:spPr>
        <p:txBody>
          <a:bodyPr anchor="ctr" bIns="0" lIns="0" rIns="0" rtlCol="0" tIns="0" wrap="square"/>
          <a:p>
            <a:pPr indent="0" marL="0">
              <a:buNone/>
            </a:pPr>
            <a:r>
              <a:rPr dirty="0" sz="850" kern="0" lang="en-US" spc="200">
                <a:solidFill>
                  <a:srgbClr val="2DD4BF"/>
                </a:solidFill>
                <a:latin typeface="Calibri" pitchFamily="34" charset="0"/>
                <a:ea typeface="Calibri" pitchFamily="34" charset="-122"/>
                <a:cs typeface="Calibri" pitchFamily="34" charset="-120"/>
              </a:rPr>
              <a:t>DAILY ROUTINE</a:t>
            </a:r>
            <a:endParaRPr dirty="0" sz="850" lang="en-US"/>
          </a:p>
        </p:txBody>
      </p:sp>
      <p:sp>
        <p:nvSpPr>
          <p:cNvPr id="1048582" name="Text 6"/>
          <p:cNvSpPr/>
          <p:nvPr/>
        </p:nvSpPr>
        <p:spPr>
          <a:xfrm>
            <a:off x="594360" y="1920240"/>
            <a:ext cx="2560320" cy="411480"/>
          </a:xfrm>
          <a:prstGeom prst="rect"/>
          <a:noFill/>
        </p:spPr>
        <p:txBody>
          <a:bodyPr anchor="ctr" bIns="0" lIns="0" rIns="0" rtlCol="0" tIns="0" wrap="square"/>
          <a:p>
            <a:pPr indent="0" marL="0">
              <a:buNone/>
            </a:pPr>
            <a:r>
              <a:rPr b="1" dirty="0" sz="1400" lang="en-US">
                <a:solidFill>
                  <a:srgbClr val="FFFFFF"/>
                </a:solidFill>
                <a:latin typeface="Calibri" pitchFamily="34" charset="0"/>
                <a:ea typeface="Calibri" pitchFamily="34" charset="-122"/>
                <a:cs typeface="Calibri" pitchFamily="34" charset="-120"/>
              </a:rPr>
              <a:t>Library until 9pm</a:t>
            </a:r>
            <a:endParaRPr dirty="0" sz="1400" lang="en-US"/>
          </a:p>
        </p:txBody>
      </p:sp>
      <p:sp>
        <p:nvSpPr>
          <p:cNvPr id="1048583" name="Text 7"/>
          <p:cNvSpPr/>
          <p:nvPr/>
        </p:nvSpPr>
        <p:spPr>
          <a:xfrm>
            <a:off x="594360" y="2359152"/>
            <a:ext cx="2560320" cy="1280160"/>
          </a:xfrm>
          <a:prstGeom prst="rect"/>
          <a:noFill/>
        </p:spPr>
        <p:txBody>
          <a:bodyPr anchor="ctr" bIns="0" lIns="0" rIns="0" rtlCol="0" tIns="0" wrap="square"/>
          <a:p>
            <a:pPr indent="0" marL="0">
              <a:buNone/>
            </a:pPr>
            <a:r>
              <a:rPr dirty="0" sz="1150" lang="en-US">
                <a:solidFill>
                  <a:srgbClr val="A0B8D0"/>
                </a:solidFill>
                <a:latin typeface="Calibri" pitchFamily="34" charset="0"/>
                <a:ea typeface="Calibri" pitchFamily="34" charset="-122"/>
                <a:cs typeface="Calibri" pitchFamily="34" charset="-120"/>
              </a:rPr>
              <a:t>Lectures end at 6pm. She stays late in the library, then walks back to her hostel through dimly-lit campus paths.</a:t>
            </a:r>
            <a:endParaRPr dirty="0" sz="1150" lang="en-US"/>
          </a:p>
        </p:txBody>
      </p:sp>
      <p:sp>
        <p:nvSpPr>
          <p:cNvPr id="1048584" name="Text 8"/>
          <p:cNvSpPr/>
          <p:nvPr/>
        </p:nvSpPr>
        <p:spPr>
          <a:xfrm>
            <a:off x="3337560" y="1719072"/>
            <a:ext cx="2560320" cy="201168"/>
          </a:xfrm>
          <a:prstGeom prst="rect"/>
          <a:noFill/>
        </p:spPr>
        <p:txBody>
          <a:bodyPr anchor="ctr" bIns="0" lIns="0" rIns="0" rtlCol="0" tIns="0" wrap="square"/>
          <a:p>
            <a:pPr indent="0" marL="0">
              <a:buNone/>
            </a:pPr>
            <a:r>
              <a:rPr dirty="0" sz="850" kern="0" lang="en-US" spc="200">
                <a:solidFill>
                  <a:srgbClr val="86EFAC"/>
                </a:solidFill>
                <a:latin typeface="Calibri" pitchFamily="34" charset="0"/>
                <a:ea typeface="Calibri" pitchFamily="34" charset="-122"/>
                <a:cs typeface="Calibri" pitchFamily="34" charset="-120"/>
              </a:rPr>
              <a:t>CURRENT WORKAROUND</a:t>
            </a:r>
            <a:endParaRPr dirty="0" sz="850" lang="en-US"/>
          </a:p>
        </p:txBody>
      </p:sp>
      <p:sp>
        <p:nvSpPr>
          <p:cNvPr id="1048585" name="Text 9"/>
          <p:cNvSpPr/>
          <p:nvPr/>
        </p:nvSpPr>
        <p:spPr>
          <a:xfrm>
            <a:off x="3337560" y="1920240"/>
            <a:ext cx="2560320" cy="411480"/>
          </a:xfrm>
          <a:prstGeom prst="rect"/>
          <a:noFill/>
        </p:spPr>
        <p:txBody>
          <a:bodyPr anchor="ctr" bIns="0" lIns="0" rIns="0" rtlCol="0" tIns="0" wrap="square"/>
          <a:p>
            <a:pPr indent="0" marL="0">
              <a:buNone/>
            </a:pPr>
            <a:r>
              <a:rPr b="1" dirty="0" sz="1400" lang="en-US">
                <a:solidFill>
                  <a:srgbClr val="FFFFFF"/>
                </a:solidFill>
                <a:latin typeface="Calibri" pitchFamily="34" charset="0"/>
                <a:ea typeface="Calibri" pitchFamily="34" charset="-122"/>
                <a:cs typeface="Calibri" pitchFamily="34" charset="-120"/>
              </a:rPr>
              <a:t>Manual, fragmented</a:t>
            </a:r>
            <a:endParaRPr dirty="0" sz="1400" lang="en-US"/>
          </a:p>
        </p:txBody>
      </p:sp>
      <p:sp>
        <p:nvSpPr>
          <p:cNvPr id="1048586" name="Text 10"/>
          <p:cNvSpPr/>
          <p:nvPr/>
        </p:nvSpPr>
        <p:spPr>
          <a:xfrm>
            <a:off x="3337560" y="2359152"/>
            <a:ext cx="2560320" cy="1280160"/>
          </a:xfrm>
          <a:prstGeom prst="rect"/>
          <a:noFill/>
        </p:spPr>
        <p:txBody>
          <a:bodyPr anchor="ctr" bIns="0" lIns="0" rIns="0" rtlCol="0" tIns="0" wrap="square"/>
          <a:p>
            <a:pPr indent="0" marL="0">
              <a:buNone/>
            </a:pPr>
            <a:r>
              <a:rPr dirty="0" sz="1150" lang="en-US">
                <a:solidFill>
                  <a:srgbClr val="A0B8D0"/>
                </a:solidFill>
                <a:latin typeface="Calibri" pitchFamily="34" charset="0"/>
                <a:ea typeface="Calibri" pitchFamily="34" charset="-122"/>
                <a:cs typeface="Calibri" pitchFamily="34" charset="-120"/>
              </a:rPr>
              <a:t>Calls her boyfriend on the walk. Has campus security numbers saved but has never tested if they pick up.</a:t>
            </a:r>
            <a:endParaRPr dirty="0" sz="1150" lang="en-US"/>
          </a:p>
        </p:txBody>
      </p:sp>
      <p:sp>
        <p:nvSpPr>
          <p:cNvPr id="1048587" name="Text 11"/>
          <p:cNvSpPr/>
          <p:nvPr/>
        </p:nvSpPr>
        <p:spPr>
          <a:xfrm>
            <a:off x="6080760" y="1719072"/>
            <a:ext cx="2560320" cy="201168"/>
          </a:xfrm>
          <a:prstGeom prst="rect"/>
          <a:noFill/>
        </p:spPr>
        <p:txBody>
          <a:bodyPr anchor="ctr" bIns="0" lIns="0" rIns="0" rtlCol="0" tIns="0" wrap="square"/>
          <a:p>
            <a:pPr indent="0" marL="0">
              <a:buNone/>
            </a:pPr>
            <a:r>
              <a:rPr dirty="0" sz="850" kern="0" lang="en-US" spc="200">
                <a:solidFill>
                  <a:srgbClr val="EF4444"/>
                </a:solidFill>
                <a:latin typeface="Calibri" pitchFamily="34" charset="0"/>
                <a:ea typeface="Calibri" pitchFamily="34" charset="-122"/>
                <a:cs typeface="Calibri" pitchFamily="34" charset="-120"/>
              </a:rPr>
              <a:t>TOP FRUSTRATION</a:t>
            </a:r>
            <a:endParaRPr dirty="0" sz="850" lang="en-US"/>
          </a:p>
        </p:txBody>
      </p:sp>
      <p:sp>
        <p:nvSpPr>
          <p:cNvPr id="1048588" name="Text 12"/>
          <p:cNvSpPr/>
          <p:nvPr/>
        </p:nvSpPr>
        <p:spPr>
          <a:xfrm>
            <a:off x="6080760" y="1920240"/>
            <a:ext cx="2560320" cy="411480"/>
          </a:xfrm>
          <a:prstGeom prst="rect"/>
          <a:noFill/>
        </p:spPr>
        <p:txBody>
          <a:bodyPr anchor="ctr" bIns="0" lIns="0" rIns="0" rtlCol="0" tIns="0" wrap="square"/>
          <a:p>
            <a:pPr indent="0" marL="0">
              <a:buNone/>
            </a:pPr>
            <a:r>
              <a:rPr b="1" dirty="0" sz="1400" lang="en-US">
                <a:solidFill>
                  <a:srgbClr val="FFFFFF"/>
                </a:solidFill>
                <a:latin typeface="Calibri" pitchFamily="34" charset="0"/>
                <a:ea typeface="Calibri" pitchFamily="34" charset="-122"/>
                <a:cs typeface="Calibri" pitchFamily="34" charset="-120"/>
              </a:rPr>
              <a:t>The walk after 8pm</a:t>
            </a:r>
            <a:endParaRPr dirty="0" sz="1400" lang="en-US"/>
          </a:p>
        </p:txBody>
      </p:sp>
      <p:sp>
        <p:nvSpPr>
          <p:cNvPr id="1048589" name="Text 13"/>
          <p:cNvSpPr/>
          <p:nvPr/>
        </p:nvSpPr>
        <p:spPr>
          <a:xfrm>
            <a:off x="6080760" y="2359152"/>
            <a:ext cx="2560320" cy="1280160"/>
          </a:xfrm>
          <a:prstGeom prst="rect"/>
          <a:noFill/>
        </p:spPr>
        <p:txBody>
          <a:bodyPr anchor="ctr" bIns="0" lIns="0" rIns="0" rtlCol="0" tIns="0" wrap="square"/>
          <a:p>
            <a:pPr indent="0" marL="0">
              <a:buNone/>
            </a:pPr>
            <a:r>
              <a:rPr dirty="0" sz="1150" lang="en-US">
                <a:solidFill>
                  <a:srgbClr val="A0B8D0"/>
                </a:solidFill>
                <a:latin typeface="Calibri" pitchFamily="34" charset="0"/>
                <a:ea typeface="Calibri" pitchFamily="34" charset="-122"/>
                <a:cs typeface="Calibri" pitchFamily="34" charset="-120"/>
              </a:rPr>
              <a:t>She rushes. Watches every shadow. Doesn’t enjoy late library sessions because the walk home is always anxious.</a:t>
            </a:r>
            <a:endParaRPr dirty="0" sz="1150" lang="en-US"/>
          </a:p>
        </p:txBody>
      </p:sp>
      <p:sp>
        <p:nvSpPr>
          <p:cNvPr id="1048590" name="Shape 14"/>
          <p:cNvSpPr/>
          <p:nvPr/>
        </p:nvSpPr>
        <p:spPr>
          <a:xfrm>
            <a:off x="594360" y="3703320"/>
            <a:ext cx="7955280" cy="822960"/>
          </a:xfrm>
          <a:prstGeom prst="rect"/>
          <a:solidFill>
            <a:srgbClr val="0D2850"/>
          </a:solidFill>
          <a:ln w="12700">
            <a:solidFill>
              <a:srgbClr val="0D2850"/>
            </a:solidFill>
            <a:prstDash val="solid"/>
          </a:ln>
        </p:spPr>
      </p:sp>
      <p:sp>
        <p:nvSpPr>
          <p:cNvPr id="1048591" name="Text 15"/>
          <p:cNvSpPr/>
          <p:nvPr/>
        </p:nvSpPr>
        <p:spPr>
          <a:xfrm>
            <a:off x="713232" y="3776472"/>
            <a:ext cx="2286000" cy="228600"/>
          </a:xfrm>
          <a:prstGeom prst="rect"/>
          <a:noFill/>
        </p:spPr>
        <p:txBody>
          <a:bodyPr anchor="ctr" bIns="0" lIns="0" rIns="0" rtlCol="0" tIns="0" wrap="square"/>
          <a:p>
            <a:pPr indent="0" marL="0">
              <a:buNone/>
            </a:pPr>
            <a:r>
              <a:rPr dirty="0" sz="950" lang="en-US">
                <a:solidFill>
                  <a:srgbClr val="2DD4BF"/>
                </a:solidFill>
                <a:latin typeface="Calibri" pitchFamily="34" charset="0"/>
                <a:ea typeface="Calibri" pitchFamily="34" charset="-122"/>
                <a:cs typeface="Calibri" pitchFamily="34" charset="-120"/>
              </a:rPr>
              <a:t>“Why she’d use LifeLine:”  </a:t>
            </a:r>
            <a:endParaRPr dirty="0" sz="950" lang="en-US"/>
          </a:p>
        </p:txBody>
      </p:sp>
      <p:sp>
        <p:nvSpPr>
          <p:cNvPr id="1048592" name="Text 16"/>
          <p:cNvSpPr/>
          <p:nvPr/>
        </p:nvSpPr>
        <p:spPr>
          <a:xfrm>
            <a:off x="713232" y="3995928"/>
            <a:ext cx="7772400" cy="457200"/>
          </a:xfrm>
          <a:prstGeom prst="rect"/>
          <a:noFill/>
        </p:spPr>
        <p:txBody>
          <a:bodyPr anchor="ctr" bIns="0" lIns="0" rIns="0" rtlCol="0" tIns="0" wrap="square"/>
          <a:p>
            <a:pPr indent="0" marL="0">
              <a:buNone/>
            </a:pPr>
            <a:r>
              <a:rPr dirty="0" sz="1100" lang="en-US">
                <a:solidFill>
                  <a:srgbClr val="C8D9EE"/>
                </a:solidFill>
                <a:latin typeface="Calibri" pitchFamily="34" charset="0"/>
                <a:ea typeface="Calibri" pitchFamily="34" charset="-122"/>
                <a:cs typeface="Calibri" pitchFamily="34" charset="-120"/>
              </a:rPr>
              <a:t>A configured Safe Arrival trip handles the “let mum know I’m home” routine automatically. The SOS gives her real recourse if something feels off on the walk.</a:t>
            </a:r>
            <a:endParaRPr dirty="0" sz="110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8" name=""/>
        <p:cNvGrpSpPr/>
        <p:nvPr/>
      </p:nvGrpSpPr>
      <p:grpSpPr>
        <a:xfrm>
          <a:off x="0" y="0"/>
          <a:ext cx="0" cy="0"/>
          <a:chOff x="0" y="0"/>
          <a:chExt cx="0" cy="0"/>
        </a:xfrm>
      </p:grpSpPr>
      <p:pic>
        <p:nvPicPr>
          <p:cNvPr id="2097153" name="Image 0" descr="/mnt/user-data/uploads/IMG-20260517-WA0000.jpg"/>
          <p:cNvPicPr>
            <a:picLocks noChangeAspect="1"/>
          </p:cNvPicPr>
          <p:nvPr/>
        </p:nvPicPr>
        <p:blipFill>
          <a:blip xmlns:r="http://schemas.openxmlformats.org/officeDocument/2006/relationships" r:embed="rId1"/>
          <a:stretch>
            <a:fillRect/>
          </a:stretch>
        </p:blipFill>
        <p:spPr>
          <a:xfrm>
            <a:off x="7955280" y="91440"/>
            <a:ext cx="1005840" cy="1005840"/>
          </a:xfrm>
          <a:prstGeom prst="rect"/>
        </p:spPr>
      </p:pic>
      <p:sp>
        <p:nvSpPr>
          <p:cNvPr id="1048596" name="Text 0"/>
          <p:cNvSpPr/>
          <p:nvPr/>
        </p:nvSpPr>
        <p:spPr>
          <a:xfrm>
            <a:off x="411480" y="201168"/>
            <a:ext cx="3657600" cy="228600"/>
          </a:xfrm>
          <a:prstGeom prst="rect"/>
          <a:noFill/>
        </p:spPr>
        <p:txBody>
          <a:bodyPr anchor="ctr" bIns="0" lIns="0" rIns="0" rtlCol="0" tIns="0" wrap="square"/>
          <a:p>
            <a:pPr indent="0" marL="0">
              <a:buNone/>
            </a:pPr>
            <a:r>
              <a:rPr dirty="0" sz="900" kern="0" lang="en-US" spc="400">
                <a:solidFill>
                  <a:srgbClr val="94A3B8"/>
                </a:solidFill>
                <a:latin typeface="Calibri" pitchFamily="34" charset="0"/>
                <a:ea typeface="Calibri" pitchFamily="34" charset="-122"/>
                <a:cs typeface="Calibri" pitchFamily="34" charset="-120"/>
              </a:rPr>
              <a:t>THE SOLUTION</a:t>
            </a:r>
            <a:endParaRPr dirty="0" sz="900" lang="en-US"/>
          </a:p>
        </p:txBody>
      </p:sp>
      <p:sp>
        <p:nvSpPr>
          <p:cNvPr id="1048597" name="Text 1"/>
          <p:cNvSpPr/>
          <p:nvPr/>
        </p:nvSpPr>
        <p:spPr>
          <a:xfrm>
            <a:off x="411480" y="438912"/>
            <a:ext cx="6400800" cy="475488"/>
          </a:xfrm>
          <a:prstGeom prst="rect"/>
          <a:noFill/>
        </p:spPr>
        <p:txBody>
          <a:bodyPr anchor="ctr" bIns="0" lIns="0" rIns="0" rtlCol="0" tIns="0" wrap="square"/>
          <a:p>
            <a:pPr indent="0" marL="0">
              <a:buNone/>
            </a:pPr>
            <a:r>
              <a:rPr b="1" dirty="0" sz="2800" lang="en-US">
                <a:solidFill>
                  <a:srgbClr val="0A1E3F"/>
                </a:solidFill>
                <a:latin typeface="Calibri" pitchFamily="34" charset="0"/>
                <a:ea typeface="Calibri" pitchFamily="34" charset="-122"/>
                <a:cs typeface="Calibri" pitchFamily="34" charset="-120"/>
              </a:rPr>
              <a:t>Safety in one tap.</a:t>
            </a:r>
            <a:endParaRPr dirty="0" sz="2800" lang="en-US"/>
          </a:p>
        </p:txBody>
      </p:sp>
      <p:sp>
        <p:nvSpPr>
          <p:cNvPr id="1048598" name="Shape 2"/>
          <p:cNvSpPr/>
          <p:nvPr/>
        </p:nvSpPr>
        <p:spPr>
          <a:xfrm>
            <a:off x="411480" y="1078992"/>
            <a:ext cx="4023360" cy="3566160"/>
          </a:xfrm>
          <a:prstGeom prst="rect"/>
          <a:solidFill>
            <a:srgbClr val="0A1E3F"/>
          </a:solidFill>
          <a:ln w="12700">
            <a:solidFill>
              <a:srgbClr val="0A1E3F"/>
            </a:solidFill>
            <a:prstDash val="solid"/>
          </a:ln>
        </p:spPr>
      </p:sp>
      <p:sp>
        <p:nvSpPr>
          <p:cNvPr id="1048599" name="Shape 3"/>
          <p:cNvSpPr/>
          <p:nvPr/>
        </p:nvSpPr>
        <p:spPr>
          <a:xfrm>
            <a:off x="411480" y="1078992"/>
            <a:ext cx="4023360" cy="347472"/>
          </a:xfrm>
          <a:prstGeom prst="rect"/>
          <a:solidFill>
            <a:srgbClr val="064E3B"/>
          </a:solidFill>
          <a:ln w="12700">
            <a:solidFill>
              <a:srgbClr val="064E3B"/>
            </a:solidFill>
            <a:prstDash val="solid"/>
          </a:ln>
        </p:spPr>
      </p:sp>
      <p:sp>
        <p:nvSpPr>
          <p:cNvPr id="1048600" name="Text 4"/>
          <p:cNvSpPr/>
          <p:nvPr/>
        </p:nvSpPr>
        <p:spPr>
          <a:xfrm>
            <a:off x="530352" y="1115568"/>
            <a:ext cx="3749040" cy="274320"/>
          </a:xfrm>
          <a:prstGeom prst="rect"/>
          <a:noFill/>
        </p:spPr>
        <p:txBody>
          <a:bodyPr anchor="ctr" bIns="0" lIns="0" rIns="0" rtlCol="0" tIns="0" wrap="square"/>
          <a:p>
            <a:pPr indent="0" marL="0">
              <a:buNone/>
            </a:pPr>
            <a:r>
              <a:rPr b="1" dirty="0" sz="950" lang="en-US">
                <a:solidFill>
                  <a:srgbClr val="86EFAC"/>
                </a:solidFill>
                <a:latin typeface="Calibri" pitchFamily="34" charset="0"/>
                <a:ea typeface="Calibri" pitchFamily="34" charset="-122"/>
                <a:cs typeface="Calibri" pitchFamily="34" charset="-120"/>
              </a:rPr>
              <a:t>SAFE ARRIVAL FLOW  —  daily habit</a:t>
            </a:r>
            <a:endParaRPr dirty="0" sz="950" lang="en-US"/>
          </a:p>
        </p:txBody>
      </p:sp>
      <p:sp>
        <p:nvSpPr>
          <p:cNvPr id="1048601" name="Text 5"/>
          <p:cNvSpPr/>
          <p:nvPr/>
        </p:nvSpPr>
        <p:spPr>
          <a:xfrm>
            <a:off x="530352" y="1572768"/>
            <a:ext cx="3749040" cy="320040"/>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  </a:t>
            </a:r>
            <a:r>
              <a:rPr dirty="0" sz="1100" lang="en-US">
                <a:solidFill>
                  <a:srgbClr val="FFFFFF"/>
                </a:solidFill>
                <a:latin typeface="Calibri" pitchFamily="34" charset="0"/>
                <a:ea typeface="Calibri" pitchFamily="34" charset="-122"/>
                <a:cs typeface="Calibri" pitchFamily="34" charset="-120"/>
              </a:rPr>
              <a:t>Pick destination + ETA (15 / 30 / 60 min)</a:t>
            </a:r>
            <a:endParaRPr dirty="0" sz="1100" lang="en-US"/>
          </a:p>
        </p:txBody>
      </p:sp>
      <p:sp>
        <p:nvSpPr>
          <p:cNvPr id="1048602" name="Text 6"/>
          <p:cNvSpPr/>
          <p:nvPr/>
        </p:nvSpPr>
        <p:spPr>
          <a:xfrm>
            <a:off x="530352" y="1911096"/>
            <a:ext cx="3749040" cy="320040"/>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  </a:t>
            </a:r>
            <a:r>
              <a:rPr dirty="0" sz="1100" lang="en-US">
                <a:solidFill>
                  <a:srgbClr val="FFFFFF"/>
                </a:solidFill>
                <a:latin typeface="Calibri" pitchFamily="34" charset="0"/>
                <a:ea typeface="Calibri" pitchFamily="34" charset="-122"/>
                <a:cs typeface="Calibri" pitchFamily="34" charset="-120"/>
              </a:rPr>
              <a:t>Select trusted contacts to watch</a:t>
            </a:r>
            <a:endParaRPr dirty="0" sz="1100" lang="en-US"/>
          </a:p>
        </p:txBody>
      </p:sp>
      <p:sp>
        <p:nvSpPr>
          <p:cNvPr id="1048603" name="Text 7"/>
          <p:cNvSpPr/>
          <p:nvPr/>
        </p:nvSpPr>
        <p:spPr>
          <a:xfrm>
            <a:off x="530352" y="2249424"/>
            <a:ext cx="3749040" cy="320040"/>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  </a:t>
            </a:r>
            <a:r>
              <a:rPr dirty="0" sz="1100" lang="en-US">
                <a:solidFill>
                  <a:srgbClr val="FFFFFF"/>
                </a:solidFill>
                <a:latin typeface="Calibri" pitchFamily="34" charset="0"/>
                <a:ea typeface="Calibri" pitchFamily="34" charset="-122"/>
                <a:cs typeface="Calibri" pitchFamily="34" charset="-120"/>
              </a:rPr>
              <a:t>Live OpenStreetMap tracking + countdown timer</a:t>
            </a:r>
            <a:endParaRPr dirty="0" sz="1100" lang="en-US"/>
          </a:p>
        </p:txBody>
      </p:sp>
      <p:sp>
        <p:nvSpPr>
          <p:cNvPr id="1048604" name="Text 8"/>
          <p:cNvSpPr/>
          <p:nvPr/>
        </p:nvSpPr>
        <p:spPr>
          <a:xfrm>
            <a:off x="530352" y="2587752"/>
            <a:ext cx="3749040" cy="320040"/>
          </a:xfrm>
          <a:prstGeom prst="rect"/>
          <a:noFill/>
        </p:spPr>
        <p:txBody>
          <a:bodyPr anchor="ctr" bIns="0" lIns="0" rIns="0" rtlCol="0" tIns="0" wrap="square"/>
          <a:p>
            <a:pPr indent="0" marL="0">
              <a:buNone/>
            </a:pPr>
            <a:r>
              <a:rPr b="1" dirty="0" sz="1100" lang="en-US">
                <a:solidFill>
                  <a:srgbClr val="86EFAC"/>
                </a:solidFill>
                <a:latin typeface="Calibri" pitchFamily="34" charset="0"/>
                <a:ea typeface="Calibri" pitchFamily="34" charset="-122"/>
                <a:cs typeface="Calibri" pitchFamily="34" charset="-120"/>
              </a:rPr>
              <a:t>✓  </a:t>
            </a:r>
            <a:r>
              <a:rPr dirty="0" sz="1100" lang="en-US">
                <a:solidFill>
                  <a:srgbClr val="86EFAC"/>
                </a:solidFill>
                <a:latin typeface="Calibri" pitchFamily="34" charset="0"/>
                <a:ea typeface="Calibri" pitchFamily="34" charset="-122"/>
                <a:cs typeface="Calibri" pitchFamily="34" charset="-120"/>
              </a:rPr>
              <a:t>Tap “I’ve arrived safely” → confetti + contacts notified</a:t>
            </a:r>
            <a:endParaRPr dirty="0" sz="1100" lang="en-US"/>
          </a:p>
        </p:txBody>
      </p:sp>
      <p:sp>
        <p:nvSpPr>
          <p:cNvPr id="1048605" name="Text 9"/>
          <p:cNvSpPr/>
          <p:nvPr/>
        </p:nvSpPr>
        <p:spPr>
          <a:xfrm>
            <a:off x="530352" y="2926080"/>
            <a:ext cx="3749040" cy="320040"/>
          </a:xfrm>
          <a:prstGeom prst="rect"/>
          <a:noFill/>
        </p:spPr>
        <p:txBody>
          <a:bodyPr anchor="ctr" bIns="0" lIns="0" rIns="0" rtlCol="0" tIns="0" wrap="square"/>
          <a:p>
            <a:pPr indent="0" marL="0">
              <a:buNone/>
            </a:pPr>
            <a:r>
              <a:rPr b="1" dirty="0" sz="1100" lang="en-US">
                <a:solidFill>
                  <a:srgbClr val="FCA5A5"/>
                </a:solidFill>
                <a:latin typeface="Calibri" pitchFamily="34" charset="0"/>
                <a:ea typeface="Calibri" pitchFamily="34" charset="-122"/>
                <a:cs typeface="Calibri" pitchFamily="34" charset="-120"/>
              </a:rPr>
              <a:t>✓  </a:t>
            </a:r>
            <a:r>
              <a:rPr dirty="0" sz="1100" lang="en-US">
                <a:solidFill>
                  <a:srgbClr val="FCA5A5"/>
                </a:solidFill>
                <a:latin typeface="Calibri" pitchFamily="34" charset="0"/>
                <a:ea typeface="Calibri" pitchFamily="34" charset="-122"/>
                <a:cs typeface="Calibri" pitchFamily="34" charset="-120"/>
              </a:rPr>
              <a:t>ETA expires without tap → contacts auto-alerted</a:t>
            </a:r>
            <a:endParaRPr dirty="0" sz="1100" lang="en-US"/>
          </a:p>
        </p:txBody>
      </p:sp>
      <p:sp>
        <p:nvSpPr>
          <p:cNvPr id="1048606" name="Text 10"/>
          <p:cNvSpPr/>
          <p:nvPr/>
        </p:nvSpPr>
        <p:spPr>
          <a:xfrm>
            <a:off x="530352" y="3264408"/>
            <a:ext cx="3749040" cy="320040"/>
          </a:xfrm>
          <a:prstGeom prst="rect"/>
          <a:noFill/>
        </p:spPr>
        <p:txBody>
          <a:bodyPr anchor="ctr" bIns="0" lIns="0" rIns="0" rtlCol="0" tIns="0" wrap="square"/>
          <a:p>
            <a:pPr indent="0" marL="0">
              <a:buNone/>
            </a:pPr>
            <a:r>
              <a:rPr b="1" dirty="0" sz="1100" lang="en-US">
                <a:solidFill>
                  <a:srgbClr val="2DD4BF"/>
                </a:solidFill>
                <a:latin typeface="Calibri" pitchFamily="34" charset="0"/>
                <a:ea typeface="Calibri" pitchFamily="34" charset="-122"/>
                <a:cs typeface="Calibri" pitchFamily="34" charset="-120"/>
              </a:rPr>
              <a:t>✓  </a:t>
            </a:r>
            <a:r>
              <a:rPr dirty="0" sz="1100" lang="en-US">
                <a:solidFill>
                  <a:srgbClr val="2DD4BF"/>
                </a:solidFill>
                <a:latin typeface="Calibri" pitchFamily="34" charset="0"/>
                <a:ea typeface="Calibri" pitchFamily="34" charset="-122"/>
                <a:cs typeface="Calibri" pitchFamily="34" charset="-120"/>
              </a:rPr>
              <a:t>Zero manual texting required once configured</a:t>
            </a:r>
            <a:endParaRPr dirty="0" sz="1100" lang="en-US"/>
          </a:p>
        </p:txBody>
      </p:sp>
      <p:sp>
        <p:nvSpPr>
          <p:cNvPr id="1048607" name="Shape 11"/>
          <p:cNvSpPr/>
          <p:nvPr/>
        </p:nvSpPr>
        <p:spPr>
          <a:xfrm>
            <a:off x="411480" y="4133088"/>
            <a:ext cx="4023360" cy="420624"/>
          </a:xfrm>
          <a:prstGeom prst="rect"/>
          <a:solidFill>
            <a:srgbClr val="10B981"/>
          </a:solidFill>
          <a:ln w="12700">
            <a:solidFill>
              <a:srgbClr val="10B981"/>
            </a:solidFill>
            <a:prstDash val="solid"/>
          </a:ln>
        </p:spPr>
      </p:sp>
      <p:sp>
        <p:nvSpPr>
          <p:cNvPr id="1048608" name="Text 12"/>
          <p:cNvSpPr/>
          <p:nvPr/>
        </p:nvSpPr>
        <p:spPr>
          <a:xfrm>
            <a:off x="502920" y="4178808"/>
            <a:ext cx="3840480" cy="329184"/>
          </a:xfrm>
          <a:prstGeom prst="rect"/>
          <a:noFill/>
        </p:spPr>
        <p:txBody>
          <a:bodyPr anchor="ctr" bIns="0" lIns="0" rIns="0" rtlCol="0" tIns="0" wrap="square"/>
          <a:p>
            <a:pPr indent="0" marL="0">
              <a:buNone/>
            </a:pPr>
            <a:r>
              <a:rPr b="1" dirty="0" sz="1000" lang="en-US">
                <a:solidFill>
                  <a:srgbClr val="FFFFFF"/>
                </a:solidFill>
                <a:latin typeface="Calibri" pitchFamily="34" charset="0"/>
                <a:ea typeface="Calibri" pitchFamily="34" charset="-122"/>
                <a:cs typeface="Calibri" pitchFamily="34" charset="-120"/>
              </a:rPr>
              <a:t>North Star: ≥ 90% of journeys end in safe-arrival confirmation</a:t>
            </a:r>
            <a:endParaRPr dirty="0" sz="1000" lang="en-US"/>
          </a:p>
        </p:txBody>
      </p:sp>
      <p:sp>
        <p:nvSpPr>
          <p:cNvPr id="1048609" name="Shape 13"/>
          <p:cNvSpPr/>
          <p:nvPr/>
        </p:nvSpPr>
        <p:spPr>
          <a:xfrm>
            <a:off x="4709160" y="1078992"/>
            <a:ext cx="4023360" cy="3566160"/>
          </a:xfrm>
          <a:prstGeom prst="rect"/>
          <a:solidFill>
            <a:srgbClr val="0A1E3F"/>
          </a:solidFill>
          <a:ln w="12700">
            <a:solidFill>
              <a:srgbClr val="0A1E3F"/>
            </a:solidFill>
            <a:prstDash val="solid"/>
          </a:ln>
        </p:spPr>
      </p:sp>
      <p:sp>
        <p:nvSpPr>
          <p:cNvPr id="1048610" name="Shape 14"/>
          <p:cNvSpPr/>
          <p:nvPr/>
        </p:nvSpPr>
        <p:spPr>
          <a:xfrm>
            <a:off x="4709160" y="1078992"/>
            <a:ext cx="4023360" cy="347472"/>
          </a:xfrm>
          <a:prstGeom prst="rect"/>
          <a:solidFill>
            <a:srgbClr val="7F1D1D"/>
          </a:solidFill>
          <a:ln w="12700">
            <a:solidFill>
              <a:srgbClr val="7F1D1D"/>
            </a:solidFill>
            <a:prstDash val="solid"/>
          </a:ln>
        </p:spPr>
      </p:sp>
      <p:sp>
        <p:nvSpPr>
          <p:cNvPr id="1048611" name="Text 15"/>
          <p:cNvSpPr/>
          <p:nvPr/>
        </p:nvSpPr>
        <p:spPr>
          <a:xfrm>
            <a:off x="4828032" y="1115568"/>
            <a:ext cx="3749040" cy="274320"/>
          </a:xfrm>
          <a:prstGeom prst="rect"/>
          <a:noFill/>
        </p:spPr>
        <p:txBody>
          <a:bodyPr anchor="ctr" bIns="0" lIns="0" rIns="0" rtlCol="0" tIns="0" wrap="square"/>
          <a:p>
            <a:pPr indent="0" marL="0">
              <a:buNone/>
            </a:pPr>
            <a:r>
              <a:rPr b="1" dirty="0" sz="950" lang="en-US">
                <a:solidFill>
                  <a:srgbClr val="FCA5A5"/>
                </a:solidFill>
                <a:latin typeface="Calibri" pitchFamily="34" charset="0"/>
                <a:ea typeface="Calibri" pitchFamily="34" charset="-122"/>
                <a:cs typeface="Calibri" pitchFamily="34" charset="-120"/>
              </a:rPr>
              <a:t>SOS FLOW  —  safety net</a:t>
            </a:r>
            <a:endParaRPr dirty="0" sz="950" lang="en-US"/>
          </a:p>
        </p:txBody>
      </p:sp>
      <p:sp>
        <p:nvSpPr>
          <p:cNvPr id="1048612" name="Text 16"/>
          <p:cNvSpPr/>
          <p:nvPr/>
        </p:nvSpPr>
        <p:spPr>
          <a:xfrm>
            <a:off x="4828032" y="1572768"/>
            <a:ext cx="3749040" cy="320040"/>
          </a:xfrm>
          <a:prstGeom prst="rect"/>
          <a:noFill/>
        </p:spPr>
        <p:txBody>
          <a:bodyPr anchor="ctr" bIns="0" lIns="0" rIns="0" rtlCol="0" tIns="0" wrap="square"/>
          <a:p>
            <a:pPr indent="0" marL="0">
              <a:buNone/>
            </a:pPr>
            <a:r>
              <a:rPr b="1" dirty="0" sz="1100" lang="en-US">
                <a:solidFill>
                  <a:srgbClr val="EF4444"/>
                </a:solidFill>
                <a:latin typeface="Calibri" pitchFamily="34" charset="0"/>
                <a:ea typeface="Calibri" pitchFamily="34" charset="-122"/>
                <a:cs typeface="Calibri" pitchFamily="34" charset="-120"/>
              </a:rPr>
              <a:t>⚠  </a:t>
            </a:r>
            <a:r>
              <a:rPr dirty="0" sz="1100" lang="en-US">
                <a:solidFill>
                  <a:srgbClr val="FFFFFF"/>
                </a:solidFill>
                <a:latin typeface="Calibri" pitchFamily="34" charset="0"/>
                <a:ea typeface="Calibri" pitchFamily="34" charset="-122"/>
                <a:cs typeface="Calibri" pitchFamily="34" charset="-120"/>
              </a:rPr>
              <a:t>Hold red SOS button 3 seconds (SVG ring fills)</a:t>
            </a:r>
            <a:endParaRPr dirty="0" sz="1100" lang="en-US"/>
          </a:p>
        </p:txBody>
      </p:sp>
      <p:sp>
        <p:nvSpPr>
          <p:cNvPr id="1048613" name="Text 17"/>
          <p:cNvSpPr/>
          <p:nvPr/>
        </p:nvSpPr>
        <p:spPr>
          <a:xfrm>
            <a:off x="4828032" y="1911096"/>
            <a:ext cx="3749040" cy="320040"/>
          </a:xfrm>
          <a:prstGeom prst="rect"/>
          <a:noFill/>
        </p:spPr>
        <p:txBody>
          <a:bodyPr anchor="ctr" bIns="0" lIns="0" rIns="0" rtlCol="0" tIns="0" wrap="square"/>
          <a:p>
            <a:pPr indent="0" marL="0">
              <a:buNone/>
            </a:pPr>
            <a:r>
              <a:rPr b="1" dirty="0" sz="1100" lang="en-US">
                <a:solidFill>
                  <a:srgbClr val="EF4444"/>
                </a:solidFill>
                <a:latin typeface="Calibri" pitchFamily="34" charset="0"/>
                <a:ea typeface="Calibri" pitchFamily="34" charset="-122"/>
                <a:cs typeface="Calibri" pitchFamily="34" charset="-120"/>
              </a:rPr>
              <a:t>⚠  </a:t>
            </a:r>
            <a:r>
              <a:rPr dirty="0" sz="1100" lang="en-US">
                <a:solidFill>
                  <a:srgbClr val="FFFFFF"/>
                </a:solidFill>
                <a:latin typeface="Calibri" pitchFamily="34" charset="0"/>
                <a:ea typeface="Calibri" pitchFamily="34" charset="-122"/>
                <a:cs typeface="Calibri" pitchFamily="34" charset="-120"/>
              </a:rPr>
              <a:t>Haptic feedback: [200ms, 100ms, 200ms] vibration</a:t>
            </a:r>
            <a:endParaRPr dirty="0" sz="1100" lang="en-US"/>
          </a:p>
        </p:txBody>
      </p:sp>
      <p:sp>
        <p:nvSpPr>
          <p:cNvPr id="1048614" name="Text 18"/>
          <p:cNvSpPr/>
          <p:nvPr/>
        </p:nvSpPr>
        <p:spPr>
          <a:xfrm>
            <a:off x="4828032" y="2249424"/>
            <a:ext cx="3749040" cy="320040"/>
          </a:xfrm>
          <a:prstGeom prst="rect"/>
          <a:noFill/>
        </p:spPr>
        <p:txBody>
          <a:bodyPr anchor="ctr" bIns="0" lIns="0" rIns="0" rtlCol="0" tIns="0" wrap="square"/>
          <a:p>
            <a:pPr indent="0" marL="0">
              <a:buNone/>
            </a:pPr>
            <a:r>
              <a:rPr b="1" dirty="0" sz="1100" lang="en-US">
                <a:solidFill>
                  <a:srgbClr val="EF4444"/>
                </a:solidFill>
                <a:latin typeface="Calibri" pitchFamily="34" charset="0"/>
                <a:ea typeface="Calibri" pitchFamily="34" charset="-122"/>
                <a:cs typeface="Calibri" pitchFamily="34" charset="-120"/>
              </a:rPr>
              <a:t>⚠  </a:t>
            </a:r>
            <a:r>
              <a:rPr dirty="0" sz="1100" lang="en-US">
                <a:solidFill>
                  <a:srgbClr val="FFFFFF"/>
                </a:solidFill>
                <a:latin typeface="Calibri" pitchFamily="34" charset="0"/>
                <a:ea typeface="Calibri" pitchFamily="34" charset="-122"/>
                <a:cs typeface="Calibri" pitchFamily="34" charset="-120"/>
              </a:rPr>
              <a:t>2:45 escalation countdown begins</a:t>
            </a:r>
            <a:endParaRPr dirty="0" sz="1100" lang="en-US"/>
          </a:p>
        </p:txBody>
      </p:sp>
      <p:sp>
        <p:nvSpPr>
          <p:cNvPr id="1048615" name="Text 19"/>
          <p:cNvSpPr/>
          <p:nvPr/>
        </p:nvSpPr>
        <p:spPr>
          <a:xfrm>
            <a:off x="4828032" y="2587752"/>
            <a:ext cx="3749040" cy="320040"/>
          </a:xfrm>
          <a:prstGeom prst="rect"/>
          <a:noFill/>
        </p:spPr>
        <p:txBody>
          <a:bodyPr anchor="ctr" bIns="0" lIns="0" rIns="0" rtlCol="0" tIns="0" wrap="square"/>
          <a:p>
            <a:pPr indent="0" marL="0">
              <a:buNone/>
            </a:pPr>
            <a:r>
              <a:rPr b="1" dirty="0" sz="1100" lang="en-US">
                <a:solidFill>
                  <a:srgbClr val="EF4444"/>
                </a:solidFill>
                <a:latin typeface="Calibri" pitchFamily="34" charset="0"/>
                <a:ea typeface="Calibri" pitchFamily="34" charset="-122"/>
                <a:cs typeface="Calibri" pitchFamily="34" charset="-120"/>
              </a:rPr>
              <a:t>⚠  </a:t>
            </a:r>
            <a:r>
              <a:rPr dirty="0" sz="1100" lang="en-US">
                <a:solidFill>
                  <a:srgbClr val="FCA5A5"/>
                </a:solidFill>
                <a:latin typeface="Calibri" pitchFamily="34" charset="0"/>
                <a:ea typeface="Calibri" pitchFamily="34" charset="-122"/>
                <a:cs typeface="Calibri" pitchFamily="34" charset="-120"/>
              </a:rPr>
              <a:t>Live GPS streams to trusted contacts</a:t>
            </a:r>
            <a:endParaRPr dirty="0" sz="1100" lang="en-US"/>
          </a:p>
        </p:txBody>
      </p:sp>
      <p:sp>
        <p:nvSpPr>
          <p:cNvPr id="1048616" name="Text 20"/>
          <p:cNvSpPr/>
          <p:nvPr/>
        </p:nvSpPr>
        <p:spPr>
          <a:xfrm>
            <a:off x="4828032" y="2926080"/>
            <a:ext cx="3749040" cy="320040"/>
          </a:xfrm>
          <a:prstGeom prst="rect"/>
          <a:noFill/>
        </p:spPr>
        <p:txBody>
          <a:bodyPr anchor="ctr" bIns="0" lIns="0" rIns="0" rtlCol="0" tIns="0" wrap="square"/>
          <a:p>
            <a:pPr indent="0" marL="0">
              <a:buNone/>
            </a:pPr>
            <a:r>
              <a:rPr b="1" dirty="0" sz="1100" lang="en-US">
                <a:solidFill>
                  <a:srgbClr val="EF4444"/>
                </a:solidFill>
                <a:latin typeface="Calibri" pitchFamily="34" charset="0"/>
                <a:ea typeface="Calibri" pitchFamily="34" charset="-122"/>
                <a:cs typeface="Calibri" pitchFamily="34" charset="-120"/>
              </a:rPr>
              <a:t>⚠  </a:t>
            </a:r>
            <a:r>
              <a:rPr dirty="0" sz="1100" lang="en-US">
                <a:solidFill>
                  <a:srgbClr val="FFFFFF"/>
                </a:solidFill>
                <a:latin typeface="Calibri" pitchFamily="34" charset="0"/>
                <a:ea typeface="Calibri" pitchFamily="34" charset="-122"/>
                <a:cs typeface="Calibri" pitchFamily="34" charset="-120"/>
              </a:rPr>
              <a:t>“I’m safe — cancel” override any time before 2:45</a:t>
            </a:r>
            <a:endParaRPr dirty="0" sz="1100" lang="en-US"/>
          </a:p>
        </p:txBody>
      </p:sp>
      <p:sp>
        <p:nvSpPr>
          <p:cNvPr id="1048617" name="Text 21"/>
          <p:cNvSpPr/>
          <p:nvPr/>
        </p:nvSpPr>
        <p:spPr>
          <a:xfrm>
            <a:off x="4828032" y="3264408"/>
            <a:ext cx="3749040" cy="320040"/>
          </a:xfrm>
          <a:prstGeom prst="rect"/>
          <a:noFill/>
        </p:spPr>
        <p:txBody>
          <a:bodyPr anchor="ctr" bIns="0" lIns="0" rIns="0" rtlCol="0" tIns="0" wrap="square"/>
          <a:p>
            <a:pPr indent="0" marL="0">
              <a:buNone/>
            </a:pPr>
            <a:r>
              <a:rPr b="1" dirty="0" sz="1100" lang="en-US">
                <a:solidFill>
                  <a:srgbClr val="EF4444"/>
                </a:solidFill>
                <a:latin typeface="Calibri" pitchFamily="34" charset="0"/>
                <a:ea typeface="Calibri" pitchFamily="34" charset="-122"/>
                <a:cs typeface="Calibri" pitchFamily="34" charset="-120"/>
              </a:rPr>
              <a:t>⚠  </a:t>
            </a:r>
            <a:r>
              <a:rPr dirty="0" sz="1100" lang="en-US">
                <a:solidFill>
                  <a:srgbClr val="FCA5A5"/>
                </a:solidFill>
                <a:latin typeface="Calibri" pitchFamily="34" charset="0"/>
                <a:ea typeface="Calibri" pitchFamily="34" charset="-122"/>
                <a:cs typeface="Calibri" pitchFamily="34" charset="-120"/>
              </a:rPr>
              <a:t>Timer expires → contacts see location on red-tinted map</a:t>
            </a:r>
            <a:endParaRPr dirty="0" sz="1100" lang="en-US"/>
          </a:p>
        </p:txBody>
      </p:sp>
      <p:sp>
        <p:nvSpPr>
          <p:cNvPr id="1048618" name="Shape 22"/>
          <p:cNvSpPr/>
          <p:nvPr/>
        </p:nvSpPr>
        <p:spPr>
          <a:xfrm>
            <a:off x="4709160" y="4133088"/>
            <a:ext cx="4023360" cy="420624"/>
          </a:xfrm>
          <a:prstGeom prst="rect"/>
          <a:solidFill>
            <a:srgbClr val="EF4444"/>
          </a:solidFill>
          <a:ln w="12700">
            <a:solidFill>
              <a:srgbClr val="EF4444"/>
            </a:solidFill>
            <a:prstDash val="solid"/>
          </a:ln>
        </p:spPr>
      </p:sp>
      <p:sp>
        <p:nvSpPr>
          <p:cNvPr id="1048619" name="Text 23"/>
          <p:cNvSpPr/>
          <p:nvPr/>
        </p:nvSpPr>
        <p:spPr>
          <a:xfrm>
            <a:off x="4828032" y="4178808"/>
            <a:ext cx="3840480" cy="329184"/>
          </a:xfrm>
          <a:prstGeom prst="rect"/>
          <a:noFill/>
        </p:spPr>
        <p:txBody>
          <a:bodyPr anchor="ctr" bIns="0" lIns="0" rIns="0" rtlCol="0" tIns="0" wrap="square"/>
          <a:p>
            <a:pPr indent="0" marL="0">
              <a:buNone/>
            </a:pPr>
            <a:r>
              <a:rPr b="1" dirty="0" sz="1000" lang="en-US">
                <a:solidFill>
                  <a:srgbClr val="FFFFFF"/>
                </a:solidFill>
                <a:latin typeface="Calibri" pitchFamily="34" charset="0"/>
                <a:ea typeface="Calibri" pitchFamily="34" charset="-122"/>
                <a:cs typeface="Calibri" pitchFamily="34" charset="-120"/>
              </a:rPr>
              <a:t>Shake-to-SOS hint  ·  Pocket-bump safe: 3-second hold prevents false alarms</a:t>
            </a:r>
            <a:endParaRPr dirty="0" sz="100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24" name=""/>
        <p:cNvGrpSpPr/>
        <p:nvPr/>
      </p:nvGrpSpPr>
      <p:grpSpPr>
        <a:xfrm>
          <a:off x="0" y="0"/>
          <a:ext cx="0" cy="0"/>
          <a:chOff x="0" y="0"/>
          <a:chExt cx="0" cy="0"/>
        </a:xfrm>
      </p:grpSpPr>
      <p:pic>
        <p:nvPicPr>
          <p:cNvPr id="2097155" name="Image 0" descr="/mnt/user-data/uploads/IMG-20260517-WA0000.jpg"/>
          <p:cNvPicPr>
            <a:picLocks noChangeAspect="1"/>
          </p:cNvPicPr>
          <p:nvPr/>
        </p:nvPicPr>
        <p:blipFill>
          <a:blip xmlns:r="http://schemas.openxmlformats.org/officeDocument/2006/relationships" r:embed="rId1"/>
          <a:stretch>
            <a:fillRect/>
          </a:stretch>
        </p:blipFill>
        <p:spPr>
          <a:xfrm>
            <a:off x="7955280" y="91440"/>
            <a:ext cx="1005840" cy="1005840"/>
          </a:xfrm>
          <a:prstGeom prst="rect"/>
        </p:spPr>
      </p:pic>
      <p:sp>
        <p:nvSpPr>
          <p:cNvPr id="1048641" name="Text 0"/>
          <p:cNvSpPr/>
          <p:nvPr/>
        </p:nvSpPr>
        <p:spPr>
          <a:xfrm>
            <a:off x="411480" y="201168"/>
            <a:ext cx="2743200" cy="228600"/>
          </a:xfrm>
          <a:prstGeom prst="rect"/>
          <a:noFill/>
        </p:spPr>
        <p:txBody>
          <a:bodyPr anchor="ctr" bIns="0" lIns="0" rIns="0" rtlCol="0" tIns="0" wrap="square"/>
          <a:p>
            <a:pPr indent="0" marL="0">
              <a:buNone/>
            </a:pPr>
            <a:r>
              <a:rPr dirty="0" sz="900" kern="0" lang="en-US" spc="400">
                <a:solidFill>
                  <a:srgbClr val="94A3B8"/>
                </a:solidFill>
                <a:latin typeface="Calibri" pitchFamily="34" charset="0"/>
                <a:ea typeface="Calibri" pitchFamily="34" charset="-122"/>
                <a:cs typeface="Calibri" pitchFamily="34" charset="-120"/>
              </a:rPr>
              <a:t>LIVE DEMO</a:t>
            </a:r>
            <a:endParaRPr dirty="0" sz="900" lang="en-US"/>
          </a:p>
        </p:txBody>
      </p:sp>
      <p:sp>
        <p:nvSpPr>
          <p:cNvPr id="1048642" name="Text 1"/>
          <p:cNvSpPr/>
          <p:nvPr/>
        </p:nvSpPr>
        <p:spPr>
          <a:xfrm>
            <a:off x="411480" y="438912"/>
            <a:ext cx="7589520" cy="475488"/>
          </a:xfrm>
          <a:prstGeom prst="rect"/>
          <a:noFill/>
        </p:spPr>
        <p:txBody>
          <a:bodyPr anchor="ctr" bIns="0" lIns="0" rIns="0" rtlCol="0" tIns="0" wrap="square"/>
          <a:p>
            <a:pPr indent="0" marL="0">
              <a:buNone/>
            </a:pPr>
            <a:r>
              <a:rPr b="1" dirty="0" sz="2600" lang="en-US">
                <a:solidFill>
                  <a:srgbClr val="0A1E3F"/>
                </a:solidFill>
                <a:latin typeface="Calibri" pitchFamily="34" charset="0"/>
                <a:ea typeface="Calibri" pitchFamily="34" charset="-122"/>
                <a:cs typeface="Calibri" pitchFamily="34" charset="-120"/>
              </a:rPr>
              <a:t>What you will see in the next 90 seconds</a:t>
            </a:r>
            <a:endParaRPr dirty="0" sz="2600" lang="en-US"/>
          </a:p>
        </p:txBody>
      </p:sp>
      <p:sp>
        <p:nvSpPr>
          <p:cNvPr id="1048643" name="Shape 2"/>
          <p:cNvSpPr/>
          <p:nvPr/>
        </p:nvSpPr>
        <p:spPr>
          <a:xfrm>
            <a:off x="411480" y="1078992"/>
            <a:ext cx="1554480" cy="3017520"/>
          </a:xfrm>
          <a:prstGeom prst="rect"/>
          <a:solidFill>
            <a:srgbClr val="0A1E3F"/>
          </a:solidFill>
          <a:ln w="12700">
            <a:solidFill>
              <a:srgbClr val="0A1E3F"/>
            </a:solidFill>
            <a:prstDash val="solid"/>
          </a:ln>
        </p:spPr>
      </p:sp>
      <p:sp>
        <p:nvSpPr>
          <p:cNvPr id="1048644" name="Shape 3"/>
          <p:cNvSpPr/>
          <p:nvPr/>
        </p:nvSpPr>
        <p:spPr>
          <a:xfrm>
            <a:off x="411480" y="1078992"/>
            <a:ext cx="1554480" cy="457200"/>
          </a:xfrm>
          <a:prstGeom prst="rect"/>
          <a:solidFill>
            <a:srgbClr val="2DD4BF"/>
          </a:solidFill>
          <a:ln w="12700">
            <a:solidFill>
              <a:srgbClr val="2DD4BF"/>
            </a:solidFill>
            <a:prstDash val="solid"/>
          </a:ln>
        </p:spPr>
      </p:sp>
      <p:sp>
        <p:nvSpPr>
          <p:cNvPr id="1048645" name="Text 4"/>
          <p:cNvSpPr/>
          <p:nvPr/>
        </p:nvSpPr>
        <p:spPr>
          <a:xfrm>
            <a:off x="457200" y="1115568"/>
            <a:ext cx="457200" cy="384048"/>
          </a:xfrm>
          <a:prstGeom prst="rect"/>
          <a:noFill/>
        </p:spPr>
        <p:txBody>
          <a:bodyPr anchor="ctr" bIns="0" lIns="0" rIns="0" rtlCol="0" tIns="0" wrap="square"/>
          <a:p>
            <a:pPr indent="0" marL="0">
              <a:buNone/>
            </a:pPr>
            <a:r>
              <a:rPr b="1" dirty="0" sz="2200" lang="en-US">
                <a:solidFill>
                  <a:srgbClr val="FFFFFF"/>
                </a:solidFill>
                <a:latin typeface="Calibri" pitchFamily="34" charset="0"/>
                <a:ea typeface="Calibri" pitchFamily="34" charset="-122"/>
                <a:cs typeface="Calibri" pitchFamily="34" charset="-120"/>
              </a:rPr>
              <a:t>1</a:t>
            </a:r>
            <a:endParaRPr dirty="0" sz="2200" lang="en-US"/>
          </a:p>
        </p:txBody>
      </p:sp>
      <p:sp>
        <p:nvSpPr>
          <p:cNvPr id="1048646" name="Text 5"/>
          <p:cNvSpPr/>
          <p:nvPr/>
        </p:nvSpPr>
        <p:spPr>
          <a:xfrm>
            <a:off x="868680" y="1152144"/>
            <a:ext cx="1051560" cy="347472"/>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Onboarding</a:t>
            </a:r>
            <a:endParaRPr dirty="0" sz="1100" lang="en-US"/>
          </a:p>
        </p:txBody>
      </p:sp>
      <p:sp>
        <p:nvSpPr>
          <p:cNvPr id="1048647" name="Text 6"/>
          <p:cNvSpPr/>
          <p:nvPr/>
        </p:nvSpPr>
        <p:spPr>
          <a:xfrm>
            <a:off x="502920" y="1664208"/>
            <a:ext cx="1371600" cy="2286000"/>
          </a:xfrm>
          <a:prstGeom prst="rect"/>
          <a:noFill/>
        </p:spPr>
        <p:txBody>
          <a:bodyPr anchor="ctr" bIns="0" lIns="0" rIns="0" rtlCol="0" tIns="0" wrap="square"/>
          <a:p>
            <a:pPr indent="0" marL="0">
              <a:buNone/>
            </a:pPr>
            <a:r>
              <a:rPr dirty="0" sz="1250" lang="en-US">
                <a:solidFill>
                  <a:srgbClr val="A0B8D0"/>
                </a:solidFill>
                <a:latin typeface="Calibri" pitchFamily="34" charset="0"/>
                <a:ea typeface="Calibri" pitchFamily="34" charset="-122"/>
                <a:cs typeface="Calibri" pitchFamily="34" charset="-120"/>
              </a:rPr>
              <a:t>OTP screen</a:t>
            </a:r>
            <a:endParaRPr dirty="0" sz="1250" lang="en-US"/>
          </a:p>
          <a:p>
            <a:pPr indent="0" marL="0">
              <a:buNone/>
            </a:pPr>
            <a:r>
              <a:rPr dirty="0" sz="1250" lang="en-US">
                <a:solidFill>
                  <a:srgbClr val="A0B8D0"/>
                </a:solidFill>
                <a:latin typeface="Calibri" pitchFamily="34" charset="0"/>
                <a:ea typeface="Calibri" pitchFamily="34" charset="-122"/>
                <a:cs typeface="Calibri" pitchFamily="34" charset="-120"/>
              </a:rPr>
              <a:t>Demo code:</a:t>
            </a:r>
            <a:endParaRPr dirty="0" sz="1250" lang="en-US"/>
          </a:p>
          <a:p>
            <a:pPr indent="0" marL="0">
              <a:buNone/>
            </a:pPr>
            <a:r>
              <a:rPr dirty="0" sz="1250" lang="en-US">
                <a:solidFill>
                  <a:srgbClr val="A0B8D0"/>
                </a:solidFill>
                <a:latin typeface="Calibri" pitchFamily="34" charset="0"/>
                <a:ea typeface="Calibri" pitchFamily="34" charset="-122"/>
                <a:cs typeface="Calibri" pitchFamily="34" charset="-120"/>
              </a:rPr>
              <a:t>8484</a:t>
            </a:r>
            <a:endParaRPr dirty="0" sz="1250" lang="en-US"/>
          </a:p>
        </p:txBody>
      </p:sp>
      <p:sp>
        <p:nvSpPr>
          <p:cNvPr id="1048648" name="Shape 7"/>
          <p:cNvSpPr/>
          <p:nvPr/>
        </p:nvSpPr>
        <p:spPr>
          <a:xfrm>
            <a:off x="2112264" y="1078992"/>
            <a:ext cx="1554480" cy="3017520"/>
          </a:xfrm>
          <a:prstGeom prst="rect"/>
          <a:solidFill>
            <a:srgbClr val="0A1E3F"/>
          </a:solidFill>
          <a:ln w="12700">
            <a:solidFill>
              <a:srgbClr val="0A1E3F"/>
            </a:solidFill>
            <a:prstDash val="solid"/>
          </a:ln>
        </p:spPr>
      </p:sp>
      <p:sp>
        <p:nvSpPr>
          <p:cNvPr id="1048649" name="Shape 8"/>
          <p:cNvSpPr/>
          <p:nvPr/>
        </p:nvSpPr>
        <p:spPr>
          <a:xfrm>
            <a:off x="2112264" y="1078992"/>
            <a:ext cx="1554480" cy="457200"/>
          </a:xfrm>
          <a:prstGeom prst="rect"/>
          <a:solidFill>
            <a:srgbClr val="10B981"/>
          </a:solidFill>
          <a:ln w="12700">
            <a:solidFill>
              <a:srgbClr val="10B981"/>
            </a:solidFill>
            <a:prstDash val="solid"/>
          </a:ln>
        </p:spPr>
      </p:sp>
      <p:sp>
        <p:nvSpPr>
          <p:cNvPr id="1048650" name="Text 9"/>
          <p:cNvSpPr/>
          <p:nvPr/>
        </p:nvSpPr>
        <p:spPr>
          <a:xfrm>
            <a:off x="2157984" y="1115568"/>
            <a:ext cx="457200" cy="384048"/>
          </a:xfrm>
          <a:prstGeom prst="rect"/>
          <a:noFill/>
        </p:spPr>
        <p:txBody>
          <a:bodyPr anchor="ctr" bIns="0" lIns="0" rIns="0" rtlCol="0" tIns="0" wrap="square"/>
          <a:p>
            <a:pPr indent="0" marL="0">
              <a:buNone/>
            </a:pPr>
            <a:r>
              <a:rPr b="1" dirty="0" sz="2200" lang="en-US">
                <a:solidFill>
                  <a:srgbClr val="FFFFFF"/>
                </a:solidFill>
                <a:latin typeface="Calibri" pitchFamily="34" charset="0"/>
                <a:ea typeface="Calibri" pitchFamily="34" charset="-122"/>
                <a:cs typeface="Calibri" pitchFamily="34" charset="-120"/>
              </a:rPr>
              <a:t>2</a:t>
            </a:r>
            <a:endParaRPr dirty="0" sz="2200" lang="en-US"/>
          </a:p>
        </p:txBody>
      </p:sp>
      <p:sp>
        <p:nvSpPr>
          <p:cNvPr id="1048651" name="Text 10"/>
          <p:cNvSpPr/>
          <p:nvPr/>
        </p:nvSpPr>
        <p:spPr>
          <a:xfrm>
            <a:off x="2569464" y="1152144"/>
            <a:ext cx="1051560" cy="347472"/>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Safe Arrival</a:t>
            </a:r>
            <a:endParaRPr dirty="0" sz="1100" lang="en-US"/>
          </a:p>
        </p:txBody>
      </p:sp>
      <p:sp>
        <p:nvSpPr>
          <p:cNvPr id="1048652" name="Text 11"/>
          <p:cNvSpPr/>
          <p:nvPr/>
        </p:nvSpPr>
        <p:spPr>
          <a:xfrm>
            <a:off x="2203704" y="1664208"/>
            <a:ext cx="1371600" cy="2286000"/>
          </a:xfrm>
          <a:prstGeom prst="rect"/>
          <a:noFill/>
        </p:spPr>
        <p:txBody>
          <a:bodyPr anchor="ctr" bIns="0" lIns="0" rIns="0" rtlCol="0" tIns="0" wrap="square"/>
          <a:p>
            <a:pPr indent="0" marL="0">
              <a:buNone/>
            </a:pPr>
            <a:r>
              <a:rPr dirty="0" sz="1250" lang="en-US">
                <a:solidFill>
                  <a:srgbClr val="A0B8D0"/>
                </a:solidFill>
                <a:latin typeface="Calibri" pitchFamily="34" charset="0"/>
                <a:ea typeface="Calibri" pitchFamily="34" charset="-122"/>
                <a:cs typeface="Calibri" pitchFamily="34" charset="-120"/>
              </a:rPr>
              <a:t>Set destination</a:t>
            </a:r>
            <a:endParaRPr dirty="0" sz="1250" lang="en-US"/>
          </a:p>
          <a:p>
            <a:pPr indent="0" marL="0">
              <a:buNone/>
            </a:pPr>
            <a:r>
              <a:rPr dirty="0" sz="1250" lang="en-US">
                <a:solidFill>
                  <a:srgbClr val="A0B8D0"/>
                </a:solidFill>
                <a:latin typeface="Calibri" pitchFamily="34" charset="0"/>
                <a:ea typeface="Calibri" pitchFamily="34" charset="-122"/>
                <a:cs typeface="Calibri" pitchFamily="34" charset="-120"/>
              </a:rPr>
              <a:t>+ ETA</a:t>
            </a:r>
            <a:endParaRPr dirty="0" sz="1250" lang="en-US"/>
          </a:p>
          <a:p>
            <a:pPr indent="0" marL="0">
              <a:buNone/>
            </a:pPr>
            <a:r>
              <a:rPr dirty="0" sz="1250" lang="en-US">
                <a:solidFill>
                  <a:srgbClr val="A0B8D0"/>
                </a:solidFill>
                <a:latin typeface="Calibri" pitchFamily="34" charset="0"/>
                <a:ea typeface="Calibri" pitchFamily="34" charset="-122"/>
                <a:cs typeface="Calibri" pitchFamily="34" charset="-120"/>
              </a:rPr>
              <a:t>Share contacts</a:t>
            </a:r>
            <a:endParaRPr dirty="0" sz="1250" lang="en-US"/>
          </a:p>
        </p:txBody>
      </p:sp>
      <p:sp>
        <p:nvSpPr>
          <p:cNvPr id="1048653" name="Shape 12"/>
          <p:cNvSpPr/>
          <p:nvPr/>
        </p:nvSpPr>
        <p:spPr>
          <a:xfrm>
            <a:off x="3813048" y="1078992"/>
            <a:ext cx="1554480" cy="3017520"/>
          </a:xfrm>
          <a:prstGeom prst="rect"/>
          <a:solidFill>
            <a:srgbClr val="0A1E3F"/>
          </a:solidFill>
          <a:ln w="12700">
            <a:solidFill>
              <a:srgbClr val="0A1E3F"/>
            </a:solidFill>
            <a:prstDash val="solid"/>
          </a:ln>
        </p:spPr>
      </p:sp>
      <p:sp>
        <p:nvSpPr>
          <p:cNvPr id="1048654" name="Shape 13"/>
          <p:cNvSpPr/>
          <p:nvPr/>
        </p:nvSpPr>
        <p:spPr>
          <a:xfrm>
            <a:off x="3813048" y="1078992"/>
            <a:ext cx="1554480" cy="457200"/>
          </a:xfrm>
          <a:prstGeom prst="rect"/>
          <a:solidFill>
            <a:srgbClr val="3B82F6"/>
          </a:solidFill>
          <a:ln w="12700">
            <a:solidFill>
              <a:srgbClr val="3B82F6"/>
            </a:solidFill>
            <a:prstDash val="solid"/>
          </a:ln>
        </p:spPr>
      </p:sp>
      <p:sp>
        <p:nvSpPr>
          <p:cNvPr id="1048655" name="Text 14"/>
          <p:cNvSpPr/>
          <p:nvPr/>
        </p:nvSpPr>
        <p:spPr>
          <a:xfrm>
            <a:off x="3858768" y="1115568"/>
            <a:ext cx="457200" cy="384048"/>
          </a:xfrm>
          <a:prstGeom prst="rect"/>
          <a:noFill/>
        </p:spPr>
        <p:txBody>
          <a:bodyPr anchor="ctr" bIns="0" lIns="0" rIns="0" rtlCol="0" tIns="0" wrap="square"/>
          <a:p>
            <a:pPr indent="0" marL="0">
              <a:buNone/>
            </a:pPr>
            <a:r>
              <a:rPr b="1" dirty="0" sz="2200" lang="en-US">
                <a:solidFill>
                  <a:srgbClr val="FFFFFF"/>
                </a:solidFill>
                <a:latin typeface="Calibri" pitchFamily="34" charset="0"/>
                <a:ea typeface="Calibri" pitchFamily="34" charset="-122"/>
                <a:cs typeface="Calibri" pitchFamily="34" charset="-120"/>
              </a:rPr>
              <a:t>3</a:t>
            </a:r>
            <a:endParaRPr dirty="0" sz="2200" lang="en-US"/>
          </a:p>
        </p:txBody>
      </p:sp>
      <p:sp>
        <p:nvSpPr>
          <p:cNvPr id="1048656" name="Text 15"/>
          <p:cNvSpPr/>
          <p:nvPr/>
        </p:nvSpPr>
        <p:spPr>
          <a:xfrm>
            <a:off x="4270248" y="1152144"/>
            <a:ext cx="1051560" cy="347472"/>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Live Tracking</a:t>
            </a:r>
            <a:endParaRPr dirty="0" sz="1100" lang="en-US"/>
          </a:p>
        </p:txBody>
      </p:sp>
      <p:sp>
        <p:nvSpPr>
          <p:cNvPr id="1048657" name="Text 16"/>
          <p:cNvSpPr/>
          <p:nvPr/>
        </p:nvSpPr>
        <p:spPr>
          <a:xfrm>
            <a:off x="3904488" y="1664208"/>
            <a:ext cx="1371600" cy="2286000"/>
          </a:xfrm>
          <a:prstGeom prst="rect"/>
          <a:noFill/>
        </p:spPr>
        <p:txBody>
          <a:bodyPr anchor="ctr" bIns="0" lIns="0" rIns="0" rtlCol="0" tIns="0" wrap="square"/>
          <a:p>
            <a:pPr indent="0" marL="0">
              <a:buNone/>
            </a:pPr>
            <a:r>
              <a:rPr dirty="0" sz="1250" lang="en-US">
                <a:solidFill>
                  <a:srgbClr val="A0B8D0"/>
                </a:solidFill>
                <a:latin typeface="Calibri" pitchFamily="34" charset="0"/>
                <a:ea typeface="Calibri" pitchFamily="34" charset="-122"/>
                <a:cs typeface="Calibri" pitchFamily="34" charset="-120"/>
              </a:rPr>
              <a:t>OSM map</a:t>
            </a:r>
            <a:endParaRPr dirty="0" sz="1250" lang="en-US"/>
          </a:p>
          <a:p>
            <a:pPr indent="0" marL="0">
              <a:buNone/>
            </a:pPr>
            <a:r>
              <a:rPr dirty="0" sz="1250" lang="en-US">
                <a:solidFill>
                  <a:srgbClr val="A0B8D0"/>
                </a:solidFill>
                <a:latin typeface="Calibri" pitchFamily="34" charset="0"/>
                <a:ea typeface="Calibri" pitchFamily="34" charset="-122"/>
                <a:cs typeface="Calibri" pitchFamily="34" charset="-120"/>
              </a:rPr>
              <a:t>Countdown</a:t>
            </a:r>
            <a:endParaRPr dirty="0" sz="1250" lang="en-US"/>
          </a:p>
          <a:p>
            <a:pPr indent="0" marL="0">
              <a:buNone/>
            </a:pPr>
            <a:r>
              <a:rPr dirty="0" sz="1250" lang="en-US">
                <a:solidFill>
                  <a:srgbClr val="A0B8D0"/>
                </a:solidFill>
                <a:latin typeface="Calibri" pitchFamily="34" charset="0"/>
                <a:ea typeface="Calibri" pitchFamily="34" charset="-122"/>
                <a:cs typeface="Calibri" pitchFamily="34" charset="-120"/>
              </a:rPr>
              <a:t>timer</a:t>
            </a:r>
            <a:endParaRPr dirty="0" sz="1250" lang="en-US"/>
          </a:p>
        </p:txBody>
      </p:sp>
      <p:sp>
        <p:nvSpPr>
          <p:cNvPr id="1048658" name="Shape 17"/>
          <p:cNvSpPr/>
          <p:nvPr/>
        </p:nvSpPr>
        <p:spPr>
          <a:xfrm>
            <a:off x="5513832" y="1078992"/>
            <a:ext cx="1554480" cy="3017520"/>
          </a:xfrm>
          <a:prstGeom prst="rect"/>
          <a:solidFill>
            <a:srgbClr val="0A1E3F"/>
          </a:solidFill>
          <a:ln w="12700">
            <a:solidFill>
              <a:srgbClr val="0A1E3F"/>
            </a:solidFill>
            <a:prstDash val="solid"/>
          </a:ln>
        </p:spPr>
      </p:sp>
      <p:sp>
        <p:nvSpPr>
          <p:cNvPr id="1048659" name="Shape 18"/>
          <p:cNvSpPr/>
          <p:nvPr/>
        </p:nvSpPr>
        <p:spPr>
          <a:xfrm>
            <a:off x="5513832" y="1078992"/>
            <a:ext cx="1554480" cy="457200"/>
          </a:xfrm>
          <a:prstGeom prst="rect"/>
          <a:solidFill>
            <a:srgbClr val="EF4444"/>
          </a:solidFill>
          <a:ln w="12700">
            <a:solidFill>
              <a:srgbClr val="EF4444"/>
            </a:solidFill>
            <a:prstDash val="solid"/>
          </a:ln>
        </p:spPr>
      </p:sp>
      <p:sp>
        <p:nvSpPr>
          <p:cNvPr id="1048660" name="Text 19"/>
          <p:cNvSpPr/>
          <p:nvPr/>
        </p:nvSpPr>
        <p:spPr>
          <a:xfrm>
            <a:off x="5559552" y="1115568"/>
            <a:ext cx="457200" cy="384048"/>
          </a:xfrm>
          <a:prstGeom prst="rect"/>
          <a:noFill/>
        </p:spPr>
        <p:txBody>
          <a:bodyPr anchor="ctr" bIns="0" lIns="0" rIns="0" rtlCol="0" tIns="0" wrap="square"/>
          <a:p>
            <a:pPr indent="0" marL="0">
              <a:buNone/>
            </a:pPr>
            <a:r>
              <a:rPr b="1" dirty="0" sz="2200" lang="en-US">
                <a:solidFill>
                  <a:srgbClr val="FFFFFF"/>
                </a:solidFill>
                <a:latin typeface="Calibri" pitchFamily="34" charset="0"/>
                <a:ea typeface="Calibri" pitchFamily="34" charset="-122"/>
                <a:cs typeface="Calibri" pitchFamily="34" charset="-120"/>
              </a:rPr>
              <a:t>4</a:t>
            </a:r>
            <a:endParaRPr dirty="0" sz="2200" lang="en-US"/>
          </a:p>
        </p:txBody>
      </p:sp>
      <p:sp>
        <p:nvSpPr>
          <p:cNvPr id="1048661" name="Text 20"/>
          <p:cNvSpPr/>
          <p:nvPr/>
        </p:nvSpPr>
        <p:spPr>
          <a:xfrm>
            <a:off x="5971032" y="1152144"/>
            <a:ext cx="1051560" cy="347472"/>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SOS Flow</a:t>
            </a:r>
            <a:endParaRPr dirty="0" sz="1100" lang="en-US"/>
          </a:p>
        </p:txBody>
      </p:sp>
      <p:sp>
        <p:nvSpPr>
          <p:cNvPr id="1048662" name="Text 21"/>
          <p:cNvSpPr/>
          <p:nvPr/>
        </p:nvSpPr>
        <p:spPr>
          <a:xfrm>
            <a:off x="5605272" y="1664208"/>
            <a:ext cx="1371600" cy="2286000"/>
          </a:xfrm>
          <a:prstGeom prst="rect"/>
          <a:noFill/>
        </p:spPr>
        <p:txBody>
          <a:bodyPr anchor="ctr" bIns="0" lIns="0" rIns="0" rtlCol="0" tIns="0" wrap="square"/>
          <a:p>
            <a:pPr indent="0" marL="0">
              <a:buNone/>
            </a:pPr>
            <a:r>
              <a:rPr dirty="0" sz="1250" lang="en-US">
                <a:solidFill>
                  <a:srgbClr val="A0B8D0"/>
                </a:solidFill>
                <a:latin typeface="Calibri" pitchFamily="34" charset="0"/>
                <a:ea typeface="Calibri" pitchFamily="34" charset="-122"/>
                <a:cs typeface="Calibri" pitchFamily="34" charset="-120"/>
              </a:rPr>
              <a:t>3-sec hold</a:t>
            </a:r>
            <a:endParaRPr dirty="0" sz="1250" lang="en-US"/>
          </a:p>
          <a:p>
            <a:pPr indent="0" marL="0">
              <a:buNone/>
            </a:pPr>
            <a:r>
              <a:rPr dirty="0" sz="1250" lang="en-US">
                <a:solidFill>
                  <a:srgbClr val="A0B8D0"/>
                </a:solidFill>
                <a:latin typeface="Calibri" pitchFamily="34" charset="0"/>
                <a:ea typeface="Calibri" pitchFamily="34" charset="-122"/>
                <a:cs typeface="Calibri" pitchFamily="34" charset="-120"/>
              </a:rPr>
              <a:t>2:45 timer</a:t>
            </a:r>
            <a:endParaRPr dirty="0" sz="1250" lang="en-US"/>
          </a:p>
          <a:p>
            <a:pPr indent="0" marL="0">
              <a:buNone/>
            </a:pPr>
            <a:r>
              <a:rPr dirty="0" sz="1250" lang="en-US">
                <a:solidFill>
                  <a:srgbClr val="A0B8D0"/>
                </a:solidFill>
                <a:latin typeface="Calibri" pitchFamily="34" charset="0"/>
                <a:ea typeface="Calibri" pitchFamily="34" charset="-122"/>
                <a:cs typeface="Calibri" pitchFamily="34" charset="-120"/>
              </a:rPr>
              <a:t>Cancel override</a:t>
            </a:r>
            <a:endParaRPr dirty="0" sz="1250" lang="en-US"/>
          </a:p>
        </p:txBody>
      </p:sp>
      <p:sp>
        <p:nvSpPr>
          <p:cNvPr id="1048663" name="Shape 22"/>
          <p:cNvSpPr/>
          <p:nvPr/>
        </p:nvSpPr>
        <p:spPr>
          <a:xfrm>
            <a:off x="7214616" y="1078992"/>
            <a:ext cx="1554480" cy="3017520"/>
          </a:xfrm>
          <a:prstGeom prst="rect"/>
          <a:solidFill>
            <a:srgbClr val="0A1E3F"/>
          </a:solidFill>
          <a:ln w="12700">
            <a:solidFill>
              <a:srgbClr val="0A1E3F"/>
            </a:solidFill>
            <a:prstDash val="solid"/>
          </a:ln>
        </p:spPr>
      </p:sp>
      <p:sp>
        <p:nvSpPr>
          <p:cNvPr id="1048664" name="Shape 23"/>
          <p:cNvSpPr/>
          <p:nvPr/>
        </p:nvSpPr>
        <p:spPr>
          <a:xfrm>
            <a:off x="7214616" y="1078992"/>
            <a:ext cx="1554480" cy="457200"/>
          </a:xfrm>
          <a:prstGeom prst="rect"/>
          <a:solidFill>
            <a:srgbClr val="F59E0B"/>
          </a:solidFill>
          <a:ln w="12700">
            <a:solidFill>
              <a:srgbClr val="F59E0B"/>
            </a:solidFill>
            <a:prstDash val="solid"/>
          </a:ln>
        </p:spPr>
      </p:sp>
      <p:sp>
        <p:nvSpPr>
          <p:cNvPr id="1048665" name="Text 24"/>
          <p:cNvSpPr/>
          <p:nvPr/>
        </p:nvSpPr>
        <p:spPr>
          <a:xfrm>
            <a:off x="7260336" y="1115568"/>
            <a:ext cx="457200" cy="384048"/>
          </a:xfrm>
          <a:prstGeom prst="rect"/>
          <a:noFill/>
        </p:spPr>
        <p:txBody>
          <a:bodyPr anchor="ctr" bIns="0" lIns="0" rIns="0" rtlCol="0" tIns="0" wrap="square"/>
          <a:p>
            <a:pPr indent="0" marL="0">
              <a:buNone/>
            </a:pPr>
            <a:r>
              <a:rPr b="1" dirty="0" sz="2200" lang="en-US">
                <a:solidFill>
                  <a:srgbClr val="FFFFFF"/>
                </a:solidFill>
                <a:latin typeface="Calibri" pitchFamily="34" charset="0"/>
                <a:ea typeface="Calibri" pitchFamily="34" charset="-122"/>
                <a:cs typeface="Calibri" pitchFamily="34" charset="-120"/>
              </a:rPr>
              <a:t>5</a:t>
            </a:r>
            <a:endParaRPr dirty="0" sz="2200" lang="en-US"/>
          </a:p>
        </p:txBody>
      </p:sp>
      <p:sp>
        <p:nvSpPr>
          <p:cNvPr id="1048666" name="Text 25"/>
          <p:cNvSpPr/>
          <p:nvPr/>
        </p:nvSpPr>
        <p:spPr>
          <a:xfrm>
            <a:off x="7671816" y="1152144"/>
            <a:ext cx="1051560" cy="347472"/>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Failure Paths</a:t>
            </a:r>
            <a:endParaRPr dirty="0" sz="1100" lang="en-US"/>
          </a:p>
        </p:txBody>
      </p:sp>
      <p:sp>
        <p:nvSpPr>
          <p:cNvPr id="1048667" name="Text 26"/>
          <p:cNvSpPr/>
          <p:nvPr/>
        </p:nvSpPr>
        <p:spPr>
          <a:xfrm>
            <a:off x="7306056" y="1664208"/>
            <a:ext cx="1371600" cy="2286000"/>
          </a:xfrm>
          <a:prstGeom prst="rect"/>
          <a:noFill/>
        </p:spPr>
        <p:txBody>
          <a:bodyPr anchor="ctr" bIns="0" lIns="0" rIns="0" rtlCol="0" tIns="0" wrap="square"/>
          <a:p>
            <a:pPr indent="0" marL="0">
              <a:buNone/>
            </a:pPr>
            <a:r>
              <a:rPr dirty="0" sz="1250" lang="en-US">
                <a:solidFill>
                  <a:srgbClr val="A0B8D0"/>
                </a:solidFill>
                <a:latin typeface="Calibri" pitchFamily="34" charset="0"/>
                <a:ea typeface="Calibri" pitchFamily="34" charset="-122"/>
                <a:cs typeface="Calibri" pitchFamily="34" charset="-120"/>
              </a:rPr>
              <a:t>Wrong OTP</a:t>
            </a:r>
            <a:endParaRPr dirty="0" sz="1250" lang="en-US"/>
          </a:p>
          <a:p>
            <a:pPr indent="0" marL="0">
              <a:buNone/>
            </a:pPr>
            <a:r>
              <a:rPr dirty="0" sz="1250" lang="en-US">
                <a:solidFill>
                  <a:srgbClr val="A0B8D0"/>
                </a:solidFill>
                <a:latin typeface="Calibri" pitchFamily="34" charset="0"/>
                <a:ea typeface="Calibri" pitchFamily="34" charset="-122"/>
                <a:cs typeface="Calibri" pitchFamily="34" charset="-120"/>
              </a:rPr>
              <a:t>GPS denied</a:t>
            </a:r>
            <a:endParaRPr dirty="0" sz="1250" lang="en-US"/>
          </a:p>
          <a:p>
            <a:pPr indent="0" marL="0">
              <a:buNone/>
            </a:pPr>
            <a:r>
              <a:rPr dirty="0" sz="1250" lang="en-US">
                <a:solidFill>
                  <a:srgbClr val="A0B8D0"/>
                </a:solidFill>
                <a:latin typeface="Calibri" pitchFamily="34" charset="0"/>
                <a:ea typeface="Calibri" pitchFamily="34" charset="-122"/>
                <a:cs typeface="Calibri" pitchFamily="34" charset="-120"/>
              </a:rPr>
              <a:t>ETA overdue</a:t>
            </a:r>
            <a:endParaRPr dirty="0" sz="1250" lang="en-US"/>
          </a:p>
        </p:txBody>
      </p:sp>
      <p:sp>
        <p:nvSpPr>
          <p:cNvPr id="1048668" name="Shape 27"/>
          <p:cNvSpPr/>
          <p:nvPr/>
        </p:nvSpPr>
        <p:spPr>
          <a:xfrm>
            <a:off x="411480" y="4224528"/>
            <a:ext cx="8321040" cy="475488"/>
          </a:xfrm>
          <a:prstGeom prst="rect"/>
          <a:solidFill>
            <a:srgbClr val="0A1E3F"/>
          </a:solidFill>
          <a:ln w="12700">
            <a:solidFill>
              <a:srgbClr val="0A1E3F"/>
            </a:solidFill>
            <a:prstDash val="solid"/>
          </a:ln>
        </p:spPr>
      </p:sp>
      <p:sp>
        <p:nvSpPr>
          <p:cNvPr id="1048669" name="Text 28"/>
          <p:cNvSpPr/>
          <p:nvPr/>
        </p:nvSpPr>
        <p:spPr>
          <a:xfrm>
            <a:off x="594360" y="4270248"/>
            <a:ext cx="1097280" cy="384048"/>
          </a:xfrm>
          <a:prstGeom prst="rect"/>
          <a:noFill/>
        </p:spPr>
        <p:txBody>
          <a:bodyPr anchor="ctr" bIns="0" lIns="0" rIns="0" rtlCol="0" tIns="0" wrap="square"/>
          <a:p>
            <a:pPr indent="0" marL="0">
              <a:buNone/>
            </a:pPr>
            <a:r>
              <a:rPr b="1" dirty="0" sz="1100" lang="en-US">
                <a:solidFill>
                  <a:srgbClr val="2DD4BF"/>
                </a:solidFill>
                <a:latin typeface="Calibri" pitchFamily="34" charset="0"/>
                <a:ea typeface="Calibri" pitchFamily="34" charset="-122"/>
                <a:cs typeface="Calibri" pitchFamily="34" charset="-120"/>
              </a:rPr>
              <a:t>Demo URL:</a:t>
            </a:r>
            <a:endParaRPr dirty="0" sz="1100" lang="en-US"/>
          </a:p>
        </p:txBody>
      </p:sp>
      <p:sp>
        <p:nvSpPr>
          <p:cNvPr id="1048670" name="Text 29"/>
          <p:cNvSpPr/>
          <p:nvPr/>
        </p:nvSpPr>
        <p:spPr>
          <a:xfrm>
            <a:off x="1645920" y="4270248"/>
            <a:ext cx="6858000" cy="384048"/>
          </a:xfrm>
          <a:prstGeom prst="rect"/>
          <a:noFill/>
        </p:spPr>
        <p:txBody>
          <a:bodyPr anchor="ctr" bIns="0" lIns="0" rIns="0" rtlCol="0" tIns="0" wrap="square"/>
          <a:p>
            <a:pPr indent="0" marL="0">
              <a:buNone/>
            </a:pPr>
            <a:r>
              <a:rPr dirty="0" sz="1100" lang="en-US">
                <a:solidFill>
                  <a:srgbClr val="FFFFFF"/>
                </a:solidFill>
                <a:latin typeface="Calibri" pitchFamily="34" charset="0"/>
                <a:ea typeface="Calibri" pitchFamily="34" charset="-122"/>
                <a:cs typeface="Calibri" pitchFamily="34" charset="-120"/>
                <a:hlinkClick r:id="rId2"/>
              </a:rPr>
              <a:t>h</a:t>
            </a:r>
            <a:r>
              <a:rPr dirty="0" sz="1100" lang="en-US">
                <a:solidFill>
                  <a:srgbClr val="FFFFFF"/>
                </a:solidFill>
                <a:latin typeface="Calibri" pitchFamily="34" charset="0"/>
                <a:ea typeface="Calibri" pitchFamily="34" charset="-122"/>
                <a:cs typeface="Calibri" pitchFamily="34" charset="-120"/>
                <a:hlinkClick r:id="rId2"/>
              </a:rPr>
              <a:t>t</a:t>
            </a:r>
            <a:r>
              <a:rPr dirty="0" sz="1100" lang="en-US">
                <a:solidFill>
                  <a:srgbClr val="FFFFFF"/>
                </a:solidFill>
                <a:latin typeface="Calibri" pitchFamily="34" charset="0"/>
                <a:ea typeface="Calibri" pitchFamily="34" charset="-122"/>
                <a:cs typeface="Calibri" pitchFamily="34" charset="-120"/>
                <a:hlinkClick r:id="rId2"/>
              </a:rPr>
              <a:t>t</a:t>
            </a:r>
            <a:r>
              <a:rPr dirty="0" sz="1100" lang="en-US">
                <a:solidFill>
                  <a:srgbClr val="FFFFFF"/>
                </a:solidFill>
                <a:latin typeface="Calibri" pitchFamily="34" charset="0"/>
                <a:ea typeface="Calibri" pitchFamily="34" charset="-122"/>
                <a:cs typeface="Calibri" pitchFamily="34" charset="-120"/>
                <a:hlinkClick r:id="rId2"/>
              </a:rPr>
              <a:t>p</a:t>
            </a:r>
            <a:r>
              <a:rPr dirty="0" sz="1100" lang="en-US">
                <a:solidFill>
                  <a:srgbClr val="FFFFFF"/>
                </a:solidFill>
                <a:latin typeface="Calibri" pitchFamily="34" charset="0"/>
                <a:ea typeface="Calibri" pitchFamily="34" charset="-122"/>
                <a:cs typeface="Calibri" pitchFamily="34" charset="-120"/>
                <a:hlinkClick r:id="rId2"/>
              </a:rPr>
              <a:t>:</a:t>
            </a:r>
            <a:r>
              <a:rPr dirty="0" sz="1100" lang="en-US">
                <a:solidFill>
                  <a:srgbClr val="FFFFFF"/>
                </a:solidFill>
                <a:latin typeface="Calibri" pitchFamily="34" charset="0"/>
                <a:ea typeface="Calibri" pitchFamily="34" charset="-122"/>
                <a:cs typeface="Calibri" pitchFamily="34" charset="-120"/>
                <a:hlinkClick r:id="rId2"/>
              </a:rPr>
              <a:t>/</a:t>
            </a:r>
            <a:r>
              <a:rPr dirty="0" sz="1100" lang="en-US">
                <a:solidFill>
                  <a:srgbClr val="FFFFFF"/>
                </a:solidFill>
                <a:latin typeface="Calibri" pitchFamily="34" charset="0"/>
                <a:ea typeface="Calibri" pitchFamily="34" charset="-122"/>
                <a:cs typeface="Calibri" pitchFamily="34" charset="-120"/>
                <a:hlinkClick r:id="rId2"/>
              </a:rPr>
              <a:t>/</a:t>
            </a:r>
            <a:r>
              <a:rPr dirty="0" sz="1100" lang="en-US">
                <a:solidFill>
                  <a:srgbClr val="FFFFFF"/>
                </a:solidFill>
                <a:latin typeface="Calibri" pitchFamily="34" charset="0"/>
                <a:ea typeface="Calibri" pitchFamily="34" charset="-122"/>
                <a:cs typeface="Calibri" pitchFamily="34" charset="-120"/>
                <a:hlinkClick r:id="rId2"/>
              </a:rPr>
              <a:t>tsa-phoenix-safetytech-39.github.io/lifeline/lifelineapp</a:t>
            </a:r>
            <a:r>
              <a:rPr dirty="0" sz="1100" lang="en-US">
                <a:solidFill>
                  <a:srgbClr val="FFFFFF"/>
                </a:solidFill>
                <a:latin typeface="Calibri" pitchFamily="34" charset="0"/>
                <a:ea typeface="Calibri" pitchFamily="34" charset="-122"/>
                <a:cs typeface="Calibri" pitchFamily="34" charset="-120"/>
              </a:rPr>
              <a:t> </a:t>
            </a:r>
            <a:r>
              <a:rPr dirty="0" sz="1100" lang="en-US">
                <a:solidFill>
                  <a:srgbClr val="FFFFFF"/>
                </a:solidFill>
                <a:latin typeface="Calibri" pitchFamily="34" charset="0"/>
                <a:ea typeface="Calibri" pitchFamily="34" charset="-122"/>
                <a:cs typeface="Calibri" pitchFamily="34" charset="-120"/>
              </a:rPr>
              <a:t> ·  Works on any phone  ·  Nigerian 3G tested  ·  No install required</a:t>
            </a:r>
            <a:endParaRPr dirty="0" sz="110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30" name=""/>
        <p:cNvGrpSpPr/>
        <p:nvPr/>
      </p:nvGrpSpPr>
      <p:grpSpPr>
        <a:xfrm>
          <a:off x="0" y="0"/>
          <a:ext cx="0" cy="0"/>
          <a:chOff x="0" y="0"/>
          <a:chExt cx="0" cy="0"/>
        </a:xfrm>
      </p:grpSpPr>
      <p:pic>
        <p:nvPicPr>
          <p:cNvPr id="2097157" name="Image 0" descr="/mnt/user-data/uploads/IMG-20260517-WA0000.jpg"/>
          <p:cNvPicPr>
            <a:picLocks noChangeAspect="1"/>
          </p:cNvPicPr>
          <p:nvPr/>
        </p:nvPicPr>
        <p:blipFill>
          <a:blip xmlns:r="http://schemas.openxmlformats.org/officeDocument/2006/relationships" r:embed="rId1"/>
          <a:stretch>
            <a:fillRect/>
          </a:stretch>
        </p:blipFill>
        <p:spPr>
          <a:xfrm>
            <a:off x="7955280" y="91440"/>
            <a:ext cx="1005840" cy="1005840"/>
          </a:xfrm>
          <a:prstGeom prst="rect"/>
        </p:spPr>
      </p:pic>
      <p:sp>
        <p:nvSpPr>
          <p:cNvPr id="1048695" name="Text 0"/>
          <p:cNvSpPr/>
          <p:nvPr/>
        </p:nvSpPr>
        <p:spPr>
          <a:xfrm>
            <a:off x="411480" y="201168"/>
            <a:ext cx="4572000" cy="228600"/>
          </a:xfrm>
          <a:prstGeom prst="rect"/>
          <a:noFill/>
        </p:spPr>
        <p:txBody>
          <a:bodyPr anchor="ctr" bIns="0" lIns="0" rIns="0" rtlCol="0" tIns="0" wrap="square"/>
          <a:p>
            <a:pPr indent="0" marL="0">
              <a:buNone/>
            </a:pPr>
            <a:r>
              <a:rPr dirty="0" sz="900" kern="0" lang="en-US" spc="400">
                <a:solidFill>
                  <a:srgbClr val="94A3B8"/>
                </a:solidFill>
                <a:latin typeface="Calibri" pitchFamily="34" charset="0"/>
                <a:ea typeface="Calibri" pitchFamily="34" charset="-122"/>
                <a:cs typeface="Calibri" pitchFamily="34" charset="-120"/>
              </a:rPr>
              <a:t>ARCHITECTURE &amp; TECH</a:t>
            </a:r>
            <a:endParaRPr dirty="0" sz="900" lang="en-US"/>
          </a:p>
        </p:txBody>
      </p:sp>
      <p:sp>
        <p:nvSpPr>
          <p:cNvPr id="1048696" name="Text 1"/>
          <p:cNvSpPr/>
          <p:nvPr/>
        </p:nvSpPr>
        <p:spPr>
          <a:xfrm>
            <a:off x="411480" y="438912"/>
            <a:ext cx="7772400" cy="475488"/>
          </a:xfrm>
          <a:prstGeom prst="rect"/>
          <a:noFill/>
        </p:spPr>
        <p:txBody>
          <a:bodyPr anchor="ctr" bIns="0" lIns="0" rIns="0" rtlCol="0" tIns="0" wrap="square"/>
          <a:p>
            <a:pPr indent="0" marL="0">
              <a:buNone/>
            </a:pPr>
            <a:r>
              <a:rPr b="1" dirty="0" sz="2400" lang="en-US">
                <a:solidFill>
                  <a:srgbClr val="0A1E3F"/>
                </a:solidFill>
                <a:latin typeface="Calibri" pitchFamily="34" charset="0"/>
                <a:ea typeface="Calibri" pitchFamily="34" charset="-122"/>
                <a:cs typeface="Calibri" pitchFamily="34" charset="-120"/>
              </a:rPr>
              <a:t>Built for Nigerian networks, not California ones.</a:t>
            </a:r>
            <a:endParaRPr dirty="0" sz="2400" lang="en-US"/>
          </a:p>
        </p:txBody>
      </p:sp>
      <p:sp>
        <p:nvSpPr>
          <p:cNvPr id="1048697" name="Shape 2"/>
          <p:cNvSpPr/>
          <p:nvPr/>
        </p:nvSpPr>
        <p:spPr>
          <a:xfrm>
            <a:off x="411480" y="1078992"/>
            <a:ext cx="1371600" cy="411480"/>
          </a:xfrm>
          <a:prstGeom prst="rect"/>
          <a:solidFill>
            <a:srgbClr val="0A1E3F"/>
          </a:solidFill>
          <a:ln w="12700">
            <a:solidFill>
              <a:srgbClr val="0A1E3F"/>
            </a:solidFill>
            <a:prstDash val="solid"/>
          </a:ln>
        </p:spPr>
      </p:sp>
      <p:sp>
        <p:nvSpPr>
          <p:cNvPr id="1048698" name="Text 3"/>
          <p:cNvSpPr/>
          <p:nvPr/>
        </p:nvSpPr>
        <p:spPr>
          <a:xfrm>
            <a:off x="502920" y="1097280"/>
            <a:ext cx="1280160" cy="374904"/>
          </a:xfrm>
          <a:prstGeom prst="rect"/>
          <a:noFill/>
        </p:spPr>
        <p:txBody>
          <a:bodyPr anchor="ctr" bIns="0" lIns="0" rIns="0" rtlCol="0" tIns="0" wrap="square"/>
          <a:p>
            <a:pPr indent="0" marL="0">
              <a:buNone/>
            </a:pPr>
            <a:r>
              <a:rPr b="1" dirty="0" sz="1000" lang="en-US">
                <a:solidFill>
                  <a:srgbClr val="2DD4BF"/>
                </a:solidFill>
                <a:latin typeface="Calibri" pitchFamily="34" charset="0"/>
                <a:ea typeface="Calibri" pitchFamily="34" charset="-122"/>
                <a:cs typeface="Calibri" pitchFamily="34" charset="-120"/>
              </a:rPr>
              <a:t>Frontend</a:t>
            </a:r>
            <a:endParaRPr dirty="0" sz="1000" lang="en-US"/>
          </a:p>
        </p:txBody>
      </p:sp>
      <p:sp>
        <p:nvSpPr>
          <p:cNvPr id="1048699" name="Shape 4"/>
          <p:cNvSpPr/>
          <p:nvPr/>
        </p:nvSpPr>
        <p:spPr>
          <a:xfrm>
            <a:off x="1783080" y="1078992"/>
            <a:ext cx="3474720" cy="411480"/>
          </a:xfrm>
          <a:prstGeom prst="rect"/>
          <a:solidFill>
            <a:srgbClr val="F1F5F9"/>
          </a:solidFill>
          <a:ln w="12700">
            <a:solidFill>
              <a:srgbClr val="94A3B8"/>
            </a:solidFill>
            <a:prstDash val="solid"/>
          </a:ln>
        </p:spPr>
      </p:sp>
      <p:sp>
        <p:nvSpPr>
          <p:cNvPr id="1048700" name="Text 5"/>
          <p:cNvSpPr/>
          <p:nvPr/>
        </p:nvSpPr>
        <p:spPr>
          <a:xfrm>
            <a:off x="1874520" y="1097280"/>
            <a:ext cx="3383280" cy="374904"/>
          </a:xfrm>
          <a:prstGeom prst="rect"/>
          <a:noFill/>
        </p:spPr>
        <p:txBody>
          <a:bodyPr anchor="ctr" bIns="0" lIns="0" rIns="0" rtlCol="0" tIns="0" wrap="square"/>
          <a:p>
            <a:pPr indent="0" marL="0">
              <a:buNone/>
            </a:pPr>
            <a:r>
              <a:rPr dirty="0" sz="1000" lang="en-US">
                <a:solidFill>
                  <a:srgbClr val="334155"/>
                </a:solidFill>
                <a:latin typeface="Calibri" pitchFamily="34" charset="0"/>
                <a:ea typeface="Calibri" pitchFamily="34" charset="-122"/>
                <a:cs typeface="Calibri" pitchFamily="34" charset="-120"/>
              </a:rPr>
              <a:t>Vanilla HTML + CSS + JavaScript. No framework. No build step.</a:t>
            </a:r>
            <a:endParaRPr dirty="0" sz="1000" lang="en-US"/>
          </a:p>
        </p:txBody>
      </p:sp>
      <p:sp>
        <p:nvSpPr>
          <p:cNvPr id="1048701" name="Shape 6"/>
          <p:cNvSpPr/>
          <p:nvPr/>
        </p:nvSpPr>
        <p:spPr>
          <a:xfrm>
            <a:off x="411480" y="1508760"/>
            <a:ext cx="1371600" cy="411480"/>
          </a:xfrm>
          <a:prstGeom prst="rect"/>
          <a:solidFill>
            <a:srgbClr val="0A1E3F"/>
          </a:solidFill>
          <a:ln w="12700">
            <a:solidFill>
              <a:srgbClr val="0A1E3F"/>
            </a:solidFill>
            <a:prstDash val="solid"/>
          </a:ln>
        </p:spPr>
      </p:sp>
      <p:sp>
        <p:nvSpPr>
          <p:cNvPr id="1048702" name="Text 7"/>
          <p:cNvSpPr/>
          <p:nvPr/>
        </p:nvSpPr>
        <p:spPr>
          <a:xfrm>
            <a:off x="502920" y="1527048"/>
            <a:ext cx="1280160" cy="374904"/>
          </a:xfrm>
          <a:prstGeom prst="rect"/>
          <a:noFill/>
        </p:spPr>
        <p:txBody>
          <a:bodyPr anchor="ctr" bIns="0" lIns="0" rIns="0" rtlCol="0" tIns="0" wrap="square"/>
          <a:p>
            <a:pPr indent="0" marL="0">
              <a:buNone/>
            </a:pPr>
            <a:r>
              <a:rPr b="1" dirty="0" sz="1000" lang="en-US">
                <a:solidFill>
                  <a:srgbClr val="2DD4BF"/>
                </a:solidFill>
                <a:latin typeface="Calibri" pitchFamily="34" charset="0"/>
                <a:ea typeface="Calibri" pitchFamily="34" charset="-122"/>
                <a:cs typeface="Calibri" pitchFamily="34" charset="-120"/>
              </a:rPr>
              <a:t>Map</a:t>
            </a:r>
            <a:endParaRPr dirty="0" sz="1000" lang="en-US"/>
          </a:p>
        </p:txBody>
      </p:sp>
      <p:sp>
        <p:nvSpPr>
          <p:cNvPr id="1048703" name="Shape 8"/>
          <p:cNvSpPr/>
          <p:nvPr/>
        </p:nvSpPr>
        <p:spPr>
          <a:xfrm>
            <a:off x="1783080" y="1508760"/>
            <a:ext cx="3474720" cy="411480"/>
          </a:xfrm>
          <a:prstGeom prst="rect"/>
          <a:solidFill>
            <a:srgbClr val="FFFFFF"/>
          </a:solidFill>
          <a:ln w="12700">
            <a:solidFill>
              <a:srgbClr val="94A3B8"/>
            </a:solidFill>
            <a:prstDash val="solid"/>
          </a:ln>
        </p:spPr>
      </p:sp>
      <p:sp>
        <p:nvSpPr>
          <p:cNvPr id="1048704" name="Text 9"/>
          <p:cNvSpPr/>
          <p:nvPr/>
        </p:nvSpPr>
        <p:spPr>
          <a:xfrm>
            <a:off x="1874520" y="1527048"/>
            <a:ext cx="3383280" cy="374904"/>
          </a:xfrm>
          <a:prstGeom prst="rect"/>
          <a:noFill/>
        </p:spPr>
        <p:txBody>
          <a:bodyPr anchor="ctr" bIns="0" lIns="0" rIns="0" rtlCol="0" tIns="0" wrap="square"/>
          <a:p>
            <a:pPr indent="0" marL="0">
              <a:buNone/>
            </a:pPr>
            <a:r>
              <a:rPr dirty="0" sz="1000" lang="en-US">
                <a:solidFill>
                  <a:srgbClr val="334155"/>
                </a:solidFill>
                <a:latin typeface="Calibri" pitchFamily="34" charset="0"/>
                <a:ea typeface="Calibri" pitchFamily="34" charset="-122"/>
                <a:cs typeface="Calibri" pitchFamily="34" charset="-120"/>
              </a:rPr>
              <a:t>Leaflet 1.9.4 — embedded inline (~147KB). Zero CDN dependency.</a:t>
            </a:r>
            <a:endParaRPr dirty="0" sz="1000" lang="en-US"/>
          </a:p>
        </p:txBody>
      </p:sp>
      <p:sp>
        <p:nvSpPr>
          <p:cNvPr id="1048705" name="Shape 10"/>
          <p:cNvSpPr/>
          <p:nvPr/>
        </p:nvSpPr>
        <p:spPr>
          <a:xfrm>
            <a:off x="411480" y="1938528"/>
            <a:ext cx="1371600" cy="411480"/>
          </a:xfrm>
          <a:prstGeom prst="rect"/>
          <a:solidFill>
            <a:srgbClr val="0A1E3F"/>
          </a:solidFill>
          <a:ln w="12700">
            <a:solidFill>
              <a:srgbClr val="0A1E3F"/>
            </a:solidFill>
            <a:prstDash val="solid"/>
          </a:ln>
        </p:spPr>
      </p:sp>
      <p:sp>
        <p:nvSpPr>
          <p:cNvPr id="1048706" name="Text 11"/>
          <p:cNvSpPr/>
          <p:nvPr/>
        </p:nvSpPr>
        <p:spPr>
          <a:xfrm>
            <a:off x="502920" y="1956816"/>
            <a:ext cx="1280160" cy="374904"/>
          </a:xfrm>
          <a:prstGeom prst="rect"/>
          <a:noFill/>
        </p:spPr>
        <p:txBody>
          <a:bodyPr anchor="ctr" bIns="0" lIns="0" rIns="0" rtlCol="0" tIns="0" wrap="square"/>
          <a:p>
            <a:pPr indent="0" marL="0">
              <a:buNone/>
            </a:pPr>
            <a:r>
              <a:rPr b="1" dirty="0" sz="1000" lang="en-US">
                <a:solidFill>
                  <a:srgbClr val="2DD4BF"/>
                </a:solidFill>
                <a:latin typeface="Calibri" pitchFamily="34" charset="0"/>
                <a:ea typeface="Calibri" pitchFamily="34" charset="-122"/>
                <a:cs typeface="Calibri" pitchFamily="34" charset="-120"/>
              </a:rPr>
              <a:t>Map tiles</a:t>
            </a:r>
            <a:endParaRPr dirty="0" sz="1000" lang="en-US"/>
          </a:p>
        </p:txBody>
      </p:sp>
      <p:sp>
        <p:nvSpPr>
          <p:cNvPr id="1048707" name="Shape 12"/>
          <p:cNvSpPr/>
          <p:nvPr/>
        </p:nvSpPr>
        <p:spPr>
          <a:xfrm>
            <a:off x="1783080" y="1938528"/>
            <a:ext cx="3474720" cy="411480"/>
          </a:xfrm>
          <a:prstGeom prst="rect"/>
          <a:solidFill>
            <a:srgbClr val="F1F5F9"/>
          </a:solidFill>
          <a:ln w="12700">
            <a:solidFill>
              <a:srgbClr val="94A3B8"/>
            </a:solidFill>
            <a:prstDash val="solid"/>
          </a:ln>
        </p:spPr>
      </p:sp>
      <p:sp>
        <p:nvSpPr>
          <p:cNvPr id="1048708" name="Text 13"/>
          <p:cNvSpPr/>
          <p:nvPr/>
        </p:nvSpPr>
        <p:spPr>
          <a:xfrm>
            <a:off x="1874520" y="1956816"/>
            <a:ext cx="3383280" cy="374904"/>
          </a:xfrm>
          <a:prstGeom prst="rect"/>
          <a:noFill/>
        </p:spPr>
        <p:txBody>
          <a:bodyPr anchor="ctr" bIns="0" lIns="0" rIns="0" rtlCol="0" tIns="0" wrap="square"/>
          <a:p>
            <a:pPr indent="0" marL="0">
              <a:buNone/>
            </a:pPr>
            <a:r>
              <a:rPr dirty="0" sz="1000" lang="en-US">
                <a:solidFill>
                  <a:srgbClr val="334155"/>
                </a:solidFill>
                <a:latin typeface="Calibri" pitchFamily="34" charset="0"/>
                <a:ea typeface="Calibri" pitchFamily="34" charset="-122"/>
                <a:cs typeface="Calibri" pitchFamily="34" charset="-120"/>
              </a:rPr>
              <a:t>OpenStreetMap (free, no API key). Fails gracefully to grey.</a:t>
            </a:r>
            <a:endParaRPr dirty="0" sz="1000" lang="en-US"/>
          </a:p>
        </p:txBody>
      </p:sp>
      <p:sp>
        <p:nvSpPr>
          <p:cNvPr id="1048709" name="Shape 14"/>
          <p:cNvSpPr/>
          <p:nvPr/>
        </p:nvSpPr>
        <p:spPr>
          <a:xfrm>
            <a:off x="411480" y="2368296"/>
            <a:ext cx="1371600" cy="411480"/>
          </a:xfrm>
          <a:prstGeom prst="rect"/>
          <a:solidFill>
            <a:srgbClr val="0A1E3F"/>
          </a:solidFill>
          <a:ln w="12700">
            <a:solidFill>
              <a:srgbClr val="0A1E3F"/>
            </a:solidFill>
            <a:prstDash val="solid"/>
          </a:ln>
        </p:spPr>
      </p:sp>
      <p:sp>
        <p:nvSpPr>
          <p:cNvPr id="1048710" name="Text 15"/>
          <p:cNvSpPr/>
          <p:nvPr/>
        </p:nvSpPr>
        <p:spPr>
          <a:xfrm>
            <a:off x="502920" y="2386584"/>
            <a:ext cx="1280160" cy="374904"/>
          </a:xfrm>
          <a:prstGeom prst="rect"/>
          <a:noFill/>
        </p:spPr>
        <p:txBody>
          <a:bodyPr anchor="ctr" bIns="0" lIns="0" rIns="0" rtlCol="0" tIns="0" wrap="square"/>
          <a:p>
            <a:pPr indent="0" marL="0">
              <a:buNone/>
            </a:pPr>
            <a:r>
              <a:rPr b="1" dirty="0" sz="1000" lang="en-US">
                <a:solidFill>
                  <a:srgbClr val="2DD4BF"/>
                </a:solidFill>
                <a:latin typeface="Calibri" pitchFamily="34" charset="0"/>
                <a:ea typeface="Calibri" pitchFamily="34" charset="-122"/>
                <a:cs typeface="Calibri" pitchFamily="34" charset="-120"/>
              </a:rPr>
              <a:t>Location</a:t>
            </a:r>
            <a:endParaRPr dirty="0" sz="1000" lang="en-US"/>
          </a:p>
        </p:txBody>
      </p:sp>
      <p:sp>
        <p:nvSpPr>
          <p:cNvPr id="1048711" name="Shape 16"/>
          <p:cNvSpPr/>
          <p:nvPr/>
        </p:nvSpPr>
        <p:spPr>
          <a:xfrm>
            <a:off x="1783080" y="2368296"/>
            <a:ext cx="3474720" cy="411480"/>
          </a:xfrm>
          <a:prstGeom prst="rect"/>
          <a:solidFill>
            <a:srgbClr val="FFFFFF"/>
          </a:solidFill>
          <a:ln w="12700">
            <a:solidFill>
              <a:srgbClr val="94A3B8"/>
            </a:solidFill>
            <a:prstDash val="solid"/>
          </a:ln>
        </p:spPr>
      </p:sp>
      <p:sp>
        <p:nvSpPr>
          <p:cNvPr id="1048712" name="Text 17"/>
          <p:cNvSpPr/>
          <p:nvPr/>
        </p:nvSpPr>
        <p:spPr>
          <a:xfrm>
            <a:off x="1874520" y="2386584"/>
            <a:ext cx="3383280" cy="374904"/>
          </a:xfrm>
          <a:prstGeom prst="rect"/>
          <a:noFill/>
        </p:spPr>
        <p:txBody>
          <a:bodyPr anchor="ctr" bIns="0" lIns="0" rIns="0" rtlCol="0" tIns="0" wrap="square"/>
          <a:p>
            <a:pPr indent="0" marL="0">
              <a:buNone/>
            </a:pPr>
            <a:r>
              <a:rPr dirty="0" sz="1000" lang="en-US">
                <a:solidFill>
                  <a:srgbClr val="334155"/>
                </a:solidFill>
                <a:latin typeface="Calibri" pitchFamily="34" charset="0"/>
                <a:ea typeface="Calibri" pitchFamily="34" charset="-122"/>
                <a:cs typeface="Calibri" pitchFamily="34" charset="-120"/>
              </a:rPr>
              <a:t>Browser navigator.geolocation (GPS)</a:t>
            </a:r>
            <a:endParaRPr dirty="0" sz="1000" lang="en-US"/>
          </a:p>
        </p:txBody>
      </p:sp>
      <p:sp>
        <p:nvSpPr>
          <p:cNvPr id="1048713" name="Shape 18"/>
          <p:cNvSpPr/>
          <p:nvPr/>
        </p:nvSpPr>
        <p:spPr>
          <a:xfrm>
            <a:off x="411480" y="2798064"/>
            <a:ext cx="1371600" cy="411480"/>
          </a:xfrm>
          <a:prstGeom prst="rect"/>
          <a:solidFill>
            <a:srgbClr val="0A1E3F"/>
          </a:solidFill>
          <a:ln w="12700">
            <a:solidFill>
              <a:srgbClr val="0A1E3F"/>
            </a:solidFill>
            <a:prstDash val="solid"/>
          </a:ln>
        </p:spPr>
      </p:sp>
      <p:sp>
        <p:nvSpPr>
          <p:cNvPr id="1048714" name="Text 19"/>
          <p:cNvSpPr/>
          <p:nvPr/>
        </p:nvSpPr>
        <p:spPr>
          <a:xfrm>
            <a:off x="502920" y="2816352"/>
            <a:ext cx="1280160" cy="374904"/>
          </a:xfrm>
          <a:prstGeom prst="rect"/>
          <a:noFill/>
        </p:spPr>
        <p:txBody>
          <a:bodyPr anchor="ctr" bIns="0" lIns="0" rIns="0" rtlCol="0" tIns="0" wrap="square"/>
          <a:p>
            <a:pPr indent="0" marL="0">
              <a:buNone/>
            </a:pPr>
            <a:r>
              <a:rPr b="1" dirty="0" sz="1000" lang="en-US">
                <a:solidFill>
                  <a:srgbClr val="2DD4BF"/>
                </a:solidFill>
                <a:latin typeface="Calibri" pitchFamily="34" charset="0"/>
                <a:ea typeface="Calibri" pitchFamily="34" charset="-122"/>
                <a:cs typeface="Calibri" pitchFamily="34" charset="-120"/>
              </a:rPr>
              <a:t>Haptics</a:t>
            </a:r>
            <a:endParaRPr dirty="0" sz="1000" lang="en-US"/>
          </a:p>
        </p:txBody>
      </p:sp>
      <p:sp>
        <p:nvSpPr>
          <p:cNvPr id="1048715" name="Shape 20"/>
          <p:cNvSpPr/>
          <p:nvPr/>
        </p:nvSpPr>
        <p:spPr>
          <a:xfrm>
            <a:off x="1783080" y="2798064"/>
            <a:ext cx="3474720" cy="411480"/>
          </a:xfrm>
          <a:prstGeom prst="rect"/>
          <a:solidFill>
            <a:srgbClr val="F1F5F9"/>
          </a:solidFill>
          <a:ln w="12700">
            <a:solidFill>
              <a:srgbClr val="94A3B8"/>
            </a:solidFill>
            <a:prstDash val="solid"/>
          </a:ln>
        </p:spPr>
      </p:sp>
      <p:sp>
        <p:nvSpPr>
          <p:cNvPr id="1048716" name="Text 21"/>
          <p:cNvSpPr/>
          <p:nvPr/>
        </p:nvSpPr>
        <p:spPr>
          <a:xfrm>
            <a:off x="1874520" y="2816352"/>
            <a:ext cx="3383280" cy="374904"/>
          </a:xfrm>
          <a:prstGeom prst="rect"/>
          <a:noFill/>
        </p:spPr>
        <p:txBody>
          <a:bodyPr anchor="ctr" bIns="0" lIns="0" rIns="0" rtlCol="0" tIns="0" wrap="square"/>
          <a:p>
            <a:pPr indent="0" marL="0">
              <a:buNone/>
            </a:pPr>
            <a:r>
              <a:rPr dirty="0" sz="1000" lang="en-US">
                <a:solidFill>
                  <a:srgbClr val="334155"/>
                </a:solidFill>
                <a:latin typeface="Calibri" pitchFamily="34" charset="0"/>
                <a:ea typeface="Calibri" pitchFamily="34" charset="-122"/>
                <a:cs typeface="Calibri" pitchFamily="34" charset="-120"/>
              </a:rPr>
              <a:t>navigator.vibrate — [200ms, 100ms, 200ms] on SOS activation</a:t>
            </a:r>
            <a:endParaRPr dirty="0" sz="1000" lang="en-US"/>
          </a:p>
        </p:txBody>
      </p:sp>
      <p:sp>
        <p:nvSpPr>
          <p:cNvPr id="1048717" name="Shape 22"/>
          <p:cNvSpPr/>
          <p:nvPr/>
        </p:nvSpPr>
        <p:spPr>
          <a:xfrm>
            <a:off x="411480" y="3227832"/>
            <a:ext cx="1371600" cy="411480"/>
          </a:xfrm>
          <a:prstGeom prst="rect"/>
          <a:solidFill>
            <a:srgbClr val="0A1E3F"/>
          </a:solidFill>
          <a:ln w="12700">
            <a:solidFill>
              <a:srgbClr val="0A1E3F"/>
            </a:solidFill>
            <a:prstDash val="solid"/>
          </a:ln>
        </p:spPr>
      </p:sp>
      <p:sp>
        <p:nvSpPr>
          <p:cNvPr id="1048718" name="Text 23"/>
          <p:cNvSpPr/>
          <p:nvPr/>
        </p:nvSpPr>
        <p:spPr>
          <a:xfrm>
            <a:off x="502920" y="3246120"/>
            <a:ext cx="1280160" cy="374904"/>
          </a:xfrm>
          <a:prstGeom prst="rect"/>
          <a:noFill/>
        </p:spPr>
        <p:txBody>
          <a:bodyPr anchor="ctr" bIns="0" lIns="0" rIns="0" rtlCol="0" tIns="0" wrap="square"/>
          <a:p>
            <a:pPr indent="0" marL="0">
              <a:buNone/>
            </a:pPr>
            <a:r>
              <a:rPr b="1" dirty="0" sz="1000" lang="en-US">
                <a:solidFill>
                  <a:srgbClr val="2DD4BF"/>
                </a:solidFill>
                <a:latin typeface="Calibri" pitchFamily="34" charset="0"/>
                <a:ea typeface="Calibri" pitchFamily="34" charset="-122"/>
                <a:cs typeface="Calibri" pitchFamily="34" charset="-120"/>
              </a:rPr>
              <a:t>Deployment</a:t>
            </a:r>
            <a:endParaRPr dirty="0" sz="1000" lang="en-US"/>
          </a:p>
        </p:txBody>
      </p:sp>
      <p:sp>
        <p:nvSpPr>
          <p:cNvPr id="1048719" name="Shape 24"/>
          <p:cNvSpPr/>
          <p:nvPr/>
        </p:nvSpPr>
        <p:spPr>
          <a:xfrm>
            <a:off x="1783080" y="3227832"/>
            <a:ext cx="3474720" cy="411480"/>
          </a:xfrm>
          <a:prstGeom prst="rect"/>
          <a:solidFill>
            <a:srgbClr val="FFFFFF"/>
          </a:solidFill>
          <a:ln w="12700">
            <a:solidFill>
              <a:srgbClr val="94A3B8"/>
            </a:solidFill>
            <a:prstDash val="solid"/>
          </a:ln>
        </p:spPr>
      </p:sp>
      <p:sp>
        <p:nvSpPr>
          <p:cNvPr id="1048720" name="Text 25"/>
          <p:cNvSpPr/>
          <p:nvPr/>
        </p:nvSpPr>
        <p:spPr>
          <a:xfrm>
            <a:off x="1874520" y="3246120"/>
            <a:ext cx="3383280" cy="374904"/>
          </a:xfrm>
          <a:prstGeom prst="rect"/>
          <a:noFill/>
        </p:spPr>
        <p:txBody>
          <a:bodyPr anchor="ctr" bIns="0" lIns="0" rIns="0" rtlCol="0" tIns="0" wrap="square"/>
          <a:p>
            <a:pPr indent="0" marL="0">
              <a:buNone/>
            </a:pPr>
            <a:r>
              <a:rPr dirty="0" sz="1000" lang="en-US">
                <a:solidFill>
                  <a:srgbClr val="334155"/>
                </a:solidFill>
                <a:latin typeface="Calibri" pitchFamily="34" charset="0"/>
                <a:ea typeface="Calibri" pitchFamily="34" charset="-122"/>
                <a:cs typeface="Calibri" pitchFamily="34" charset="-120"/>
              </a:rPr>
              <a:t>GitHub Pages — single file, ~210KB total</a:t>
            </a:r>
            <a:endParaRPr dirty="0" sz="1000" lang="en-US"/>
          </a:p>
        </p:txBody>
      </p:sp>
      <p:sp>
        <p:nvSpPr>
          <p:cNvPr id="1048721" name="Shape 26"/>
          <p:cNvSpPr/>
          <p:nvPr/>
        </p:nvSpPr>
        <p:spPr>
          <a:xfrm>
            <a:off x="411480" y="3657600"/>
            <a:ext cx="1371600" cy="411480"/>
          </a:xfrm>
          <a:prstGeom prst="rect"/>
          <a:solidFill>
            <a:srgbClr val="0A1E3F"/>
          </a:solidFill>
          <a:ln w="12700">
            <a:solidFill>
              <a:srgbClr val="0A1E3F"/>
            </a:solidFill>
            <a:prstDash val="solid"/>
          </a:ln>
        </p:spPr>
      </p:sp>
      <p:sp>
        <p:nvSpPr>
          <p:cNvPr id="1048722" name="Text 27"/>
          <p:cNvSpPr/>
          <p:nvPr/>
        </p:nvSpPr>
        <p:spPr>
          <a:xfrm>
            <a:off x="502920" y="3675888"/>
            <a:ext cx="1280160" cy="374904"/>
          </a:xfrm>
          <a:prstGeom prst="rect"/>
          <a:noFill/>
        </p:spPr>
        <p:txBody>
          <a:bodyPr anchor="ctr" bIns="0" lIns="0" rIns="0" rtlCol="0" tIns="0" wrap="square"/>
          <a:p>
            <a:pPr indent="0" marL="0">
              <a:buNone/>
            </a:pPr>
            <a:r>
              <a:rPr b="1" dirty="0" sz="1000" lang="en-US">
                <a:solidFill>
                  <a:srgbClr val="2DD4BF"/>
                </a:solidFill>
                <a:latin typeface="Calibri" pitchFamily="34" charset="0"/>
                <a:ea typeface="Calibri" pitchFamily="34" charset="-122"/>
                <a:cs typeface="Calibri" pitchFamily="34" charset="-120"/>
              </a:rPr>
              <a:t>Backend (V2)</a:t>
            </a:r>
            <a:endParaRPr dirty="0" sz="1000" lang="en-US"/>
          </a:p>
        </p:txBody>
      </p:sp>
      <p:sp>
        <p:nvSpPr>
          <p:cNvPr id="1048723" name="Shape 28"/>
          <p:cNvSpPr/>
          <p:nvPr/>
        </p:nvSpPr>
        <p:spPr>
          <a:xfrm>
            <a:off x="1783080" y="3657600"/>
            <a:ext cx="3474720" cy="411480"/>
          </a:xfrm>
          <a:prstGeom prst="rect"/>
          <a:solidFill>
            <a:srgbClr val="F1F5F9"/>
          </a:solidFill>
          <a:ln w="12700">
            <a:solidFill>
              <a:srgbClr val="94A3B8"/>
            </a:solidFill>
            <a:prstDash val="solid"/>
          </a:ln>
        </p:spPr>
      </p:sp>
      <p:sp>
        <p:nvSpPr>
          <p:cNvPr id="1048724" name="Text 29"/>
          <p:cNvSpPr/>
          <p:nvPr/>
        </p:nvSpPr>
        <p:spPr>
          <a:xfrm>
            <a:off x="1874520" y="3675888"/>
            <a:ext cx="3383280" cy="374904"/>
          </a:xfrm>
          <a:prstGeom prst="rect"/>
          <a:noFill/>
        </p:spPr>
        <p:txBody>
          <a:bodyPr anchor="ctr" bIns="0" lIns="0" rIns="0" rtlCol="0" tIns="0" wrap="square"/>
          <a:p>
            <a:pPr indent="0" marL="0">
              <a:buNone/>
            </a:pPr>
            <a:r>
              <a:rPr dirty="0" sz="1000" lang="en-US">
                <a:solidFill>
                  <a:srgbClr val="334155"/>
                </a:solidFill>
                <a:latin typeface="Calibri" pitchFamily="34" charset="0"/>
                <a:ea typeface="Calibri" pitchFamily="34" charset="-122"/>
                <a:cs typeface="Calibri" pitchFamily="34" charset="-120"/>
              </a:rPr>
              <a:t>Supabase (Postgres + Auth + Realtime)</a:t>
            </a:r>
            <a:endParaRPr dirty="0" sz="1000" lang="en-US"/>
          </a:p>
        </p:txBody>
      </p:sp>
      <p:sp>
        <p:nvSpPr>
          <p:cNvPr id="1048725" name="Shape 30"/>
          <p:cNvSpPr/>
          <p:nvPr/>
        </p:nvSpPr>
        <p:spPr>
          <a:xfrm>
            <a:off x="411480" y="4087368"/>
            <a:ext cx="1371600" cy="411480"/>
          </a:xfrm>
          <a:prstGeom prst="rect"/>
          <a:solidFill>
            <a:srgbClr val="0A1E3F"/>
          </a:solidFill>
          <a:ln w="12700">
            <a:solidFill>
              <a:srgbClr val="0A1E3F"/>
            </a:solidFill>
            <a:prstDash val="solid"/>
          </a:ln>
        </p:spPr>
      </p:sp>
      <p:sp>
        <p:nvSpPr>
          <p:cNvPr id="1048726" name="Text 31"/>
          <p:cNvSpPr/>
          <p:nvPr/>
        </p:nvSpPr>
        <p:spPr>
          <a:xfrm>
            <a:off x="502920" y="4105656"/>
            <a:ext cx="1280160" cy="374904"/>
          </a:xfrm>
          <a:prstGeom prst="rect"/>
          <a:noFill/>
        </p:spPr>
        <p:txBody>
          <a:bodyPr anchor="ctr" bIns="0" lIns="0" rIns="0" rtlCol="0" tIns="0" wrap="square"/>
          <a:p>
            <a:pPr indent="0" marL="0">
              <a:buNone/>
            </a:pPr>
            <a:r>
              <a:rPr b="1" dirty="0" sz="1000" lang="en-US">
                <a:solidFill>
                  <a:srgbClr val="2DD4BF"/>
                </a:solidFill>
                <a:latin typeface="Calibri" pitchFamily="34" charset="0"/>
                <a:ea typeface="Calibri" pitchFamily="34" charset="-122"/>
                <a:cs typeface="Calibri" pitchFamily="34" charset="-120"/>
              </a:rPr>
              <a:t>SMS (V2)</a:t>
            </a:r>
            <a:endParaRPr dirty="0" sz="1000" lang="en-US"/>
          </a:p>
        </p:txBody>
      </p:sp>
      <p:sp>
        <p:nvSpPr>
          <p:cNvPr id="1048727" name="Shape 32"/>
          <p:cNvSpPr/>
          <p:nvPr/>
        </p:nvSpPr>
        <p:spPr>
          <a:xfrm>
            <a:off x="1783080" y="4087368"/>
            <a:ext cx="3474720" cy="411480"/>
          </a:xfrm>
          <a:prstGeom prst="rect"/>
          <a:solidFill>
            <a:srgbClr val="FFFFFF"/>
          </a:solidFill>
          <a:ln w="12700">
            <a:solidFill>
              <a:srgbClr val="94A3B8"/>
            </a:solidFill>
            <a:prstDash val="solid"/>
          </a:ln>
        </p:spPr>
      </p:sp>
      <p:sp>
        <p:nvSpPr>
          <p:cNvPr id="1048728" name="Text 33"/>
          <p:cNvSpPr/>
          <p:nvPr/>
        </p:nvSpPr>
        <p:spPr>
          <a:xfrm>
            <a:off x="1874520" y="4105656"/>
            <a:ext cx="3383280" cy="374904"/>
          </a:xfrm>
          <a:prstGeom prst="rect"/>
          <a:noFill/>
        </p:spPr>
        <p:txBody>
          <a:bodyPr anchor="ctr" bIns="0" lIns="0" rIns="0" rtlCol="0" tIns="0" wrap="square"/>
          <a:p>
            <a:pPr indent="0" marL="0">
              <a:buNone/>
            </a:pPr>
            <a:r>
              <a:rPr dirty="0" sz="1000" lang="en-US">
                <a:solidFill>
                  <a:srgbClr val="334155"/>
                </a:solidFill>
                <a:latin typeface="Calibri" pitchFamily="34" charset="0"/>
                <a:ea typeface="Calibri" pitchFamily="34" charset="-122"/>
                <a:cs typeface="Calibri" pitchFamily="34" charset="-120"/>
              </a:rPr>
              <a:t>Termii / Africa's Talking</a:t>
            </a:r>
            <a:endParaRPr dirty="0" sz="1000" lang="en-US"/>
          </a:p>
        </p:txBody>
      </p:sp>
      <p:sp>
        <p:nvSpPr>
          <p:cNvPr id="1048729" name="Shape 34"/>
          <p:cNvSpPr/>
          <p:nvPr/>
        </p:nvSpPr>
        <p:spPr>
          <a:xfrm>
            <a:off x="5577840" y="1078992"/>
            <a:ext cx="3154680" cy="1828800"/>
          </a:xfrm>
          <a:prstGeom prst="rect"/>
          <a:solidFill>
            <a:srgbClr val="0A1E3F"/>
          </a:solidFill>
          <a:ln w="12700">
            <a:solidFill>
              <a:srgbClr val="0A1E3F"/>
            </a:solidFill>
            <a:prstDash val="solid"/>
          </a:ln>
        </p:spPr>
      </p:sp>
      <p:sp>
        <p:nvSpPr>
          <p:cNvPr id="1048730" name="Text 35"/>
          <p:cNvSpPr/>
          <p:nvPr/>
        </p:nvSpPr>
        <p:spPr>
          <a:xfrm>
            <a:off x="5687568" y="1152144"/>
            <a:ext cx="2926080" cy="292608"/>
          </a:xfrm>
          <a:prstGeom prst="rect"/>
          <a:noFill/>
        </p:spPr>
        <p:txBody>
          <a:bodyPr anchor="ctr" bIns="0" lIns="0" rIns="0" rtlCol="0" tIns="0" wrap="square"/>
          <a:p>
            <a:pPr indent="0" marL="0">
              <a:buNone/>
            </a:pPr>
            <a:r>
              <a:rPr b="1" dirty="0" sz="1100" lang="en-US">
                <a:solidFill>
                  <a:srgbClr val="2DD4BF"/>
                </a:solidFill>
                <a:latin typeface="Calibri" pitchFamily="34" charset="0"/>
                <a:ea typeface="Calibri" pitchFamily="34" charset="-122"/>
                <a:cs typeface="Calibri" pitchFamily="34" charset="-120"/>
              </a:rPr>
              <a:t>Why self-hosted libraries?</a:t>
            </a:r>
            <a:endParaRPr dirty="0" sz="1100" lang="en-US"/>
          </a:p>
        </p:txBody>
      </p:sp>
      <p:sp>
        <p:nvSpPr>
          <p:cNvPr id="1048731" name="Text 36"/>
          <p:cNvSpPr/>
          <p:nvPr/>
        </p:nvSpPr>
        <p:spPr>
          <a:xfrm>
            <a:off x="5687568" y="1444752"/>
            <a:ext cx="2926080" cy="1325880"/>
          </a:xfrm>
          <a:prstGeom prst="rect"/>
          <a:noFill/>
        </p:spPr>
        <p:txBody>
          <a:bodyPr anchor="ctr" bIns="0" lIns="0" rIns="0" rtlCol="0" tIns="0" wrap="square"/>
          <a:p>
            <a:pPr indent="0" marL="0">
              <a:buNone/>
            </a:pPr>
            <a:r>
              <a:rPr dirty="0" sz="1050" lang="en-US">
                <a:solidFill>
                  <a:srgbClr val="A0B8D0"/>
                </a:solidFill>
                <a:latin typeface="Calibri" pitchFamily="34" charset="0"/>
                <a:ea typeface="Calibri" pitchFamily="34" charset="-122"/>
                <a:cs typeface="Calibri" pitchFamily="34" charset="-120"/>
              </a:rPr>
              <a:t>jsDelivr, unpkg, and Cloudflare CDNs are unreliable on MTN 3G in Nigeria. Embedding Leaflet directly in the same file means the app loads completely from one HTTP request — no external dependencies that can fail.</a:t>
            </a:r>
            <a:endParaRPr dirty="0" sz="1050" lang="en-US"/>
          </a:p>
        </p:txBody>
      </p:sp>
      <p:sp>
        <p:nvSpPr>
          <p:cNvPr id="1048732" name="Shape 37"/>
          <p:cNvSpPr/>
          <p:nvPr/>
        </p:nvSpPr>
        <p:spPr>
          <a:xfrm>
            <a:off x="5577840" y="2999232"/>
            <a:ext cx="3154680" cy="1371600"/>
          </a:xfrm>
          <a:prstGeom prst="rect"/>
          <a:solidFill>
            <a:srgbClr val="FFF7ED"/>
          </a:solidFill>
          <a:ln w="12700">
            <a:solidFill>
              <a:srgbClr val="FED7AA"/>
            </a:solidFill>
            <a:prstDash val="solid"/>
          </a:ln>
        </p:spPr>
      </p:sp>
      <p:sp>
        <p:nvSpPr>
          <p:cNvPr id="1048733" name="Text 38"/>
          <p:cNvSpPr/>
          <p:nvPr/>
        </p:nvSpPr>
        <p:spPr>
          <a:xfrm>
            <a:off x="5687568" y="3072384"/>
            <a:ext cx="2926080" cy="256032"/>
          </a:xfrm>
          <a:prstGeom prst="rect"/>
          <a:noFill/>
        </p:spPr>
        <p:txBody>
          <a:bodyPr anchor="ctr" bIns="0" lIns="0" rIns="0" rtlCol="0" tIns="0" wrap="square"/>
          <a:p>
            <a:pPr indent="0" marL="0">
              <a:buNone/>
            </a:pPr>
            <a:r>
              <a:rPr b="1" dirty="0" sz="1050" lang="en-US">
                <a:solidFill>
                  <a:srgbClr val="92400E"/>
                </a:solidFill>
                <a:latin typeface="Calibri" pitchFamily="34" charset="0"/>
                <a:ea typeface="Calibri" pitchFamily="34" charset="-122"/>
                <a:cs typeface="Calibri" pitchFamily="34" charset="-120"/>
              </a:rPr>
              <a:t>Known limitations (honest):</a:t>
            </a:r>
            <a:endParaRPr dirty="0" sz="1050" lang="en-US"/>
          </a:p>
        </p:txBody>
      </p:sp>
      <p:sp>
        <p:nvSpPr>
          <p:cNvPr id="1048734" name="Text 39"/>
          <p:cNvSpPr/>
          <p:nvPr/>
        </p:nvSpPr>
        <p:spPr>
          <a:xfrm>
            <a:off x="5687568" y="3364992"/>
            <a:ext cx="2926080" cy="274320"/>
          </a:xfrm>
          <a:prstGeom prst="rect"/>
          <a:noFill/>
        </p:spPr>
        <p:txBody>
          <a:bodyPr anchor="ctr" bIns="0" lIns="0" rIns="0" rtlCol="0" tIns="0" wrap="square"/>
          <a:p>
            <a:pPr indent="0" marL="0">
              <a:buNone/>
            </a:pPr>
            <a:r>
              <a:rPr b="1" dirty="0" sz="1000" lang="en-US">
                <a:solidFill>
                  <a:srgbClr val="D97706"/>
                </a:solidFill>
                <a:latin typeface="Calibri" pitchFamily="34" charset="0"/>
                <a:ea typeface="Calibri" pitchFamily="34" charset="-122"/>
                <a:cs typeface="Calibri" pitchFamily="34" charset="-120"/>
              </a:rPr>
              <a:t>•  </a:t>
            </a:r>
            <a:r>
              <a:rPr dirty="0" sz="1000" lang="en-US">
                <a:solidFill>
                  <a:srgbClr val="92400E"/>
                </a:solidFill>
                <a:latin typeface="Calibri" pitchFamily="34" charset="0"/>
                <a:ea typeface="Calibri" pitchFamily="34" charset="-122"/>
                <a:cs typeface="Calibri" pitchFamily="34" charset="-120"/>
              </a:rPr>
              <a:t>Map tiles still need internet (fail gracefully to grey)</a:t>
            </a:r>
            <a:endParaRPr dirty="0" sz="1000" lang="en-US"/>
          </a:p>
        </p:txBody>
      </p:sp>
      <p:sp>
        <p:nvSpPr>
          <p:cNvPr id="1048735" name="Text 40"/>
          <p:cNvSpPr/>
          <p:nvPr/>
        </p:nvSpPr>
        <p:spPr>
          <a:xfrm>
            <a:off x="5687568" y="3666744"/>
            <a:ext cx="2926080" cy="274320"/>
          </a:xfrm>
          <a:prstGeom prst="rect"/>
          <a:noFill/>
        </p:spPr>
        <p:txBody>
          <a:bodyPr anchor="ctr" bIns="0" lIns="0" rIns="0" rtlCol="0" tIns="0" wrap="square"/>
          <a:p>
            <a:pPr indent="0" marL="0">
              <a:buNone/>
            </a:pPr>
            <a:r>
              <a:rPr b="1" dirty="0" sz="1000" lang="en-US">
                <a:solidFill>
                  <a:srgbClr val="D97706"/>
                </a:solidFill>
                <a:latin typeface="Calibri" pitchFamily="34" charset="0"/>
                <a:ea typeface="Calibri" pitchFamily="34" charset="-122"/>
                <a:cs typeface="Calibri" pitchFamily="34" charset="-120"/>
              </a:rPr>
              <a:t>•  </a:t>
            </a:r>
            <a:r>
              <a:rPr dirty="0" sz="1000" lang="en-US">
                <a:solidFill>
                  <a:srgbClr val="92400E"/>
                </a:solidFill>
                <a:latin typeface="Calibri" pitchFamily="34" charset="0"/>
                <a:ea typeface="Calibri" pitchFamily="34" charset="-122"/>
                <a:cs typeface="Calibri" pitchFamily="34" charset="-120"/>
              </a:rPr>
              <a:t>No persistence — refresh resets state (V2 fixes via Supabase)</a:t>
            </a:r>
            <a:endParaRPr dirty="0" sz="1000" lang="en-US"/>
          </a:p>
        </p:txBody>
      </p:sp>
      <p:sp>
        <p:nvSpPr>
          <p:cNvPr id="1048736" name="Text 41"/>
          <p:cNvSpPr/>
          <p:nvPr/>
        </p:nvSpPr>
        <p:spPr>
          <a:xfrm>
            <a:off x="5687568" y="3968496"/>
            <a:ext cx="2926080" cy="274320"/>
          </a:xfrm>
          <a:prstGeom prst="rect"/>
          <a:noFill/>
        </p:spPr>
        <p:txBody>
          <a:bodyPr anchor="ctr" bIns="0" lIns="0" rIns="0" rtlCol="0" tIns="0" wrap="square"/>
          <a:p>
            <a:pPr indent="0" marL="0">
              <a:buNone/>
            </a:pPr>
            <a:r>
              <a:rPr b="1" dirty="0" sz="1000" lang="en-US">
                <a:solidFill>
                  <a:srgbClr val="D97706"/>
                </a:solidFill>
                <a:latin typeface="Calibri" pitchFamily="34" charset="0"/>
                <a:ea typeface="Calibri" pitchFamily="34" charset="-122"/>
                <a:cs typeface="Calibri" pitchFamily="34" charset="-120"/>
              </a:rPr>
              <a:t>•  </a:t>
            </a:r>
            <a:r>
              <a:rPr dirty="0" sz="1000" lang="en-US">
                <a:solidFill>
                  <a:srgbClr val="92400E"/>
                </a:solidFill>
                <a:latin typeface="Calibri" pitchFamily="34" charset="0"/>
                <a:ea typeface="Calibri" pitchFamily="34" charset="-122"/>
                <a:cs typeface="Calibri" pitchFamily="34" charset="-120"/>
              </a:rPr>
              <a:t>Tested on iPhone 13 mini + Tecno Camon 19 only</a:t>
            </a:r>
            <a:endParaRPr dirty="0" sz="100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36" name=""/>
        <p:cNvGrpSpPr/>
        <p:nvPr/>
      </p:nvGrpSpPr>
      <p:grpSpPr>
        <a:xfrm>
          <a:off x="0" y="0"/>
          <a:ext cx="0" cy="0"/>
          <a:chOff x="0" y="0"/>
          <a:chExt cx="0" cy="0"/>
        </a:xfrm>
      </p:grpSpPr>
      <p:pic>
        <p:nvPicPr>
          <p:cNvPr id="2097159" name="Image 0" descr="/mnt/user-data/uploads/IMG-20260517-WA0000.jpg"/>
          <p:cNvPicPr>
            <a:picLocks noChangeAspect="1"/>
          </p:cNvPicPr>
          <p:nvPr/>
        </p:nvPicPr>
        <p:blipFill>
          <a:blip xmlns:r="http://schemas.openxmlformats.org/officeDocument/2006/relationships" r:embed="rId1"/>
          <a:stretch>
            <a:fillRect/>
          </a:stretch>
        </p:blipFill>
        <p:spPr>
          <a:xfrm>
            <a:off x="7955280" y="91440"/>
            <a:ext cx="1005840" cy="1005840"/>
          </a:xfrm>
          <a:prstGeom prst="rect"/>
        </p:spPr>
      </p:pic>
      <p:sp>
        <p:nvSpPr>
          <p:cNvPr id="1048749" name="Text 0"/>
          <p:cNvSpPr/>
          <p:nvPr/>
        </p:nvSpPr>
        <p:spPr>
          <a:xfrm>
            <a:off x="411480" y="201168"/>
            <a:ext cx="3657600" cy="228600"/>
          </a:xfrm>
          <a:prstGeom prst="rect"/>
          <a:noFill/>
        </p:spPr>
        <p:txBody>
          <a:bodyPr anchor="ctr" bIns="0" lIns="0" rIns="0" rtlCol="0" tIns="0" wrap="square"/>
          <a:p>
            <a:pPr indent="0" marL="0">
              <a:buNone/>
            </a:pPr>
            <a:r>
              <a:rPr dirty="0" sz="900" kern="0" lang="en-US" spc="400">
                <a:solidFill>
                  <a:srgbClr val="94A3B8"/>
                </a:solidFill>
                <a:latin typeface="Calibri" pitchFamily="34" charset="0"/>
                <a:ea typeface="Calibri" pitchFamily="34" charset="-122"/>
                <a:cs typeface="Calibri" pitchFamily="34" charset="-120"/>
              </a:rPr>
              <a:t>METRICS &amp; SUCCESS</a:t>
            </a:r>
            <a:endParaRPr dirty="0" sz="900" lang="en-US"/>
          </a:p>
        </p:txBody>
      </p:sp>
      <p:sp>
        <p:nvSpPr>
          <p:cNvPr id="1048750" name="Text 1"/>
          <p:cNvSpPr/>
          <p:nvPr/>
        </p:nvSpPr>
        <p:spPr>
          <a:xfrm>
            <a:off x="411480" y="438912"/>
            <a:ext cx="6400800" cy="475488"/>
          </a:xfrm>
          <a:prstGeom prst="rect"/>
          <a:noFill/>
        </p:spPr>
        <p:txBody>
          <a:bodyPr anchor="ctr" bIns="0" lIns="0" rIns="0" rtlCol="0" tIns="0" wrap="square"/>
          <a:p>
            <a:pPr indent="0" marL="0">
              <a:buNone/>
            </a:pPr>
            <a:r>
              <a:rPr b="1" dirty="0" sz="2600" lang="en-US">
                <a:solidFill>
                  <a:srgbClr val="0A1E3F"/>
                </a:solidFill>
                <a:latin typeface="Calibri" pitchFamily="34" charset="0"/>
                <a:ea typeface="Calibri" pitchFamily="34" charset="-122"/>
                <a:cs typeface="Calibri" pitchFamily="34" charset="-120"/>
              </a:rPr>
              <a:t>How we know LifeLine is working.</a:t>
            </a:r>
            <a:endParaRPr dirty="0" sz="2600" lang="en-US"/>
          </a:p>
        </p:txBody>
      </p:sp>
      <p:sp>
        <p:nvSpPr>
          <p:cNvPr id="1048751" name="Shape 2"/>
          <p:cNvSpPr/>
          <p:nvPr/>
        </p:nvSpPr>
        <p:spPr>
          <a:xfrm>
            <a:off x="411480" y="1051560"/>
            <a:ext cx="3200400" cy="3154680"/>
          </a:xfrm>
          <a:prstGeom prst="rect"/>
          <a:solidFill>
            <a:srgbClr val="0A1E3F"/>
          </a:solidFill>
          <a:ln w="12700">
            <a:solidFill>
              <a:srgbClr val="0A1E3F"/>
            </a:solidFill>
            <a:prstDash val="solid"/>
          </a:ln>
        </p:spPr>
      </p:sp>
      <p:sp>
        <p:nvSpPr>
          <p:cNvPr id="1048752" name="Text 3"/>
          <p:cNvSpPr/>
          <p:nvPr/>
        </p:nvSpPr>
        <p:spPr>
          <a:xfrm>
            <a:off x="530352" y="1170432"/>
            <a:ext cx="2926080" cy="502920"/>
          </a:xfrm>
          <a:prstGeom prst="rect"/>
          <a:noFill/>
        </p:spPr>
        <p:txBody>
          <a:bodyPr anchor="ctr" bIns="0" lIns="0" rIns="0" rtlCol="0" tIns="0" wrap="square"/>
          <a:p>
            <a:pPr indent="0" marL="0">
              <a:buNone/>
            </a:pPr>
            <a:r>
              <a:rPr b="1" dirty="0" sz="1100" kern="0" lang="en-US" spc="200">
                <a:solidFill>
                  <a:srgbClr val="2DD4BF"/>
                </a:solidFill>
                <a:latin typeface="Calibri" pitchFamily="34" charset="0"/>
                <a:ea typeface="Calibri" pitchFamily="34" charset="-122"/>
                <a:cs typeface="Calibri" pitchFamily="34" charset="-120"/>
              </a:rPr>
              <a:t>NORTH STAR</a:t>
            </a:r>
            <a:endParaRPr dirty="0" sz="1100" lang="en-US"/>
          </a:p>
          <a:p>
            <a:pPr indent="0" marL="0">
              <a:buNone/>
            </a:pPr>
            <a:r>
              <a:rPr b="1" dirty="0" sz="1100" kern="0" lang="en-US" spc="200">
                <a:solidFill>
                  <a:srgbClr val="2DD4BF"/>
                </a:solidFill>
                <a:latin typeface="Calibri" pitchFamily="34" charset="0"/>
                <a:ea typeface="Calibri" pitchFamily="34" charset="-122"/>
                <a:cs typeface="Calibri" pitchFamily="34" charset="-120"/>
              </a:rPr>
              <a:t>METRIC</a:t>
            </a:r>
            <a:endParaRPr dirty="0" sz="1100" lang="en-US"/>
          </a:p>
        </p:txBody>
      </p:sp>
      <p:sp>
        <p:nvSpPr>
          <p:cNvPr id="1048753" name="Text 4"/>
          <p:cNvSpPr/>
          <p:nvPr/>
        </p:nvSpPr>
        <p:spPr>
          <a:xfrm>
            <a:off x="411480" y="1664208"/>
            <a:ext cx="3200400" cy="1097280"/>
          </a:xfrm>
          <a:prstGeom prst="rect"/>
          <a:noFill/>
        </p:spPr>
        <p:txBody>
          <a:bodyPr anchor="ctr" bIns="0" lIns="0" rIns="0" rtlCol="0" tIns="0" wrap="square"/>
          <a:p>
            <a:pPr algn="ctr" indent="0" marL="0">
              <a:buNone/>
            </a:pPr>
            <a:r>
              <a:rPr b="1" dirty="0" sz="7200" lang="en-US">
                <a:solidFill>
                  <a:srgbClr val="FFFFFF"/>
                </a:solidFill>
                <a:latin typeface="Calibri" pitchFamily="34" charset="0"/>
                <a:ea typeface="Calibri" pitchFamily="34" charset="-122"/>
                <a:cs typeface="Calibri" pitchFamily="34" charset="-120"/>
              </a:rPr>
              <a:t>90%</a:t>
            </a:r>
            <a:endParaRPr dirty="0" sz="7200" lang="en-US"/>
          </a:p>
        </p:txBody>
      </p:sp>
      <p:sp>
        <p:nvSpPr>
          <p:cNvPr id="1048754" name="Shape 5"/>
          <p:cNvSpPr/>
          <p:nvPr/>
        </p:nvSpPr>
        <p:spPr>
          <a:xfrm>
            <a:off x="530352" y="2788920"/>
            <a:ext cx="2926080" cy="9144"/>
          </a:xfrm>
          <a:prstGeom prst="rect"/>
          <a:solidFill>
            <a:srgbClr val="2DD4BF"/>
          </a:solidFill>
          <a:ln w="12700">
            <a:solidFill>
              <a:srgbClr val="2DD4BF"/>
            </a:solidFill>
            <a:prstDash val="solid"/>
          </a:ln>
        </p:spPr>
      </p:sp>
      <p:sp>
        <p:nvSpPr>
          <p:cNvPr id="1048755" name="Text 6"/>
          <p:cNvSpPr/>
          <p:nvPr/>
        </p:nvSpPr>
        <p:spPr>
          <a:xfrm>
            <a:off x="502920" y="2834640"/>
            <a:ext cx="3017520" cy="548640"/>
          </a:xfrm>
          <a:prstGeom prst="rect"/>
          <a:noFill/>
        </p:spPr>
        <p:txBody>
          <a:bodyPr anchor="ctr" bIns="0" lIns="0" rIns="0" rtlCol="0" tIns="0" wrap="square"/>
          <a:p>
            <a:pPr algn="ctr" indent="0" marL="0">
              <a:buNone/>
            </a:pPr>
            <a:r>
              <a:rPr dirty="0" sz="1150" i="1" lang="en-US">
                <a:solidFill>
                  <a:srgbClr val="8BBDD9"/>
                </a:solidFill>
                <a:latin typeface="Calibri" pitchFamily="34" charset="0"/>
                <a:ea typeface="Calibri" pitchFamily="34" charset="-122"/>
                <a:cs typeface="Calibri" pitchFamily="34" charset="-120"/>
              </a:rPr>
              <a:t>% of journeys ending in</a:t>
            </a:r>
            <a:endParaRPr dirty="0" sz="1150" lang="en-US"/>
          </a:p>
          <a:p>
            <a:pPr algn="ctr" indent="0" marL="0">
              <a:buNone/>
            </a:pPr>
            <a:r>
              <a:rPr dirty="0" sz="1150" i="1" lang="en-US">
                <a:solidFill>
                  <a:srgbClr val="8BBDD9"/>
                </a:solidFill>
                <a:latin typeface="Calibri" pitchFamily="34" charset="0"/>
                <a:ea typeface="Calibri" pitchFamily="34" charset="-122"/>
                <a:cs typeface="Calibri" pitchFamily="34" charset="-120"/>
              </a:rPr>
              <a:t>successful safe-arrival confirmation</a:t>
            </a:r>
            <a:endParaRPr dirty="0" sz="1150" lang="en-US"/>
          </a:p>
        </p:txBody>
      </p:sp>
      <p:sp>
        <p:nvSpPr>
          <p:cNvPr id="1048756" name="Shape 7"/>
          <p:cNvSpPr/>
          <p:nvPr/>
        </p:nvSpPr>
        <p:spPr>
          <a:xfrm>
            <a:off x="411480" y="3703320"/>
            <a:ext cx="3200400" cy="411480"/>
          </a:xfrm>
          <a:prstGeom prst="rect"/>
          <a:solidFill>
            <a:srgbClr val="10B981"/>
          </a:solidFill>
          <a:ln w="12700">
            <a:solidFill>
              <a:srgbClr val="10B981"/>
            </a:solidFill>
            <a:prstDash val="solid"/>
          </a:ln>
        </p:spPr>
      </p:sp>
      <p:sp>
        <p:nvSpPr>
          <p:cNvPr id="1048757" name="Text 8"/>
          <p:cNvSpPr/>
          <p:nvPr/>
        </p:nvSpPr>
        <p:spPr>
          <a:xfrm>
            <a:off x="475488" y="3730752"/>
            <a:ext cx="3063240" cy="347472"/>
          </a:xfrm>
          <a:prstGeom prst="rect"/>
          <a:noFill/>
        </p:spPr>
        <p:txBody>
          <a:bodyPr anchor="ctr" bIns="0" lIns="0" rIns="0" rtlCol="0" tIns="0" wrap="square"/>
          <a:p>
            <a:pPr indent="0" marL="0">
              <a:buNone/>
            </a:pPr>
            <a:r>
              <a:rPr dirty="0" sz="900" lang="en-US">
                <a:solidFill>
                  <a:srgbClr val="FFFFFF"/>
                </a:solidFill>
                <a:latin typeface="Calibri" pitchFamily="34" charset="0"/>
                <a:ea typeface="Calibri" pitchFamily="34" charset="-122"/>
                <a:cs typeface="Calibri" pitchFamily="34" charset="-120"/>
              </a:rPr>
              <a:t>V2+ NSM: Safety Interactions per Active User per week</a:t>
            </a:r>
            <a:endParaRPr dirty="0" sz="900" lang="en-US"/>
          </a:p>
        </p:txBody>
      </p:sp>
      <p:sp>
        <p:nvSpPr>
          <p:cNvPr id="1048758" name="Shape 9"/>
          <p:cNvSpPr/>
          <p:nvPr/>
        </p:nvSpPr>
        <p:spPr>
          <a:xfrm>
            <a:off x="3794760" y="1051560"/>
            <a:ext cx="1600200" cy="2697480"/>
          </a:xfrm>
          <a:prstGeom prst="rect"/>
          <a:solidFill>
            <a:srgbClr val="F1F5F9"/>
          </a:solidFill>
          <a:ln w="12700">
            <a:solidFill>
              <a:srgbClr val="94A3B8"/>
            </a:solidFill>
            <a:prstDash val="solid"/>
          </a:ln>
        </p:spPr>
      </p:sp>
      <p:sp>
        <p:nvSpPr>
          <p:cNvPr id="1048759" name="Shape 10"/>
          <p:cNvSpPr/>
          <p:nvPr/>
        </p:nvSpPr>
        <p:spPr>
          <a:xfrm>
            <a:off x="3794760" y="1051560"/>
            <a:ext cx="1600200" cy="274320"/>
          </a:xfrm>
          <a:prstGeom prst="rect"/>
          <a:solidFill>
            <a:srgbClr val="2DD4BF"/>
          </a:solidFill>
          <a:ln w="12700">
            <a:solidFill>
              <a:srgbClr val="2DD4BF"/>
            </a:solidFill>
            <a:prstDash val="solid"/>
          </a:ln>
        </p:spPr>
      </p:sp>
      <p:sp>
        <p:nvSpPr>
          <p:cNvPr id="1048760" name="Text 11"/>
          <p:cNvSpPr/>
          <p:nvPr/>
        </p:nvSpPr>
        <p:spPr>
          <a:xfrm>
            <a:off x="3867912" y="1078992"/>
            <a:ext cx="1463040" cy="228600"/>
          </a:xfrm>
          <a:prstGeom prst="rect"/>
          <a:noFill/>
        </p:spPr>
        <p:txBody>
          <a:bodyPr anchor="ctr" bIns="0" lIns="0" rIns="0" rtlCol="0" tIns="0" wrap="square"/>
          <a:p>
            <a:pPr indent="0" marL="0">
              <a:buNone/>
            </a:pPr>
            <a:r>
              <a:rPr b="1" dirty="0" sz="800" lang="en-US">
                <a:solidFill>
                  <a:srgbClr val="FFFFFF"/>
                </a:solidFill>
                <a:latin typeface="Calibri" pitchFamily="34" charset="0"/>
                <a:ea typeface="Calibri" pitchFamily="34" charset="-122"/>
                <a:cs typeface="Calibri" pitchFamily="34" charset="-120"/>
              </a:rPr>
              <a:t>ACTIVATION RATE</a:t>
            </a:r>
            <a:endParaRPr dirty="0" sz="800" lang="en-US"/>
          </a:p>
        </p:txBody>
      </p:sp>
      <p:sp>
        <p:nvSpPr>
          <p:cNvPr id="1048761" name="Text 12"/>
          <p:cNvSpPr/>
          <p:nvPr/>
        </p:nvSpPr>
        <p:spPr>
          <a:xfrm>
            <a:off x="3867912" y="1417320"/>
            <a:ext cx="1463040" cy="914400"/>
          </a:xfrm>
          <a:prstGeom prst="rect"/>
          <a:noFill/>
        </p:spPr>
        <p:txBody>
          <a:bodyPr anchor="ctr" bIns="0" lIns="0" rIns="0" rtlCol="0" tIns="0" wrap="square"/>
          <a:p>
            <a:pPr algn="ctr" indent="0" marL="0">
              <a:buNone/>
            </a:pPr>
            <a:r>
              <a:rPr b="1" dirty="0" sz="3800" lang="en-US">
                <a:solidFill>
                  <a:srgbClr val="0A1E3F"/>
                </a:solidFill>
                <a:latin typeface="Calibri" pitchFamily="34" charset="0"/>
                <a:ea typeface="Calibri" pitchFamily="34" charset="-122"/>
                <a:cs typeface="Calibri" pitchFamily="34" charset="-120"/>
              </a:rPr>
              <a:t>70%</a:t>
            </a:r>
            <a:endParaRPr dirty="0" sz="3800" lang="en-US"/>
          </a:p>
        </p:txBody>
      </p:sp>
      <p:sp>
        <p:nvSpPr>
          <p:cNvPr id="1048762" name="Text 13"/>
          <p:cNvSpPr/>
          <p:nvPr/>
        </p:nvSpPr>
        <p:spPr>
          <a:xfrm>
            <a:off x="3886200" y="2423160"/>
            <a:ext cx="1417320" cy="1234440"/>
          </a:xfrm>
          <a:prstGeom prst="rect"/>
          <a:noFill/>
        </p:spPr>
        <p:txBody>
          <a:bodyPr anchor="ctr" bIns="0" lIns="0" rIns="0" rtlCol="0" tIns="0" wrap="square"/>
          <a:p>
            <a:pPr indent="0" marL="0">
              <a:buNone/>
            </a:pPr>
            <a:r>
              <a:rPr dirty="0" sz="1050" lang="en-US">
                <a:solidFill>
                  <a:srgbClr val="334155"/>
                </a:solidFill>
                <a:latin typeface="Calibri" pitchFamily="34" charset="0"/>
                <a:ea typeface="Calibri" pitchFamily="34" charset="-122"/>
                <a:cs typeface="Calibri" pitchFamily="34" charset="-120"/>
              </a:rPr>
              <a:t>New users who complete onboarding + add ≥1 contact</a:t>
            </a:r>
            <a:endParaRPr dirty="0" sz="1050" lang="en-US"/>
          </a:p>
        </p:txBody>
      </p:sp>
      <p:sp>
        <p:nvSpPr>
          <p:cNvPr id="1048763" name="Shape 14"/>
          <p:cNvSpPr/>
          <p:nvPr/>
        </p:nvSpPr>
        <p:spPr>
          <a:xfrm>
            <a:off x="5577840" y="1051560"/>
            <a:ext cx="1600200" cy="2697480"/>
          </a:xfrm>
          <a:prstGeom prst="rect"/>
          <a:solidFill>
            <a:srgbClr val="F1F5F9"/>
          </a:solidFill>
          <a:ln w="12700">
            <a:solidFill>
              <a:srgbClr val="94A3B8"/>
            </a:solidFill>
            <a:prstDash val="solid"/>
          </a:ln>
        </p:spPr>
      </p:sp>
      <p:sp>
        <p:nvSpPr>
          <p:cNvPr id="1048764" name="Shape 15"/>
          <p:cNvSpPr/>
          <p:nvPr/>
        </p:nvSpPr>
        <p:spPr>
          <a:xfrm>
            <a:off x="5577840" y="1051560"/>
            <a:ext cx="1600200" cy="274320"/>
          </a:xfrm>
          <a:prstGeom prst="rect"/>
          <a:solidFill>
            <a:srgbClr val="3B82F6"/>
          </a:solidFill>
          <a:ln w="12700">
            <a:solidFill>
              <a:srgbClr val="3B82F6"/>
            </a:solidFill>
            <a:prstDash val="solid"/>
          </a:ln>
        </p:spPr>
      </p:sp>
      <p:sp>
        <p:nvSpPr>
          <p:cNvPr id="1048765" name="Text 16"/>
          <p:cNvSpPr/>
          <p:nvPr/>
        </p:nvSpPr>
        <p:spPr>
          <a:xfrm>
            <a:off x="5650992" y="1078992"/>
            <a:ext cx="1463040" cy="228600"/>
          </a:xfrm>
          <a:prstGeom prst="rect"/>
          <a:noFill/>
        </p:spPr>
        <p:txBody>
          <a:bodyPr anchor="ctr" bIns="0" lIns="0" rIns="0" rtlCol="0" tIns="0" wrap="square"/>
          <a:p>
            <a:pPr indent="0" marL="0">
              <a:buNone/>
            </a:pPr>
            <a:r>
              <a:rPr b="1" dirty="0" sz="800" lang="en-US">
                <a:solidFill>
                  <a:srgbClr val="FFFFFF"/>
                </a:solidFill>
                <a:latin typeface="Calibri" pitchFamily="34" charset="0"/>
                <a:ea typeface="Calibri" pitchFamily="34" charset="-122"/>
                <a:cs typeface="Calibri" pitchFamily="34" charset="-120"/>
              </a:rPr>
              <a:t>DAILY HABIT</a:t>
            </a:r>
            <a:endParaRPr dirty="0" sz="800" lang="en-US"/>
          </a:p>
        </p:txBody>
      </p:sp>
      <p:sp>
        <p:nvSpPr>
          <p:cNvPr id="1048766" name="Text 17"/>
          <p:cNvSpPr/>
          <p:nvPr/>
        </p:nvSpPr>
        <p:spPr>
          <a:xfrm>
            <a:off x="5650992" y="1417320"/>
            <a:ext cx="1463040" cy="914400"/>
          </a:xfrm>
          <a:prstGeom prst="rect"/>
          <a:noFill/>
        </p:spPr>
        <p:txBody>
          <a:bodyPr anchor="ctr" bIns="0" lIns="0" rIns="0" rtlCol="0" tIns="0" wrap="square"/>
          <a:p>
            <a:pPr algn="ctr" indent="0" marL="0">
              <a:buNone/>
            </a:pPr>
            <a:r>
              <a:rPr b="1" dirty="0" sz="3800" lang="en-US">
                <a:solidFill>
                  <a:srgbClr val="0A1E3F"/>
                </a:solidFill>
                <a:latin typeface="Calibri" pitchFamily="34" charset="0"/>
                <a:ea typeface="Calibri" pitchFamily="34" charset="-122"/>
                <a:cs typeface="Calibri" pitchFamily="34" charset="-120"/>
              </a:rPr>
              <a:t>3×/wk</a:t>
            </a:r>
            <a:endParaRPr dirty="0" sz="3800" lang="en-US"/>
          </a:p>
        </p:txBody>
      </p:sp>
      <p:sp>
        <p:nvSpPr>
          <p:cNvPr id="1048767" name="Text 18"/>
          <p:cNvSpPr/>
          <p:nvPr/>
        </p:nvSpPr>
        <p:spPr>
          <a:xfrm>
            <a:off x="5669280" y="2423160"/>
            <a:ext cx="1417320" cy="1234440"/>
          </a:xfrm>
          <a:prstGeom prst="rect"/>
          <a:noFill/>
        </p:spPr>
        <p:txBody>
          <a:bodyPr anchor="ctr" bIns="0" lIns="0" rIns="0" rtlCol="0" tIns="0" wrap="square"/>
          <a:p>
            <a:pPr indent="0" marL="0">
              <a:buNone/>
            </a:pPr>
            <a:r>
              <a:rPr dirty="0" sz="1050" lang="en-US">
                <a:solidFill>
                  <a:srgbClr val="334155"/>
                </a:solidFill>
                <a:latin typeface="Calibri" pitchFamily="34" charset="0"/>
                <a:ea typeface="Calibri" pitchFamily="34" charset="-122"/>
                <a:cs typeface="Calibri" pitchFamily="34" charset="-120"/>
              </a:rPr>
              <a:t>Safe-arrival sessions per active user per week</a:t>
            </a:r>
            <a:endParaRPr dirty="0" sz="1050" lang="en-US"/>
          </a:p>
        </p:txBody>
      </p:sp>
      <p:sp>
        <p:nvSpPr>
          <p:cNvPr id="1048768" name="Shape 19"/>
          <p:cNvSpPr/>
          <p:nvPr/>
        </p:nvSpPr>
        <p:spPr>
          <a:xfrm>
            <a:off x="7360920" y="1051560"/>
            <a:ext cx="1600200" cy="2697480"/>
          </a:xfrm>
          <a:prstGeom prst="rect"/>
          <a:solidFill>
            <a:srgbClr val="F1F5F9"/>
          </a:solidFill>
          <a:ln w="12700">
            <a:solidFill>
              <a:srgbClr val="94A3B8"/>
            </a:solidFill>
            <a:prstDash val="solid"/>
          </a:ln>
        </p:spPr>
      </p:sp>
      <p:sp>
        <p:nvSpPr>
          <p:cNvPr id="1048769" name="Shape 20"/>
          <p:cNvSpPr/>
          <p:nvPr/>
        </p:nvSpPr>
        <p:spPr>
          <a:xfrm>
            <a:off x="7360920" y="1051560"/>
            <a:ext cx="1600200" cy="274320"/>
          </a:xfrm>
          <a:prstGeom prst="rect"/>
          <a:solidFill>
            <a:srgbClr val="10B981"/>
          </a:solidFill>
          <a:ln w="12700">
            <a:solidFill>
              <a:srgbClr val="10B981"/>
            </a:solidFill>
            <a:prstDash val="solid"/>
          </a:ln>
        </p:spPr>
      </p:sp>
      <p:sp>
        <p:nvSpPr>
          <p:cNvPr id="1048770" name="Text 21"/>
          <p:cNvSpPr/>
          <p:nvPr/>
        </p:nvSpPr>
        <p:spPr>
          <a:xfrm>
            <a:off x="7434072" y="1078992"/>
            <a:ext cx="1463040" cy="228600"/>
          </a:xfrm>
          <a:prstGeom prst="rect"/>
          <a:noFill/>
        </p:spPr>
        <p:txBody>
          <a:bodyPr anchor="ctr" bIns="0" lIns="0" rIns="0" rtlCol="0" tIns="0" wrap="square"/>
          <a:p>
            <a:pPr indent="0" marL="0">
              <a:buNone/>
            </a:pPr>
            <a:r>
              <a:rPr b="1" dirty="0" sz="800" lang="en-US">
                <a:solidFill>
                  <a:srgbClr val="FFFFFF"/>
                </a:solidFill>
                <a:latin typeface="Calibri" pitchFamily="34" charset="0"/>
                <a:ea typeface="Calibri" pitchFamily="34" charset="-122"/>
                <a:cs typeface="Calibri" pitchFamily="34" charset="-120"/>
              </a:rPr>
              <a:t>EMERGENCY EFFECTIVENESS</a:t>
            </a:r>
            <a:endParaRPr dirty="0" sz="800" lang="en-US"/>
          </a:p>
        </p:txBody>
      </p:sp>
      <p:sp>
        <p:nvSpPr>
          <p:cNvPr id="1048771" name="Text 22"/>
          <p:cNvSpPr/>
          <p:nvPr/>
        </p:nvSpPr>
        <p:spPr>
          <a:xfrm>
            <a:off x="7434072" y="1417320"/>
            <a:ext cx="1463040" cy="914400"/>
          </a:xfrm>
          <a:prstGeom prst="rect"/>
          <a:noFill/>
        </p:spPr>
        <p:txBody>
          <a:bodyPr anchor="ctr" bIns="0" lIns="0" rIns="0" rtlCol="0" tIns="0" wrap="square"/>
          <a:p>
            <a:pPr algn="ctr" indent="0" marL="0">
              <a:buNone/>
            </a:pPr>
            <a:r>
              <a:rPr b="1" dirty="0" sz="3800" lang="en-US">
                <a:solidFill>
                  <a:srgbClr val="0A1E3F"/>
                </a:solidFill>
                <a:latin typeface="Calibri" pitchFamily="34" charset="0"/>
                <a:ea typeface="Calibri" pitchFamily="34" charset="-122"/>
                <a:cs typeface="Calibri" pitchFamily="34" charset="-120"/>
              </a:rPr>
              <a:t>80%</a:t>
            </a:r>
            <a:endParaRPr dirty="0" sz="3800" lang="en-US"/>
          </a:p>
        </p:txBody>
      </p:sp>
      <p:sp>
        <p:nvSpPr>
          <p:cNvPr id="1048772" name="Text 23"/>
          <p:cNvSpPr/>
          <p:nvPr/>
        </p:nvSpPr>
        <p:spPr>
          <a:xfrm>
            <a:off x="7452360" y="2423160"/>
            <a:ext cx="1417320" cy="1234440"/>
          </a:xfrm>
          <a:prstGeom prst="rect"/>
          <a:noFill/>
        </p:spPr>
        <p:txBody>
          <a:bodyPr anchor="ctr" bIns="0" lIns="0" rIns="0" rtlCol="0" tIns="0" wrap="square"/>
          <a:p>
            <a:pPr indent="0" marL="0">
              <a:buNone/>
            </a:pPr>
            <a:r>
              <a:rPr dirty="0" sz="1050" lang="en-US">
                <a:solidFill>
                  <a:srgbClr val="334155"/>
                </a:solidFill>
                <a:latin typeface="Calibri" pitchFamily="34" charset="0"/>
                <a:ea typeface="Calibri" pitchFamily="34" charset="-122"/>
                <a:cs typeface="Calibri" pitchFamily="34" charset="-120"/>
              </a:rPr>
              <a:t>SOS alerts where contact responds within 2 minutes</a:t>
            </a:r>
            <a:endParaRPr dirty="0" sz="1050" lang="en-US"/>
          </a:p>
        </p:txBody>
      </p:sp>
      <p:sp>
        <p:nvSpPr>
          <p:cNvPr id="1048773" name="Shape 24"/>
          <p:cNvSpPr/>
          <p:nvPr/>
        </p:nvSpPr>
        <p:spPr>
          <a:xfrm>
            <a:off x="3794760" y="3840480"/>
            <a:ext cx="4937760" cy="502920"/>
          </a:xfrm>
          <a:prstGeom prst="rect"/>
          <a:solidFill>
            <a:srgbClr val="FEF2F2"/>
          </a:solidFill>
          <a:ln w="12700">
            <a:solidFill>
              <a:srgbClr val="FECACA"/>
            </a:solidFill>
            <a:prstDash val="solid"/>
          </a:ln>
        </p:spPr>
      </p:sp>
      <p:sp>
        <p:nvSpPr>
          <p:cNvPr id="1048774" name="Text 25"/>
          <p:cNvSpPr/>
          <p:nvPr/>
        </p:nvSpPr>
        <p:spPr>
          <a:xfrm>
            <a:off x="3886200" y="3886200"/>
            <a:ext cx="4754880" cy="411480"/>
          </a:xfrm>
          <a:prstGeom prst="rect"/>
          <a:noFill/>
        </p:spPr>
        <p:txBody>
          <a:bodyPr anchor="ctr" bIns="0" lIns="0" rIns="0" rtlCol="0" tIns="0" wrap="square"/>
          <a:p>
            <a:pPr indent="0" marL="0">
              <a:buNone/>
            </a:pPr>
            <a:r>
              <a:rPr b="1" dirty="0" sz="1000" lang="en-US">
                <a:solidFill>
                  <a:srgbClr val="EF4444"/>
                </a:solidFill>
                <a:latin typeface="Calibri" pitchFamily="34" charset="0"/>
                <a:ea typeface="Calibri" pitchFamily="34" charset="-122"/>
                <a:cs typeface="Calibri" pitchFamily="34" charset="-120"/>
              </a:rPr>
              <a:t>Guard metric: </a:t>
            </a:r>
            <a:r>
              <a:rPr dirty="0" sz="1000" lang="en-US">
                <a:solidFill>
                  <a:srgbClr val="334155"/>
                </a:solidFill>
                <a:latin typeface="Calibri" pitchFamily="34" charset="0"/>
                <a:ea typeface="Calibri" pitchFamily="34" charset="-122"/>
                <a:cs typeface="Calibri" pitchFamily="34" charset="-120"/>
              </a:rPr>
              <a:t>False-positive rate &lt; 15%  ·  Alert delivery &lt; 5s (V2)  ·  Dashboard mocked in Metrics Plan v2 §6</a:t>
            </a:r>
            <a:endParaRPr dirty="0" sz="1000"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39" name=""/>
        <p:cNvGrpSpPr/>
        <p:nvPr/>
      </p:nvGrpSpPr>
      <p:grpSpPr>
        <a:xfrm>
          <a:off x="0" y="0"/>
          <a:ext cx="0" cy="0"/>
          <a:chOff x="0" y="0"/>
          <a:chExt cx="0" cy="0"/>
        </a:xfrm>
      </p:grpSpPr>
      <p:pic>
        <p:nvPicPr>
          <p:cNvPr id="2097160" name="Image 0" descr="/mnt/user-data/uploads/IMG-20260517-WA0000.jpg"/>
          <p:cNvPicPr>
            <a:picLocks noChangeAspect="1"/>
          </p:cNvPicPr>
          <p:nvPr/>
        </p:nvPicPr>
        <p:blipFill>
          <a:blip xmlns:r="http://schemas.openxmlformats.org/officeDocument/2006/relationships" r:embed="rId1"/>
          <a:stretch>
            <a:fillRect/>
          </a:stretch>
        </p:blipFill>
        <p:spPr>
          <a:xfrm>
            <a:off x="7955280" y="91440"/>
            <a:ext cx="1005840" cy="1005840"/>
          </a:xfrm>
          <a:prstGeom prst="rect"/>
        </p:spPr>
      </p:pic>
      <p:sp>
        <p:nvSpPr>
          <p:cNvPr id="1048778" name="Text 0"/>
          <p:cNvSpPr/>
          <p:nvPr/>
        </p:nvSpPr>
        <p:spPr>
          <a:xfrm>
            <a:off x="411480" y="201168"/>
            <a:ext cx="3657600" cy="228600"/>
          </a:xfrm>
          <a:prstGeom prst="rect"/>
          <a:noFill/>
        </p:spPr>
        <p:txBody>
          <a:bodyPr anchor="ctr" bIns="0" lIns="0" rIns="0" rtlCol="0" tIns="0" wrap="square"/>
          <a:p>
            <a:pPr indent="0" marL="0">
              <a:buNone/>
            </a:pPr>
            <a:r>
              <a:rPr dirty="0" sz="900" kern="0" lang="en-US" spc="400">
                <a:solidFill>
                  <a:srgbClr val="94A3B8"/>
                </a:solidFill>
                <a:latin typeface="Calibri" pitchFamily="34" charset="0"/>
                <a:ea typeface="Calibri" pitchFamily="34" charset="-122"/>
                <a:cs typeface="Calibri" pitchFamily="34" charset="-120"/>
              </a:rPr>
              <a:t>GTM &amp; ROADMAP</a:t>
            </a:r>
            <a:endParaRPr dirty="0" sz="900" lang="en-US"/>
          </a:p>
        </p:txBody>
      </p:sp>
      <p:sp>
        <p:nvSpPr>
          <p:cNvPr id="1048779" name="Text 1"/>
          <p:cNvSpPr/>
          <p:nvPr/>
        </p:nvSpPr>
        <p:spPr>
          <a:xfrm>
            <a:off x="411480" y="438912"/>
            <a:ext cx="7589520" cy="475488"/>
          </a:xfrm>
          <a:prstGeom prst="rect"/>
          <a:noFill/>
        </p:spPr>
        <p:txBody>
          <a:bodyPr anchor="ctr" bIns="0" lIns="0" rIns="0" rtlCol="0" tIns="0" wrap="square"/>
          <a:p>
            <a:pPr indent="0" marL="0">
              <a:buNone/>
            </a:pPr>
            <a:r>
              <a:rPr b="1" dirty="0" sz="2600" lang="en-US">
                <a:solidFill>
                  <a:srgbClr val="0A1E3F"/>
                </a:solidFill>
                <a:latin typeface="Calibri" pitchFamily="34" charset="0"/>
                <a:ea typeface="Calibri" pitchFamily="34" charset="-122"/>
                <a:cs typeface="Calibri" pitchFamily="34" charset="-120"/>
              </a:rPr>
              <a:t>From UNN pilot to nationwide platform.</a:t>
            </a:r>
            <a:endParaRPr dirty="0" sz="2600" lang="en-US"/>
          </a:p>
        </p:txBody>
      </p:sp>
      <p:sp>
        <p:nvSpPr>
          <p:cNvPr id="1048780" name="Text 2"/>
          <p:cNvSpPr/>
          <p:nvPr/>
        </p:nvSpPr>
        <p:spPr>
          <a:xfrm>
            <a:off x="411480" y="1051560"/>
            <a:ext cx="4114800" cy="228600"/>
          </a:xfrm>
          <a:prstGeom prst="rect"/>
          <a:noFill/>
        </p:spPr>
        <p:txBody>
          <a:bodyPr anchor="ctr" bIns="0" lIns="0" rIns="0" rtlCol="0" tIns="0" wrap="square"/>
          <a:p>
            <a:pPr indent="0" marL="0">
              <a:buNone/>
            </a:pPr>
            <a:r>
              <a:rPr b="1" dirty="0" sz="900" kern="0" lang="en-US" spc="300">
                <a:solidFill>
                  <a:srgbClr val="94A3B8"/>
                </a:solidFill>
                <a:latin typeface="Calibri" pitchFamily="34" charset="0"/>
                <a:ea typeface="Calibri" pitchFamily="34" charset="-122"/>
                <a:cs typeface="Calibri" pitchFamily="34" charset="-120"/>
              </a:rPr>
              <a:t>ACQUISITION</a:t>
            </a:r>
            <a:endParaRPr dirty="0" sz="900" lang="en-US"/>
          </a:p>
        </p:txBody>
      </p:sp>
      <p:sp>
        <p:nvSpPr>
          <p:cNvPr id="1048781" name="Shape 3"/>
          <p:cNvSpPr/>
          <p:nvPr/>
        </p:nvSpPr>
        <p:spPr>
          <a:xfrm>
            <a:off x="411480" y="1298448"/>
            <a:ext cx="1325880" cy="2103120"/>
          </a:xfrm>
          <a:prstGeom prst="rect"/>
          <a:solidFill>
            <a:srgbClr val="0A1E3F"/>
          </a:solidFill>
          <a:ln w="12700">
            <a:solidFill>
              <a:srgbClr val="0A1E3F"/>
            </a:solidFill>
            <a:prstDash val="solid"/>
          </a:ln>
        </p:spPr>
      </p:sp>
      <p:sp>
        <p:nvSpPr>
          <p:cNvPr id="1048782" name="Shape 4"/>
          <p:cNvSpPr/>
          <p:nvPr/>
        </p:nvSpPr>
        <p:spPr>
          <a:xfrm>
            <a:off x="411480" y="1298448"/>
            <a:ext cx="1325880" cy="256032"/>
          </a:xfrm>
          <a:prstGeom prst="rect"/>
          <a:solidFill>
            <a:srgbClr val="2DD4BF"/>
          </a:solidFill>
          <a:ln w="12700">
            <a:solidFill>
              <a:srgbClr val="2DD4BF"/>
            </a:solidFill>
            <a:prstDash val="solid"/>
          </a:ln>
        </p:spPr>
      </p:sp>
      <p:sp>
        <p:nvSpPr>
          <p:cNvPr id="1048783" name="Text 5"/>
          <p:cNvSpPr/>
          <p:nvPr/>
        </p:nvSpPr>
        <p:spPr>
          <a:xfrm>
            <a:off x="484632" y="1316736"/>
            <a:ext cx="1188720" cy="219456"/>
          </a:xfrm>
          <a:prstGeom prst="rect"/>
          <a:noFill/>
        </p:spPr>
        <p:txBody>
          <a:bodyPr anchor="ctr" bIns="0" lIns="0" rIns="0" rtlCol="0" tIns="0" wrap="square"/>
          <a:p>
            <a:pPr indent="0" marL="0">
              <a:buNone/>
            </a:pPr>
            <a:r>
              <a:rPr b="1" dirty="0" sz="800" lang="en-US">
                <a:solidFill>
                  <a:srgbClr val="0A1E3F"/>
                </a:solidFill>
                <a:latin typeface="Calibri" pitchFamily="34" charset="0"/>
                <a:ea typeface="Calibri" pitchFamily="34" charset="-122"/>
                <a:cs typeface="Calibri" pitchFamily="34" charset="-120"/>
              </a:rPr>
              <a:t>PRIMARY</a:t>
            </a:r>
            <a:endParaRPr dirty="0" sz="800" lang="en-US"/>
          </a:p>
        </p:txBody>
      </p:sp>
      <p:sp>
        <p:nvSpPr>
          <p:cNvPr id="1048784" name="Text 6"/>
          <p:cNvSpPr/>
          <p:nvPr/>
        </p:nvSpPr>
        <p:spPr>
          <a:xfrm>
            <a:off x="484632" y="1609344"/>
            <a:ext cx="1188720" cy="411480"/>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Campus Ambassador</a:t>
            </a:r>
            <a:endParaRPr dirty="0" sz="1100" lang="en-US"/>
          </a:p>
        </p:txBody>
      </p:sp>
      <p:sp>
        <p:nvSpPr>
          <p:cNvPr id="1048785" name="Text 7"/>
          <p:cNvSpPr/>
          <p:nvPr/>
        </p:nvSpPr>
        <p:spPr>
          <a:xfrm>
            <a:off x="484632" y="2057400"/>
            <a:ext cx="1188720" cy="1234440"/>
          </a:xfrm>
          <a:prstGeom prst="rect"/>
          <a:noFill/>
        </p:spPr>
        <p:txBody>
          <a:bodyPr anchor="ctr" bIns="0" lIns="0" rIns="0" rtlCol="0" tIns="0" wrap="square"/>
          <a:p>
            <a:pPr indent="0" marL="0">
              <a:buNone/>
            </a:pPr>
            <a:r>
              <a:rPr dirty="0" sz="950" lang="en-US">
                <a:solidFill>
                  <a:srgbClr val="A0B8D0"/>
                </a:solidFill>
                <a:latin typeface="Calibri" pitchFamily="34" charset="0"/>
                <a:ea typeface="Calibri" pitchFamily="34" charset="-122"/>
                <a:cs typeface="Calibri" pitchFamily="34" charset="-120"/>
              </a:rPr>
              <a:t>50 ambassadors at UNN. Each acquires 30–50 users. Target: 1,500–2,500 organic users.</a:t>
            </a:r>
            <a:endParaRPr dirty="0" sz="950" lang="en-US"/>
          </a:p>
        </p:txBody>
      </p:sp>
      <p:sp>
        <p:nvSpPr>
          <p:cNvPr id="1048786" name="Shape 8"/>
          <p:cNvSpPr/>
          <p:nvPr/>
        </p:nvSpPr>
        <p:spPr>
          <a:xfrm>
            <a:off x="1874520" y="1298448"/>
            <a:ext cx="1325880" cy="2103120"/>
          </a:xfrm>
          <a:prstGeom prst="rect"/>
          <a:solidFill>
            <a:srgbClr val="0F3460"/>
          </a:solidFill>
          <a:ln w="12700">
            <a:solidFill>
              <a:srgbClr val="0F3460"/>
            </a:solidFill>
            <a:prstDash val="solid"/>
          </a:ln>
        </p:spPr>
      </p:sp>
      <p:sp>
        <p:nvSpPr>
          <p:cNvPr id="1048787" name="Shape 9"/>
          <p:cNvSpPr/>
          <p:nvPr/>
        </p:nvSpPr>
        <p:spPr>
          <a:xfrm>
            <a:off x="1874520" y="1298448"/>
            <a:ext cx="1325880" cy="256032"/>
          </a:xfrm>
          <a:prstGeom prst="rect"/>
          <a:solidFill>
            <a:srgbClr val="2DD4BF"/>
          </a:solidFill>
          <a:ln w="12700">
            <a:solidFill>
              <a:srgbClr val="2DD4BF"/>
            </a:solidFill>
            <a:prstDash val="solid"/>
          </a:ln>
        </p:spPr>
      </p:sp>
      <p:sp>
        <p:nvSpPr>
          <p:cNvPr id="1048788" name="Text 10"/>
          <p:cNvSpPr/>
          <p:nvPr/>
        </p:nvSpPr>
        <p:spPr>
          <a:xfrm>
            <a:off x="1947672" y="1316736"/>
            <a:ext cx="1188720" cy="219456"/>
          </a:xfrm>
          <a:prstGeom prst="rect"/>
          <a:noFill/>
        </p:spPr>
        <p:txBody>
          <a:bodyPr anchor="ctr" bIns="0" lIns="0" rIns="0" rtlCol="0" tIns="0" wrap="square"/>
          <a:p>
            <a:pPr indent="0" marL="0">
              <a:buNone/>
            </a:pPr>
            <a:r>
              <a:rPr b="1" dirty="0" sz="800" lang="en-US">
                <a:solidFill>
                  <a:srgbClr val="0A1E3F"/>
                </a:solidFill>
                <a:latin typeface="Calibri" pitchFamily="34" charset="0"/>
                <a:ea typeface="Calibri" pitchFamily="34" charset="-122"/>
                <a:cs typeface="Calibri" pitchFamily="34" charset="-120"/>
              </a:rPr>
              <a:t>SECONDARY 1</a:t>
            </a:r>
            <a:endParaRPr dirty="0" sz="800" lang="en-US"/>
          </a:p>
        </p:txBody>
      </p:sp>
      <p:sp>
        <p:nvSpPr>
          <p:cNvPr id="1048789" name="Text 11"/>
          <p:cNvSpPr/>
          <p:nvPr/>
        </p:nvSpPr>
        <p:spPr>
          <a:xfrm>
            <a:off x="1947672" y="1609344"/>
            <a:ext cx="1188720" cy="411480"/>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Built-in Referral</a:t>
            </a:r>
            <a:endParaRPr dirty="0" sz="1100" lang="en-US"/>
          </a:p>
        </p:txBody>
      </p:sp>
      <p:sp>
        <p:nvSpPr>
          <p:cNvPr id="1048790" name="Text 12"/>
          <p:cNvSpPr/>
          <p:nvPr/>
        </p:nvSpPr>
        <p:spPr>
          <a:xfrm>
            <a:off x="1947672" y="2057400"/>
            <a:ext cx="1188720" cy="1234440"/>
          </a:xfrm>
          <a:prstGeom prst="rect"/>
          <a:noFill/>
        </p:spPr>
        <p:txBody>
          <a:bodyPr anchor="ctr" bIns="0" lIns="0" rIns="0" rtlCol="0" tIns="0" wrap="square"/>
          <a:p>
            <a:pPr indent="0" marL="0">
              <a:buNone/>
            </a:pPr>
            <a:r>
              <a:rPr dirty="0" sz="950" lang="en-US">
                <a:solidFill>
                  <a:srgbClr val="A0B8D0"/>
                </a:solidFill>
                <a:latin typeface="Calibri" pitchFamily="34" charset="0"/>
                <a:ea typeface="Calibri" pitchFamily="34" charset="-122"/>
                <a:cs typeface="Calibri" pitchFamily="34" charset="-120"/>
              </a:rPr>
              <a:t>Adding a trusted contact sends them an invite. Each user brings 3–5 contacts naturally.</a:t>
            </a:r>
            <a:endParaRPr dirty="0" sz="950" lang="en-US"/>
          </a:p>
        </p:txBody>
      </p:sp>
      <p:sp>
        <p:nvSpPr>
          <p:cNvPr id="1048791" name="Shape 13"/>
          <p:cNvSpPr/>
          <p:nvPr/>
        </p:nvSpPr>
        <p:spPr>
          <a:xfrm>
            <a:off x="3337560" y="1298448"/>
            <a:ext cx="1325880" cy="2103120"/>
          </a:xfrm>
          <a:prstGeom prst="rect"/>
          <a:solidFill>
            <a:srgbClr val="1E3A5F"/>
          </a:solidFill>
          <a:ln w="12700">
            <a:solidFill>
              <a:srgbClr val="1E3A5F"/>
            </a:solidFill>
            <a:prstDash val="solid"/>
          </a:ln>
        </p:spPr>
      </p:sp>
      <p:sp>
        <p:nvSpPr>
          <p:cNvPr id="1048792" name="Shape 14"/>
          <p:cNvSpPr/>
          <p:nvPr/>
        </p:nvSpPr>
        <p:spPr>
          <a:xfrm>
            <a:off x="3337560" y="1298448"/>
            <a:ext cx="1325880" cy="256032"/>
          </a:xfrm>
          <a:prstGeom prst="rect"/>
          <a:solidFill>
            <a:srgbClr val="2DD4BF"/>
          </a:solidFill>
          <a:ln w="12700">
            <a:solidFill>
              <a:srgbClr val="2DD4BF"/>
            </a:solidFill>
            <a:prstDash val="solid"/>
          </a:ln>
        </p:spPr>
      </p:sp>
      <p:sp>
        <p:nvSpPr>
          <p:cNvPr id="1048793" name="Text 15"/>
          <p:cNvSpPr/>
          <p:nvPr/>
        </p:nvSpPr>
        <p:spPr>
          <a:xfrm>
            <a:off x="3410712" y="1316736"/>
            <a:ext cx="1188720" cy="219456"/>
          </a:xfrm>
          <a:prstGeom prst="rect"/>
          <a:noFill/>
        </p:spPr>
        <p:txBody>
          <a:bodyPr anchor="ctr" bIns="0" lIns="0" rIns="0" rtlCol="0" tIns="0" wrap="square"/>
          <a:p>
            <a:pPr indent="0" marL="0">
              <a:buNone/>
            </a:pPr>
            <a:r>
              <a:rPr b="1" dirty="0" sz="800" lang="en-US">
                <a:solidFill>
                  <a:srgbClr val="0A1E3F"/>
                </a:solidFill>
                <a:latin typeface="Calibri" pitchFamily="34" charset="0"/>
                <a:ea typeface="Calibri" pitchFamily="34" charset="-122"/>
                <a:cs typeface="Calibri" pitchFamily="34" charset="-120"/>
              </a:rPr>
              <a:t>SECONDARY 2</a:t>
            </a:r>
            <a:endParaRPr dirty="0" sz="800" lang="en-US"/>
          </a:p>
        </p:txBody>
      </p:sp>
      <p:sp>
        <p:nvSpPr>
          <p:cNvPr id="1048794" name="Text 16"/>
          <p:cNvSpPr/>
          <p:nvPr/>
        </p:nvSpPr>
        <p:spPr>
          <a:xfrm>
            <a:off x="3410712" y="1609344"/>
            <a:ext cx="1188720" cy="411480"/>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Social Content</a:t>
            </a:r>
            <a:endParaRPr dirty="0" sz="1100" lang="en-US"/>
          </a:p>
        </p:txBody>
      </p:sp>
      <p:sp>
        <p:nvSpPr>
          <p:cNvPr id="1048795" name="Text 17"/>
          <p:cNvSpPr/>
          <p:nvPr/>
        </p:nvSpPr>
        <p:spPr>
          <a:xfrm>
            <a:off x="3410712" y="2057400"/>
            <a:ext cx="1188720" cy="1234440"/>
          </a:xfrm>
          <a:prstGeom prst="rect"/>
          <a:noFill/>
        </p:spPr>
        <p:txBody>
          <a:bodyPr anchor="ctr" bIns="0" lIns="0" rIns="0" rtlCol="0" tIns="0" wrap="square"/>
          <a:p>
            <a:pPr indent="0" marL="0">
              <a:buNone/>
            </a:pPr>
            <a:r>
              <a:rPr dirty="0" sz="950" lang="en-US">
                <a:solidFill>
                  <a:srgbClr val="A0B8D0"/>
                </a:solidFill>
                <a:latin typeface="Calibri" pitchFamily="34" charset="0"/>
                <a:ea typeface="Calibri" pitchFamily="34" charset="-122"/>
                <a:cs typeface="Calibri" pitchFamily="34" charset="-120"/>
              </a:rPr>
              <a:t>TikTok/Instagram POV safety scenarios. 3–5 posts/week. Low cost, high campus reach.</a:t>
            </a:r>
            <a:endParaRPr dirty="0" sz="950" lang="en-US"/>
          </a:p>
        </p:txBody>
      </p:sp>
      <p:sp>
        <p:nvSpPr>
          <p:cNvPr id="1048796" name="Text 18"/>
          <p:cNvSpPr/>
          <p:nvPr/>
        </p:nvSpPr>
        <p:spPr>
          <a:xfrm>
            <a:off x="4846320" y="1051560"/>
            <a:ext cx="3840480" cy="228600"/>
          </a:xfrm>
          <a:prstGeom prst="rect"/>
          <a:noFill/>
        </p:spPr>
        <p:txBody>
          <a:bodyPr anchor="ctr" bIns="0" lIns="0" rIns="0" rtlCol="0" tIns="0" wrap="square"/>
          <a:p>
            <a:pPr indent="0" marL="0">
              <a:buNone/>
            </a:pPr>
            <a:r>
              <a:rPr b="1" dirty="0" sz="900" kern="0" lang="en-US" spc="300">
                <a:solidFill>
                  <a:srgbClr val="94A3B8"/>
                </a:solidFill>
                <a:latin typeface="Calibri" pitchFamily="34" charset="0"/>
                <a:ea typeface="Calibri" pitchFamily="34" charset="-122"/>
                <a:cs typeface="Calibri" pitchFamily="34" charset="-120"/>
              </a:rPr>
              <a:t>ROADMAP</a:t>
            </a:r>
            <a:endParaRPr dirty="0" sz="900" lang="en-US"/>
          </a:p>
        </p:txBody>
      </p:sp>
      <p:sp>
        <p:nvSpPr>
          <p:cNvPr id="1048797" name="Shape 19"/>
          <p:cNvSpPr/>
          <p:nvPr/>
        </p:nvSpPr>
        <p:spPr>
          <a:xfrm>
            <a:off x="4800600" y="1408176"/>
            <a:ext cx="256032" cy="256032"/>
          </a:xfrm>
          <a:prstGeom prst="ellipse"/>
          <a:solidFill>
            <a:srgbClr val="2DD4BF"/>
          </a:solidFill>
          <a:ln w="12700">
            <a:solidFill>
              <a:srgbClr val="2DD4BF"/>
            </a:solidFill>
            <a:prstDash val="solid"/>
          </a:ln>
        </p:spPr>
      </p:sp>
      <p:sp>
        <p:nvSpPr>
          <p:cNvPr id="1048798" name="Shape 20"/>
          <p:cNvSpPr/>
          <p:nvPr/>
        </p:nvSpPr>
        <p:spPr>
          <a:xfrm>
            <a:off x="4910328" y="1664208"/>
            <a:ext cx="36576" cy="411480"/>
          </a:xfrm>
          <a:prstGeom prst="rect"/>
          <a:solidFill>
            <a:srgbClr val="94A3B8"/>
          </a:solidFill>
          <a:ln w="12700">
            <a:solidFill>
              <a:srgbClr val="94A3B8"/>
            </a:solidFill>
            <a:prstDash val="solid"/>
          </a:ln>
        </p:spPr>
      </p:sp>
      <p:sp>
        <p:nvSpPr>
          <p:cNvPr id="1048799" name="Text 21"/>
          <p:cNvSpPr/>
          <p:nvPr/>
        </p:nvSpPr>
        <p:spPr>
          <a:xfrm>
            <a:off x="5148072" y="1371600"/>
            <a:ext cx="457200" cy="292608"/>
          </a:xfrm>
          <a:prstGeom prst="rect"/>
          <a:noFill/>
        </p:spPr>
        <p:txBody>
          <a:bodyPr anchor="ctr" bIns="0" lIns="0" rIns="0" rtlCol="0" tIns="0" wrap="square"/>
          <a:p>
            <a:pPr indent="0" marL="0">
              <a:buNone/>
            </a:pPr>
            <a:r>
              <a:rPr b="1" dirty="0" sz="1200" lang="en-US">
                <a:solidFill>
                  <a:srgbClr val="2DD4BF"/>
                </a:solidFill>
                <a:latin typeface="Calibri" pitchFamily="34" charset="0"/>
                <a:ea typeface="Calibri" pitchFamily="34" charset="-122"/>
                <a:cs typeface="Calibri" pitchFamily="34" charset="-120"/>
              </a:rPr>
              <a:t>MVP</a:t>
            </a:r>
            <a:endParaRPr dirty="0" sz="1200" lang="en-US"/>
          </a:p>
        </p:txBody>
      </p:sp>
      <p:sp>
        <p:nvSpPr>
          <p:cNvPr id="1048800" name="Text 22"/>
          <p:cNvSpPr/>
          <p:nvPr/>
        </p:nvSpPr>
        <p:spPr>
          <a:xfrm>
            <a:off x="5641848" y="1371600"/>
            <a:ext cx="914400" cy="292608"/>
          </a:xfrm>
          <a:prstGeom prst="rect"/>
          <a:noFill/>
        </p:spPr>
        <p:txBody>
          <a:bodyPr anchor="ctr" bIns="0" lIns="0" rIns="0" rtlCol="0" tIns="0" wrap="square"/>
          <a:p>
            <a:pPr indent="0" marL="0">
              <a:buNone/>
            </a:pPr>
            <a:r>
              <a:rPr dirty="0" sz="900" lang="en-US">
                <a:solidFill>
                  <a:srgbClr val="94A3B8"/>
                </a:solidFill>
                <a:latin typeface="Calibri" pitchFamily="34" charset="0"/>
                <a:ea typeface="Calibri" pitchFamily="34" charset="-122"/>
                <a:cs typeface="Calibri" pitchFamily="34" charset="-120"/>
              </a:rPr>
              <a:t>May 2026</a:t>
            </a:r>
            <a:endParaRPr dirty="0" sz="900" lang="en-US"/>
          </a:p>
          <a:p>
            <a:pPr indent="0" marL="0">
              <a:buNone/>
            </a:pPr>
            <a:r>
              <a:rPr dirty="0" sz="900" lang="en-US">
                <a:solidFill>
                  <a:srgbClr val="94A3B8"/>
                </a:solidFill>
                <a:latin typeface="Calibri" pitchFamily="34" charset="0"/>
                <a:ea typeface="Calibri" pitchFamily="34" charset="-122"/>
                <a:cs typeface="Calibri" pitchFamily="34" charset="-120"/>
              </a:rPr>
              <a:t>(shipped)</a:t>
            </a:r>
            <a:endParaRPr dirty="0" sz="900" lang="en-US"/>
          </a:p>
        </p:txBody>
      </p:sp>
      <p:sp>
        <p:nvSpPr>
          <p:cNvPr id="1048801" name="Text 23"/>
          <p:cNvSpPr/>
          <p:nvPr/>
        </p:nvSpPr>
        <p:spPr>
          <a:xfrm>
            <a:off x="5148072" y="1645920"/>
            <a:ext cx="3017520" cy="365760"/>
          </a:xfrm>
          <a:prstGeom prst="rect"/>
          <a:noFill/>
        </p:spPr>
        <p:txBody>
          <a:bodyPr anchor="ctr" bIns="0" lIns="0" rIns="0" rtlCol="0" tIns="0" wrap="square"/>
          <a:p>
            <a:pPr indent="0" marL="0">
              <a:buNone/>
            </a:pPr>
            <a:r>
              <a:rPr dirty="0" sz="950" lang="en-US">
                <a:solidFill>
                  <a:srgbClr val="334155"/>
                </a:solidFill>
                <a:latin typeface="Calibri" pitchFamily="34" charset="0"/>
                <a:ea typeface="Calibri" pitchFamily="34" charset="-122"/>
                <a:cs typeface="Calibri" pitchFamily="34" charset="-120"/>
              </a:rPr>
              <a:t>Single-file web app</a:t>
            </a:r>
            <a:endParaRPr dirty="0" sz="950" lang="en-US"/>
          </a:p>
          <a:p>
            <a:pPr indent="0" marL="0">
              <a:buNone/>
            </a:pPr>
            <a:r>
              <a:rPr dirty="0" sz="950" lang="en-US">
                <a:solidFill>
                  <a:srgbClr val="334155"/>
                </a:solidFill>
                <a:latin typeface="Calibri" pitchFamily="34" charset="0"/>
                <a:ea typeface="Calibri" pitchFamily="34" charset="-122"/>
                <a:cs typeface="Calibri" pitchFamily="34" charset="-120"/>
              </a:rPr>
              <a:t>12 screens, 3 flows</a:t>
            </a:r>
            <a:endParaRPr dirty="0" sz="950" lang="en-US"/>
          </a:p>
          <a:p>
            <a:pPr indent="0" marL="0">
              <a:buNone/>
            </a:pPr>
            <a:r>
              <a:rPr dirty="0" sz="950" lang="en-US">
                <a:solidFill>
                  <a:srgbClr val="334155"/>
                </a:solidFill>
                <a:latin typeface="Calibri" pitchFamily="34" charset="0"/>
                <a:ea typeface="Calibri" pitchFamily="34" charset="-122"/>
                <a:cs typeface="Calibri" pitchFamily="34" charset="-120"/>
              </a:rPr>
              <a:t>GitHub Pages</a:t>
            </a:r>
            <a:endParaRPr dirty="0" sz="950" lang="en-US"/>
          </a:p>
        </p:txBody>
      </p:sp>
      <p:sp>
        <p:nvSpPr>
          <p:cNvPr id="1048802" name="Shape 24"/>
          <p:cNvSpPr/>
          <p:nvPr/>
        </p:nvSpPr>
        <p:spPr>
          <a:xfrm>
            <a:off x="4800600" y="2176272"/>
            <a:ext cx="256032" cy="256032"/>
          </a:xfrm>
          <a:prstGeom prst="ellipse"/>
          <a:solidFill>
            <a:srgbClr val="10B981"/>
          </a:solidFill>
          <a:ln w="12700">
            <a:solidFill>
              <a:srgbClr val="10B981"/>
            </a:solidFill>
            <a:prstDash val="solid"/>
          </a:ln>
        </p:spPr>
      </p:sp>
      <p:sp>
        <p:nvSpPr>
          <p:cNvPr id="1048803" name="Shape 25"/>
          <p:cNvSpPr/>
          <p:nvPr/>
        </p:nvSpPr>
        <p:spPr>
          <a:xfrm>
            <a:off x="4910328" y="2432304"/>
            <a:ext cx="36576" cy="411480"/>
          </a:xfrm>
          <a:prstGeom prst="rect"/>
          <a:solidFill>
            <a:srgbClr val="94A3B8"/>
          </a:solidFill>
          <a:ln w="12700">
            <a:solidFill>
              <a:srgbClr val="94A3B8"/>
            </a:solidFill>
            <a:prstDash val="solid"/>
          </a:ln>
        </p:spPr>
      </p:sp>
      <p:sp>
        <p:nvSpPr>
          <p:cNvPr id="1048804" name="Text 26"/>
          <p:cNvSpPr/>
          <p:nvPr/>
        </p:nvSpPr>
        <p:spPr>
          <a:xfrm>
            <a:off x="5148072" y="2139696"/>
            <a:ext cx="457200" cy="292608"/>
          </a:xfrm>
          <a:prstGeom prst="rect"/>
          <a:noFill/>
        </p:spPr>
        <p:txBody>
          <a:bodyPr anchor="ctr" bIns="0" lIns="0" rIns="0" rtlCol="0" tIns="0" wrap="square"/>
          <a:p>
            <a:pPr indent="0" marL="0">
              <a:buNone/>
            </a:pPr>
            <a:r>
              <a:rPr b="1" dirty="0" sz="1200" lang="en-US">
                <a:solidFill>
                  <a:srgbClr val="10B981"/>
                </a:solidFill>
                <a:latin typeface="Calibri" pitchFamily="34" charset="0"/>
                <a:ea typeface="Calibri" pitchFamily="34" charset="-122"/>
                <a:cs typeface="Calibri" pitchFamily="34" charset="-120"/>
              </a:rPr>
              <a:t>V2</a:t>
            </a:r>
            <a:endParaRPr dirty="0" sz="1200" lang="en-US"/>
          </a:p>
        </p:txBody>
      </p:sp>
      <p:sp>
        <p:nvSpPr>
          <p:cNvPr id="1048805" name="Text 27"/>
          <p:cNvSpPr/>
          <p:nvPr/>
        </p:nvSpPr>
        <p:spPr>
          <a:xfrm>
            <a:off x="5641848" y="2139696"/>
            <a:ext cx="914400" cy="292608"/>
          </a:xfrm>
          <a:prstGeom prst="rect"/>
          <a:noFill/>
        </p:spPr>
        <p:txBody>
          <a:bodyPr anchor="ctr" bIns="0" lIns="0" rIns="0" rtlCol="0" tIns="0" wrap="square"/>
          <a:p>
            <a:pPr indent="0" marL="0">
              <a:buNone/>
            </a:pPr>
            <a:r>
              <a:rPr dirty="0" sz="900" lang="en-US">
                <a:solidFill>
                  <a:srgbClr val="94A3B8"/>
                </a:solidFill>
                <a:latin typeface="Calibri" pitchFamily="34" charset="0"/>
                <a:ea typeface="Calibri" pitchFamily="34" charset="-122"/>
                <a:cs typeface="Calibri" pitchFamily="34" charset="-120"/>
              </a:rPr>
              <a:t>Y1 Q1</a:t>
            </a:r>
            <a:endParaRPr dirty="0" sz="900" lang="en-US"/>
          </a:p>
        </p:txBody>
      </p:sp>
      <p:sp>
        <p:nvSpPr>
          <p:cNvPr id="1048806" name="Text 28"/>
          <p:cNvSpPr/>
          <p:nvPr/>
        </p:nvSpPr>
        <p:spPr>
          <a:xfrm>
            <a:off x="5148072" y="2414016"/>
            <a:ext cx="3017520" cy="365760"/>
          </a:xfrm>
          <a:prstGeom prst="rect"/>
          <a:noFill/>
        </p:spPr>
        <p:txBody>
          <a:bodyPr anchor="ctr" bIns="0" lIns="0" rIns="0" rtlCol="0" tIns="0" wrap="square"/>
          <a:p>
            <a:pPr indent="0" marL="0">
              <a:buNone/>
            </a:pPr>
            <a:r>
              <a:rPr dirty="0" sz="950" lang="en-US">
                <a:solidFill>
                  <a:srgbClr val="334155"/>
                </a:solidFill>
                <a:latin typeface="Calibri" pitchFamily="34" charset="0"/>
                <a:ea typeface="Calibri" pitchFamily="34" charset="-122"/>
                <a:cs typeface="Calibri" pitchFamily="34" charset="-120"/>
              </a:rPr>
              <a:t>Supabase backend</a:t>
            </a:r>
            <a:endParaRPr dirty="0" sz="950" lang="en-US"/>
          </a:p>
          <a:p>
            <a:pPr indent="0" marL="0">
              <a:buNone/>
            </a:pPr>
            <a:r>
              <a:rPr dirty="0" sz="950" lang="en-US">
                <a:solidFill>
                  <a:srgbClr val="334155"/>
                </a:solidFill>
                <a:latin typeface="Calibri" pitchFamily="34" charset="0"/>
                <a:ea typeface="Calibri" pitchFamily="34" charset="-122"/>
                <a:cs typeface="Calibri" pitchFamily="34" charset="-120"/>
              </a:rPr>
              <a:t>Real SMS via Termii</a:t>
            </a:r>
            <a:endParaRPr dirty="0" sz="950" lang="en-US"/>
          </a:p>
          <a:p>
            <a:pPr indent="0" marL="0">
              <a:buNone/>
            </a:pPr>
            <a:r>
              <a:rPr dirty="0" sz="950" lang="en-US">
                <a:solidFill>
                  <a:srgbClr val="334155"/>
                </a:solidFill>
                <a:latin typeface="Calibri" pitchFamily="34" charset="0"/>
                <a:ea typeface="Calibri" pitchFamily="34" charset="-122"/>
                <a:cs typeface="Calibri" pitchFamily="34" charset="-120"/>
              </a:rPr>
              <a:t>Persistent accounts</a:t>
            </a:r>
            <a:endParaRPr dirty="0" sz="950" lang="en-US"/>
          </a:p>
        </p:txBody>
      </p:sp>
      <p:sp>
        <p:nvSpPr>
          <p:cNvPr id="1048807" name="Shape 29"/>
          <p:cNvSpPr/>
          <p:nvPr/>
        </p:nvSpPr>
        <p:spPr>
          <a:xfrm>
            <a:off x="4800600" y="2944368"/>
            <a:ext cx="256032" cy="256032"/>
          </a:xfrm>
          <a:prstGeom prst="ellipse"/>
          <a:solidFill>
            <a:srgbClr val="3B82F6"/>
          </a:solidFill>
          <a:ln w="12700">
            <a:solidFill>
              <a:srgbClr val="3B82F6"/>
            </a:solidFill>
            <a:prstDash val="solid"/>
          </a:ln>
        </p:spPr>
      </p:sp>
      <p:sp>
        <p:nvSpPr>
          <p:cNvPr id="1048808" name="Shape 30"/>
          <p:cNvSpPr/>
          <p:nvPr/>
        </p:nvSpPr>
        <p:spPr>
          <a:xfrm>
            <a:off x="4910328" y="3200400"/>
            <a:ext cx="36576" cy="411480"/>
          </a:xfrm>
          <a:prstGeom prst="rect"/>
          <a:solidFill>
            <a:srgbClr val="94A3B8"/>
          </a:solidFill>
          <a:ln w="12700">
            <a:solidFill>
              <a:srgbClr val="94A3B8"/>
            </a:solidFill>
            <a:prstDash val="solid"/>
          </a:ln>
        </p:spPr>
      </p:sp>
      <p:sp>
        <p:nvSpPr>
          <p:cNvPr id="1048809" name="Text 31"/>
          <p:cNvSpPr/>
          <p:nvPr/>
        </p:nvSpPr>
        <p:spPr>
          <a:xfrm>
            <a:off x="5148072" y="2907792"/>
            <a:ext cx="457200" cy="292608"/>
          </a:xfrm>
          <a:prstGeom prst="rect"/>
          <a:noFill/>
        </p:spPr>
        <p:txBody>
          <a:bodyPr anchor="ctr" bIns="0" lIns="0" rIns="0" rtlCol="0" tIns="0" wrap="square"/>
          <a:p>
            <a:pPr indent="0" marL="0">
              <a:buNone/>
            </a:pPr>
            <a:r>
              <a:rPr b="1" dirty="0" sz="1200" lang="en-US">
                <a:solidFill>
                  <a:srgbClr val="3B82F6"/>
                </a:solidFill>
                <a:latin typeface="Calibri" pitchFamily="34" charset="0"/>
                <a:ea typeface="Calibri" pitchFamily="34" charset="-122"/>
                <a:cs typeface="Calibri" pitchFamily="34" charset="-120"/>
              </a:rPr>
              <a:t>V3</a:t>
            </a:r>
            <a:endParaRPr dirty="0" sz="1200" lang="en-US"/>
          </a:p>
        </p:txBody>
      </p:sp>
      <p:sp>
        <p:nvSpPr>
          <p:cNvPr id="1048810" name="Text 32"/>
          <p:cNvSpPr/>
          <p:nvPr/>
        </p:nvSpPr>
        <p:spPr>
          <a:xfrm>
            <a:off x="5641848" y="2907792"/>
            <a:ext cx="914400" cy="292608"/>
          </a:xfrm>
          <a:prstGeom prst="rect"/>
          <a:noFill/>
        </p:spPr>
        <p:txBody>
          <a:bodyPr anchor="ctr" bIns="0" lIns="0" rIns="0" rtlCol="0" tIns="0" wrap="square"/>
          <a:p>
            <a:pPr indent="0" marL="0">
              <a:buNone/>
            </a:pPr>
            <a:r>
              <a:rPr dirty="0" sz="900" lang="en-US">
                <a:solidFill>
                  <a:srgbClr val="94A3B8"/>
                </a:solidFill>
                <a:latin typeface="Calibri" pitchFamily="34" charset="0"/>
                <a:ea typeface="Calibri" pitchFamily="34" charset="-122"/>
                <a:cs typeface="Calibri" pitchFamily="34" charset="-120"/>
              </a:rPr>
              <a:t>Y1 Q2–Q3</a:t>
            </a:r>
            <a:endParaRPr dirty="0" sz="900" lang="en-US"/>
          </a:p>
        </p:txBody>
      </p:sp>
      <p:sp>
        <p:nvSpPr>
          <p:cNvPr id="1048811" name="Text 33"/>
          <p:cNvSpPr/>
          <p:nvPr/>
        </p:nvSpPr>
        <p:spPr>
          <a:xfrm>
            <a:off x="5148072" y="3182112"/>
            <a:ext cx="3017520" cy="365760"/>
          </a:xfrm>
          <a:prstGeom prst="rect"/>
          <a:noFill/>
        </p:spPr>
        <p:txBody>
          <a:bodyPr anchor="ctr" bIns="0" lIns="0" rIns="0" rtlCol="0" tIns="0" wrap="square"/>
          <a:p>
            <a:pPr indent="0" marL="0">
              <a:buNone/>
            </a:pPr>
            <a:r>
              <a:rPr dirty="0" sz="950" lang="en-US">
                <a:solidFill>
                  <a:srgbClr val="334155"/>
                </a:solidFill>
                <a:latin typeface="Calibri" pitchFamily="34" charset="0"/>
                <a:ea typeface="Calibri" pitchFamily="34" charset="-122"/>
                <a:cs typeface="Calibri" pitchFamily="34" charset="-120"/>
              </a:rPr>
              <a:t>Offline PWA</a:t>
            </a:r>
            <a:endParaRPr dirty="0" sz="950" lang="en-US"/>
          </a:p>
          <a:p>
            <a:pPr indent="0" marL="0">
              <a:buNone/>
            </a:pPr>
            <a:r>
              <a:rPr dirty="0" sz="950" lang="en-US">
                <a:solidFill>
                  <a:srgbClr val="334155"/>
                </a:solidFill>
                <a:latin typeface="Calibri" pitchFamily="34" charset="0"/>
                <a:ea typeface="Calibri" pitchFamily="34" charset="-122"/>
                <a:cs typeface="Calibri" pitchFamily="34" charset="-120"/>
              </a:rPr>
              <a:t>Voice SOS</a:t>
            </a:r>
            <a:endParaRPr dirty="0" sz="950" lang="en-US"/>
          </a:p>
          <a:p>
            <a:pPr indent="0" marL="0">
              <a:buNone/>
            </a:pPr>
            <a:r>
              <a:rPr dirty="0" sz="950" lang="en-US">
                <a:solidFill>
                  <a:srgbClr val="334155"/>
                </a:solidFill>
                <a:latin typeface="Calibri" pitchFamily="34" charset="0"/>
                <a:ea typeface="Calibri" pitchFamily="34" charset="-122"/>
                <a:cs typeface="Calibri" pitchFamily="34" charset="-120"/>
              </a:rPr>
              <a:t>UNN + UNILAG closed beta</a:t>
            </a:r>
            <a:endParaRPr dirty="0" sz="950" lang="en-US"/>
          </a:p>
        </p:txBody>
      </p:sp>
      <p:sp>
        <p:nvSpPr>
          <p:cNvPr id="1048812" name="Shape 34"/>
          <p:cNvSpPr/>
          <p:nvPr/>
        </p:nvSpPr>
        <p:spPr>
          <a:xfrm>
            <a:off x="4800600" y="3712464"/>
            <a:ext cx="256032" cy="256032"/>
          </a:xfrm>
          <a:prstGeom prst="ellipse"/>
          <a:solidFill>
            <a:srgbClr val="0A1E3F"/>
          </a:solidFill>
          <a:ln w="12700">
            <a:solidFill>
              <a:srgbClr val="0A1E3F"/>
            </a:solidFill>
            <a:prstDash val="solid"/>
          </a:ln>
        </p:spPr>
      </p:sp>
      <p:sp>
        <p:nvSpPr>
          <p:cNvPr id="1048813" name="Shape 35"/>
          <p:cNvSpPr/>
          <p:nvPr/>
        </p:nvSpPr>
        <p:spPr>
          <a:xfrm>
            <a:off x="4910328" y="3968496"/>
            <a:ext cx="36576" cy="411480"/>
          </a:xfrm>
          <a:prstGeom prst="rect"/>
          <a:solidFill>
            <a:srgbClr val="94A3B8"/>
          </a:solidFill>
          <a:ln w="12700">
            <a:solidFill>
              <a:srgbClr val="94A3B8"/>
            </a:solidFill>
            <a:prstDash val="solid"/>
          </a:ln>
        </p:spPr>
      </p:sp>
      <p:sp>
        <p:nvSpPr>
          <p:cNvPr id="1048814" name="Text 36"/>
          <p:cNvSpPr/>
          <p:nvPr/>
        </p:nvSpPr>
        <p:spPr>
          <a:xfrm>
            <a:off x="5148072" y="3675888"/>
            <a:ext cx="457200" cy="292608"/>
          </a:xfrm>
          <a:prstGeom prst="rect"/>
          <a:noFill/>
        </p:spPr>
        <p:txBody>
          <a:bodyPr anchor="ctr" bIns="0" lIns="0" rIns="0" rtlCol="0" tIns="0" wrap="square"/>
          <a:p>
            <a:pPr indent="0" marL="0">
              <a:buNone/>
            </a:pPr>
            <a:r>
              <a:rPr b="1" dirty="0" sz="1200" lang="en-US">
                <a:solidFill>
                  <a:srgbClr val="0A1E3F"/>
                </a:solidFill>
                <a:latin typeface="Calibri" pitchFamily="34" charset="0"/>
                <a:ea typeface="Calibri" pitchFamily="34" charset="-122"/>
                <a:cs typeface="Calibri" pitchFamily="34" charset="-120"/>
              </a:rPr>
              <a:t>V4</a:t>
            </a:r>
            <a:endParaRPr dirty="0" sz="1200" lang="en-US"/>
          </a:p>
        </p:txBody>
      </p:sp>
      <p:sp>
        <p:nvSpPr>
          <p:cNvPr id="1048815" name="Text 37"/>
          <p:cNvSpPr/>
          <p:nvPr/>
        </p:nvSpPr>
        <p:spPr>
          <a:xfrm>
            <a:off x="5641848" y="3675888"/>
            <a:ext cx="914400" cy="292608"/>
          </a:xfrm>
          <a:prstGeom prst="rect"/>
          <a:noFill/>
        </p:spPr>
        <p:txBody>
          <a:bodyPr anchor="ctr" bIns="0" lIns="0" rIns="0" rtlCol="0" tIns="0" wrap="square"/>
          <a:p>
            <a:pPr indent="0" marL="0">
              <a:buNone/>
            </a:pPr>
            <a:r>
              <a:rPr dirty="0" sz="900" lang="en-US">
                <a:solidFill>
                  <a:srgbClr val="94A3B8"/>
                </a:solidFill>
                <a:latin typeface="Calibri" pitchFamily="34" charset="0"/>
                <a:ea typeface="Calibri" pitchFamily="34" charset="-122"/>
                <a:cs typeface="Calibri" pitchFamily="34" charset="-120"/>
              </a:rPr>
              <a:t>Y1 Q4</a:t>
            </a:r>
            <a:endParaRPr dirty="0" sz="900" lang="en-US"/>
          </a:p>
        </p:txBody>
      </p:sp>
      <p:sp>
        <p:nvSpPr>
          <p:cNvPr id="1048816" name="Text 38"/>
          <p:cNvSpPr/>
          <p:nvPr/>
        </p:nvSpPr>
        <p:spPr>
          <a:xfrm>
            <a:off x="5148072" y="3950208"/>
            <a:ext cx="3017520" cy="365760"/>
          </a:xfrm>
          <a:prstGeom prst="rect"/>
          <a:noFill/>
        </p:spPr>
        <p:txBody>
          <a:bodyPr anchor="ctr" bIns="0" lIns="0" rIns="0" rtlCol="0" tIns="0" wrap="square"/>
          <a:p>
            <a:pPr indent="0" marL="0">
              <a:buNone/>
            </a:pPr>
            <a:r>
              <a:rPr dirty="0" sz="950" lang="en-US">
                <a:solidFill>
                  <a:srgbClr val="334155"/>
                </a:solidFill>
                <a:latin typeface="Calibri" pitchFamily="34" charset="0"/>
                <a:ea typeface="Calibri" pitchFamily="34" charset="-122"/>
                <a:cs typeface="Calibri" pitchFamily="34" charset="-120"/>
              </a:rPr>
              <a:t>Public launch</a:t>
            </a:r>
            <a:endParaRPr dirty="0" sz="950" lang="en-US"/>
          </a:p>
          <a:p>
            <a:pPr indent="0" marL="0">
              <a:buNone/>
            </a:pPr>
            <a:r>
              <a:rPr dirty="0" sz="950" lang="en-US">
                <a:solidFill>
                  <a:srgbClr val="334155"/>
                </a:solidFill>
                <a:latin typeface="Calibri" pitchFamily="34" charset="0"/>
                <a:ea typeface="Calibri" pitchFamily="34" charset="-122"/>
                <a:cs typeface="Calibri" pitchFamily="34" charset="-120"/>
              </a:rPr>
              <a:t>Expanded personas</a:t>
            </a:r>
            <a:endParaRPr dirty="0" sz="950" lang="en-US"/>
          </a:p>
          <a:p>
            <a:pPr indent="0" marL="0">
              <a:buNone/>
            </a:pPr>
            <a:r>
              <a:rPr dirty="0" sz="950" lang="en-US">
                <a:solidFill>
                  <a:srgbClr val="334155"/>
                </a:solidFill>
                <a:latin typeface="Calibri" pitchFamily="34" charset="0"/>
                <a:ea typeface="Calibri" pitchFamily="34" charset="-122"/>
                <a:cs typeface="Calibri" pitchFamily="34" charset="-120"/>
              </a:rPr>
              <a:t>Paid B2B tier</a:t>
            </a:r>
            <a:endParaRPr dirty="0" sz="950" lang="en-US"/>
          </a:p>
        </p:txBody>
      </p:sp>
      <p:sp>
        <p:nvSpPr>
          <p:cNvPr id="1048817" name="Shape 39"/>
          <p:cNvSpPr/>
          <p:nvPr/>
        </p:nvSpPr>
        <p:spPr>
          <a:xfrm>
            <a:off x="4800600" y="4480560"/>
            <a:ext cx="256032" cy="256032"/>
          </a:xfrm>
          <a:prstGeom prst="ellipse"/>
          <a:solidFill>
            <a:srgbClr val="6D28D9"/>
          </a:solidFill>
          <a:ln w="12700">
            <a:solidFill>
              <a:srgbClr val="6D28D9"/>
            </a:solidFill>
            <a:prstDash val="solid"/>
          </a:ln>
        </p:spPr>
      </p:sp>
      <p:sp>
        <p:nvSpPr>
          <p:cNvPr id="1048818" name="Text 40"/>
          <p:cNvSpPr/>
          <p:nvPr/>
        </p:nvSpPr>
        <p:spPr>
          <a:xfrm>
            <a:off x="5148072" y="4443984"/>
            <a:ext cx="457200" cy="292608"/>
          </a:xfrm>
          <a:prstGeom prst="rect"/>
          <a:noFill/>
        </p:spPr>
        <p:txBody>
          <a:bodyPr anchor="ctr" bIns="0" lIns="0" rIns="0" rtlCol="0" tIns="0" wrap="square"/>
          <a:p>
            <a:pPr indent="0" marL="0">
              <a:buNone/>
            </a:pPr>
            <a:r>
              <a:rPr b="1" dirty="0" sz="1200" lang="en-US">
                <a:solidFill>
                  <a:srgbClr val="6D28D9"/>
                </a:solidFill>
                <a:latin typeface="Calibri" pitchFamily="34" charset="0"/>
                <a:ea typeface="Calibri" pitchFamily="34" charset="-122"/>
                <a:cs typeface="Calibri" pitchFamily="34" charset="-120"/>
              </a:rPr>
              <a:t>V5</a:t>
            </a:r>
            <a:endParaRPr dirty="0" sz="1200" lang="en-US"/>
          </a:p>
        </p:txBody>
      </p:sp>
      <p:sp>
        <p:nvSpPr>
          <p:cNvPr id="1048819" name="Text 41"/>
          <p:cNvSpPr/>
          <p:nvPr/>
        </p:nvSpPr>
        <p:spPr>
          <a:xfrm>
            <a:off x="5641848" y="4443984"/>
            <a:ext cx="914400" cy="292608"/>
          </a:xfrm>
          <a:prstGeom prst="rect"/>
          <a:noFill/>
        </p:spPr>
        <p:txBody>
          <a:bodyPr anchor="ctr" bIns="0" lIns="0" rIns="0" rtlCol="0" tIns="0" wrap="square"/>
          <a:p>
            <a:pPr indent="0" marL="0">
              <a:buNone/>
            </a:pPr>
            <a:r>
              <a:rPr dirty="0" sz="900" lang="en-US">
                <a:solidFill>
                  <a:srgbClr val="94A3B8"/>
                </a:solidFill>
                <a:latin typeface="Calibri" pitchFamily="34" charset="0"/>
                <a:ea typeface="Calibri" pitchFamily="34" charset="-122"/>
                <a:cs typeface="Calibri" pitchFamily="34" charset="-120"/>
              </a:rPr>
              <a:t>Year 2</a:t>
            </a:r>
            <a:endParaRPr dirty="0" sz="900" lang="en-US"/>
          </a:p>
        </p:txBody>
      </p:sp>
      <p:sp>
        <p:nvSpPr>
          <p:cNvPr id="1048820" name="Text 42"/>
          <p:cNvSpPr/>
          <p:nvPr/>
        </p:nvSpPr>
        <p:spPr>
          <a:xfrm>
            <a:off x="5148072" y="4718304"/>
            <a:ext cx="3017520" cy="365760"/>
          </a:xfrm>
          <a:prstGeom prst="rect"/>
          <a:noFill/>
        </p:spPr>
        <p:txBody>
          <a:bodyPr anchor="ctr" bIns="0" lIns="0" rIns="0" rtlCol="0" tIns="0" wrap="square"/>
          <a:p>
            <a:pPr indent="0" marL="0">
              <a:buNone/>
            </a:pPr>
            <a:r>
              <a:rPr dirty="0" sz="950" lang="en-US">
                <a:solidFill>
                  <a:srgbClr val="334155"/>
                </a:solidFill>
                <a:latin typeface="Calibri" pitchFamily="34" charset="0"/>
                <a:ea typeface="Calibri" pitchFamily="34" charset="-122"/>
                <a:cs typeface="Calibri" pitchFamily="34" charset="-120"/>
              </a:rPr>
              <a:t>Public API</a:t>
            </a:r>
            <a:endParaRPr dirty="0" sz="950" lang="en-US"/>
          </a:p>
          <a:p>
            <a:pPr indent="0" marL="0">
              <a:buNone/>
            </a:pPr>
            <a:r>
              <a:rPr dirty="0" sz="950" lang="en-US">
                <a:solidFill>
                  <a:srgbClr val="334155"/>
                </a:solidFill>
                <a:latin typeface="Calibri" pitchFamily="34" charset="0"/>
                <a:ea typeface="Calibri" pitchFamily="34" charset="-122"/>
                <a:cs typeface="Calibri" pitchFamily="34" charset="-120"/>
              </a:rPr>
              <a:t>Risk maps</a:t>
            </a:r>
            <a:endParaRPr dirty="0" sz="950" lang="en-US"/>
          </a:p>
          <a:p>
            <a:pPr indent="0" marL="0">
              <a:buNone/>
            </a:pPr>
            <a:r>
              <a:rPr dirty="0" sz="950" lang="en-US">
                <a:solidFill>
                  <a:srgbClr val="334155"/>
                </a:solidFill>
                <a:latin typeface="Calibri" pitchFamily="34" charset="0"/>
                <a:ea typeface="Calibri" pitchFamily="34" charset="-122"/>
                <a:cs typeface="Calibri" pitchFamily="34" charset="-120"/>
              </a:rPr>
              <a:t>Wearables</a:t>
            </a:r>
            <a:endParaRPr dirty="0" sz="950" lang="en-US"/>
          </a:p>
        </p:txBody>
      </p:sp>
      <p:sp>
        <p:nvSpPr>
          <p:cNvPr id="1048821" name="Shape 43"/>
          <p:cNvSpPr/>
          <p:nvPr/>
        </p:nvSpPr>
        <p:spPr>
          <a:xfrm>
            <a:off x="411480" y="3520440"/>
            <a:ext cx="4114800" cy="868680"/>
          </a:xfrm>
          <a:prstGeom prst="rect"/>
          <a:solidFill>
            <a:srgbClr val="0A1E3F"/>
          </a:solidFill>
          <a:ln w="12700">
            <a:solidFill>
              <a:srgbClr val="0A1E3F"/>
            </a:solidFill>
            <a:prstDash val="solid"/>
          </a:ln>
        </p:spPr>
      </p:sp>
      <p:sp>
        <p:nvSpPr>
          <p:cNvPr id="1048822" name="Text 44"/>
          <p:cNvSpPr/>
          <p:nvPr/>
        </p:nvSpPr>
        <p:spPr>
          <a:xfrm>
            <a:off x="548640" y="3566160"/>
            <a:ext cx="1097280" cy="256032"/>
          </a:xfrm>
          <a:prstGeom prst="rect"/>
          <a:noFill/>
        </p:spPr>
        <p:txBody>
          <a:bodyPr anchor="ctr" bIns="0" lIns="0" rIns="0" rtlCol="0" tIns="0" wrap="square"/>
          <a:p>
            <a:pPr indent="0" marL="0">
              <a:buNone/>
            </a:pPr>
            <a:r>
              <a:rPr b="1" dirty="0" sz="1000" lang="en-US">
                <a:solidFill>
                  <a:srgbClr val="2DD4BF"/>
                </a:solidFill>
                <a:latin typeface="Calibri" pitchFamily="34" charset="0"/>
                <a:ea typeface="Calibri" pitchFamily="34" charset="-122"/>
                <a:cs typeface="Calibri" pitchFamily="34" charset="-120"/>
              </a:rPr>
              <a:t>Pilot plan:</a:t>
            </a:r>
            <a:endParaRPr dirty="0" sz="1000" lang="en-US"/>
          </a:p>
        </p:txBody>
      </p:sp>
      <p:sp>
        <p:nvSpPr>
          <p:cNvPr id="1048823" name="Text 45"/>
          <p:cNvSpPr/>
          <p:nvPr/>
        </p:nvSpPr>
        <p:spPr>
          <a:xfrm>
            <a:off x="548640" y="3822192"/>
            <a:ext cx="3886200" cy="502920"/>
          </a:xfrm>
          <a:prstGeom prst="rect"/>
          <a:noFill/>
        </p:spPr>
        <p:txBody>
          <a:bodyPr anchor="ctr" bIns="0" lIns="0" rIns="0" rtlCol="0" tIns="0" wrap="square"/>
          <a:p>
            <a:pPr indent="0" marL="0">
              <a:buNone/>
            </a:pPr>
            <a:r>
              <a:rPr dirty="0" sz="950" lang="en-US">
                <a:solidFill>
                  <a:srgbClr val="FFFFFF"/>
                </a:solidFill>
                <a:latin typeface="Calibri" pitchFamily="34" charset="0"/>
                <a:ea typeface="Calibri" pitchFamily="34" charset="-122"/>
                <a:cs typeface="Calibri" pitchFamily="34" charset="-120"/>
              </a:rPr>
              <a:t>Wks 1–4: 300–500 UNN students (soft launch) → Wks 5–12: #ArriveSafeChallenge public campaign. Success gate: 2,000–5,000 users, ≥40% Day-30 retention.</a:t>
            </a:r>
            <a:endParaRPr dirty="0" sz="950"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E3F"/>
        </a:solidFill>
      </p:bgPr>
    </p:bg>
    <p:spTree>
      <p:nvGrpSpPr>
        <p:cNvPr id="42" name=""/>
        <p:cNvGrpSpPr/>
        <p:nvPr/>
      </p:nvGrpSpPr>
      <p:grpSpPr>
        <a:xfrm>
          <a:off x="0" y="0"/>
          <a:ext cx="0" cy="0"/>
          <a:chOff x="0" y="0"/>
          <a:chExt cx="0" cy="0"/>
        </a:xfrm>
      </p:grpSpPr>
      <p:pic>
        <p:nvPicPr>
          <p:cNvPr id="2097161" name="Image 0" descr="/mnt/user-data/uploads/IMG-20260517-WA0000-removebg-preview.png"/>
          <p:cNvPicPr>
            <a:picLocks noChangeAspect="1"/>
          </p:cNvPicPr>
          <p:nvPr/>
        </p:nvPicPr>
        <p:blipFill>
          <a:blip xmlns:r="http://schemas.openxmlformats.org/officeDocument/2006/relationships" r:embed="rId1"/>
          <a:stretch>
            <a:fillRect/>
          </a:stretch>
        </p:blipFill>
        <p:spPr>
          <a:xfrm>
            <a:off x="7955280" y="137160"/>
            <a:ext cx="1005840" cy="1005840"/>
          </a:xfrm>
          <a:prstGeom prst="rect"/>
        </p:spPr>
      </p:pic>
      <p:sp>
        <p:nvSpPr>
          <p:cNvPr id="1048827" name="Text 0"/>
          <p:cNvSpPr/>
          <p:nvPr/>
        </p:nvSpPr>
        <p:spPr>
          <a:xfrm>
            <a:off x="457200" y="201168"/>
            <a:ext cx="2743200" cy="228600"/>
          </a:xfrm>
          <a:prstGeom prst="rect"/>
          <a:noFill/>
        </p:spPr>
        <p:txBody>
          <a:bodyPr anchor="ctr" bIns="0" lIns="0" rIns="0" rtlCol="0" tIns="0" wrap="square"/>
          <a:p>
            <a:pPr indent="0" marL="0">
              <a:buNone/>
            </a:pPr>
            <a:r>
              <a:rPr dirty="0" sz="900" kern="0" lang="en-US" spc="400">
                <a:solidFill>
                  <a:srgbClr val="5A7A9E"/>
                </a:solidFill>
                <a:latin typeface="Calibri" pitchFamily="34" charset="0"/>
                <a:ea typeface="Calibri" pitchFamily="34" charset="-122"/>
                <a:cs typeface="Calibri" pitchFamily="34" charset="-120"/>
              </a:rPr>
              <a:t>THE TEAM</a:t>
            </a:r>
            <a:endParaRPr dirty="0" sz="900" lang="en-US"/>
          </a:p>
        </p:txBody>
      </p:sp>
      <p:sp>
        <p:nvSpPr>
          <p:cNvPr id="1048828" name="Text 1"/>
          <p:cNvSpPr/>
          <p:nvPr/>
        </p:nvSpPr>
        <p:spPr>
          <a:xfrm>
            <a:off x="457200" y="438912"/>
            <a:ext cx="6400800" cy="438912"/>
          </a:xfrm>
          <a:prstGeom prst="rect"/>
          <a:noFill/>
        </p:spPr>
        <p:txBody>
          <a:bodyPr anchor="ctr" bIns="0" lIns="0" rIns="0" rtlCol="0" tIns="0" wrap="square"/>
          <a:p>
            <a:pPr indent="0" marL="0">
              <a:buNone/>
            </a:pPr>
            <a:r>
              <a:rPr b="1" dirty="0" sz="2400" lang="en-US">
                <a:solidFill>
                  <a:srgbClr val="FFFFFF"/>
                </a:solidFill>
                <a:latin typeface="Calibri" pitchFamily="34" charset="0"/>
                <a:ea typeface="Calibri" pitchFamily="34" charset="-122"/>
                <a:cs typeface="Calibri" pitchFamily="34" charset="-120"/>
              </a:rPr>
              <a:t>Group 39 · Phoenix Cohort · TS Academy</a:t>
            </a:r>
            <a:endParaRPr dirty="0" sz="2400" lang="en-US"/>
          </a:p>
        </p:txBody>
      </p:sp>
      <p:sp>
        <p:nvSpPr>
          <p:cNvPr id="1048829" name="Shape 2"/>
          <p:cNvSpPr/>
          <p:nvPr/>
        </p:nvSpPr>
        <p:spPr>
          <a:xfrm>
            <a:off x="411480" y="1024128"/>
            <a:ext cx="1536192" cy="1965960"/>
          </a:xfrm>
          <a:prstGeom prst="rect"/>
          <a:solidFill>
            <a:srgbClr val="0D2850"/>
          </a:solidFill>
          <a:ln w="12700">
            <a:solidFill>
              <a:srgbClr val="1D3A5F"/>
            </a:solidFill>
            <a:prstDash val="solid"/>
          </a:ln>
        </p:spPr>
      </p:sp>
      <p:sp>
        <p:nvSpPr>
          <p:cNvPr id="1048830" name="Shape 3"/>
          <p:cNvSpPr/>
          <p:nvPr/>
        </p:nvSpPr>
        <p:spPr>
          <a:xfrm>
            <a:off x="950976" y="1115568"/>
            <a:ext cx="457200" cy="457200"/>
          </a:xfrm>
          <a:prstGeom prst="ellipse"/>
          <a:solidFill>
            <a:srgbClr val="2DD4BF"/>
          </a:solidFill>
          <a:ln w="12700">
            <a:solidFill>
              <a:srgbClr val="2DD4BF"/>
            </a:solidFill>
            <a:prstDash val="solid"/>
          </a:ln>
        </p:spPr>
      </p:sp>
      <p:sp>
        <p:nvSpPr>
          <p:cNvPr id="1048831" name="Text 4"/>
          <p:cNvSpPr/>
          <p:nvPr/>
        </p:nvSpPr>
        <p:spPr>
          <a:xfrm>
            <a:off x="950976" y="1115568"/>
            <a:ext cx="457200" cy="457200"/>
          </a:xfrm>
          <a:prstGeom prst="rect"/>
          <a:noFill/>
        </p:spPr>
        <p:txBody>
          <a:bodyPr anchor="ctr" bIns="0" lIns="0" rIns="0" rtlCol="0" tIns="0" wrap="square"/>
          <a:p>
            <a:pPr algn="ctr" indent="0" marL="0">
              <a:buNone/>
            </a:pPr>
            <a:r>
              <a:rPr b="1" dirty="0" sz="1300" lang="en-US">
                <a:solidFill>
                  <a:srgbClr val="0A1E3F"/>
                </a:solidFill>
                <a:latin typeface="Calibri" pitchFamily="34" charset="0"/>
                <a:ea typeface="Calibri" pitchFamily="34" charset="-122"/>
                <a:cs typeface="Calibri" pitchFamily="34" charset="-120"/>
              </a:rPr>
              <a:t>PM</a:t>
            </a:r>
            <a:endParaRPr dirty="0" sz="1300" lang="en-US"/>
          </a:p>
        </p:txBody>
      </p:sp>
      <p:sp>
        <p:nvSpPr>
          <p:cNvPr id="1048832" name="Text 5"/>
          <p:cNvSpPr/>
          <p:nvPr/>
        </p:nvSpPr>
        <p:spPr>
          <a:xfrm>
            <a:off x="484632" y="1627632"/>
            <a:ext cx="1389888" cy="457200"/>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Product Management</a:t>
            </a:r>
            <a:endParaRPr dirty="0" sz="1050" lang="en-US"/>
          </a:p>
        </p:txBody>
      </p:sp>
      <p:sp>
        <p:nvSpPr>
          <p:cNvPr id="1048833" name="Text 6"/>
          <p:cNvSpPr/>
          <p:nvPr/>
        </p:nvSpPr>
        <p:spPr>
          <a:xfrm>
            <a:off x="484632" y="2121408"/>
            <a:ext cx="1389888" cy="777240"/>
          </a:xfrm>
          <a:prstGeom prst="rect"/>
          <a:noFill/>
        </p:spPr>
        <p:txBody>
          <a:bodyPr anchor="ctr" bIns="0" lIns="0" rIns="0" rtlCol="0" tIns="0" wrap="square"/>
          <a:p>
            <a:pPr algn="ctr" indent="0" marL="0">
              <a:buNone/>
            </a:pPr>
            <a:r>
              <a:rPr dirty="0" sz="950" lang="en-US">
                <a:solidFill>
                  <a:srgbClr val="7A9AB8"/>
                </a:solidFill>
                <a:latin typeface="Calibri" pitchFamily="34" charset="0"/>
                <a:ea typeface="Calibri" pitchFamily="34" charset="-122"/>
                <a:cs typeface="Calibri" pitchFamily="34" charset="-120"/>
              </a:rPr>
              <a:t>PM lead, PRD, metrics, roadmap</a:t>
            </a:r>
            <a:endParaRPr dirty="0" sz="950" lang="en-US"/>
          </a:p>
        </p:txBody>
      </p:sp>
      <p:sp>
        <p:nvSpPr>
          <p:cNvPr id="1048834" name="Shape 7"/>
          <p:cNvSpPr/>
          <p:nvPr/>
        </p:nvSpPr>
        <p:spPr>
          <a:xfrm>
            <a:off x="2093976" y="1024128"/>
            <a:ext cx="1536192" cy="1965960"/>
          </a:xfrm>
          <a:prstGeom prst="rect"/>
          <a:solidFill>
            <a:srgbClr val="0D2850"/>
          </a:solidFill>
          <a:ln w="12700">
            <a:solidFill>
              <a:srgbClr val="1D3A5F"/>
            </a:solidFill>
            <a:prstDash val="solid"/>
          </a:ln>
        </p:spPr>
      </p:sp>
      <p:sp>
        <p:nvSpPr>
          <p:cNvPr id="1048835" name="Shape 8"/>
          <p:cNvSpPr/>
          <p:nvPr/>
        </p:nvSpPr>
        <p:spPr>
          <a:xfrm>
            <a:off x="2633472" y="1115568"/>
            <a:ext cx="457200" cy="457200"/>
          </a:xfrm>
          <a:prstGeom prst="ellipse"/>
          <a:solidFill>
            <a:srgbClr val="2DD4BF"/>
          </a:solidFill>
          <a:ln w="12700">
            <a:solidFill>
              <a:srgbClr val="2DD4BF"/>
            </a:solidFill>
            <a:prstDash val="solid"/>
          </a:ln>
        </p:spPr>
      </p:sp>
      <p:sp>
        <p:nvSpPr>
          <p:cNvPr id="1048836" name="Text 9"/>
          <p:cNvSpPr/>
          <p:nvPr/>
        </p:nvSpPr>
        <p:spPr>
          <a:xfrm>
            <a:off x="2633472" y="1115568"/>
            <a:ext cx="457200" cy="457200"/>
          </a:xfrm>
          <a:prstGeom prst="rect"/>
          <a:noFill/>
        </p:spPr>
        <p:txBody>
          <a:bodyPr anchor="ctr" bIns="0" lIns="0" rIns="0" rtlCol="0" tIns="0" wrap="square"/>
          <a:p>
            <a:pPr algn="ctr" indent="0" marL="0">
              <a:buNone/>
            </a:pPr>
            <a:r>
              <a:rPr b="1" dirty="0" sz="1300" lang="en-US">
                <a:solidFill>
                  <a:srgbClr val="0A1E3F"/>
                </a:solidFill>
                <a:latin typeface="Calibri" pitchFamily="34" charset="0"/>
                <a:ea typeface="Calibri" pitchFamily="34" charset="-122"/>
                <a:cs typeface="Calibri" pitchFamily="34" charset="-120"/>
              </a:rPr>
              <a:t>RS</a:t>
            </a:r>
            <a:endParaRPr dirty="0" sz="1300" lang="en-US"/>
          </a:p>
        </p:txBody>
      </p:sp>
      <p:sp>
        <p:nvSpPr>
          <p:cNvPr id="1048837" name="Text 10"/>
          <p:cNvSpPr/>
          <p:nvPr/>
        </p:nvSpPr>
        <p:spPr>
          <a:xfrm>
            <a:off x="2167128" y="1627632"/>
            <a:ext cx="1389888" cy="457200"/>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Research &amp; Discovery</a:t>
            </a:r>
            <a:endParaRPr dirty="0" sz="1050" lang="en-US"/>
          </a:p>
        </p:txBody>
      </p:sp>
      <p:sp>
        <p:nvSpPr>
          <p:cNvPr id="1048838" name="Text 11"/>
          <p:cNvSpPr/>
          <p:nvPr/>
        </p:nvSpPr>
        <p:spPr>
          <a:xfrm>
            <a:off x="2167128" y="2121408"/>
            <a:ext cx="1389888" cy="777240"/>
          </a:xfrm>
          <a:prstGeom prst="rect"/>
          <a:noFill/>
        </p:spPr>
        <p:txBody>
          <a:bodyPr anchor="ctr" bIns="0" lIns="0" rIns="0" rtlCol="0" tIns="0" wrap="square"/>
          <a:p>
            <a:pPr algn="ctr" indent="0" marL="0">
              <a:buNone/>
            </a:pPr>
            <a:r>
              <a:rPr dirty="0" sz="950" lang="en-US">
                <a:solidFill>
                  <a:srgbClr val="7A9AB8"/>
                </a:solidFill>
                <a:latin typeface="Calibri" pitchFamily="34" charset="0"/>
                <a:ea typeface="Calibri" pitchFamily="34" charset="-122"/>
                <a:cs typeface="Calibri" pitchFamily="34" charset="-120"/>
              </a:rPr>
              <a:t>6 interviews, 52-person survey, insights</a:t>
            </a:r>
            <a:endParaRPr dirty="0" sz="950" lang="en-US"/>
          </a:p>
        </p:txBody>
      </p:sp>
      <p:sp>
        <p:nvSpPr>
          <p:cNvPr id="1048839" name="Shape 12"/>
          <p:cNvSpPr/>
          <p:nvPr/>
        </p:nvSpPr>
        <p:spPr>
          <a:xfrm>
            <a:off x="3776472" y="1024128"/>
            <a:ext cx="1536192" cy="1965960"/>
          </a:xfrm>
          <a:prstGeom prst="rect"/>
          <a:solidFill>
            <a:srgbClr val="0D2850"/>
          </a:solidFill>
          <a:ln w="12700">
            <a:solidFill>
              <a:srgbClr val="1D3A5F"/>
            </a:solidFill>
            <a:prstDash val="solid"/>
          </a:ln>
        </p:spPr>
      </p:sp>
      <p:sp>
        <p:nvSpPr>
          <p:cNvPr id="1048840" name="Shape 13"/>
          <p:cNvSpPr/>
          <p:nvPr/>
        </p:nvSpPr>
        <p:spPr>
          <a:xfrm>
            <a:off x="4315968" y="1115568"/>
            <a:ext cx="457200" cy="457200"/>
          </a:xfrm>
          <a:prstGeom prst="ellipse"/>
          <a:solidFill>
            <a:srgbClr val="2DD4BF"/>
          </a:solidFill>
          <a:ln w="12700">
            <a:solidFill>
              <a:srgbClr val="2DD4BF"/>
            </a:solidFill>
            <a:prstDash val="solid"/>
          </a:ln>
        </p:spPr>
      </p:sp>
      <p:sp>
        <p:nvSpPr>
          <p:cNvPr id="1048841" name="Text 14"/>
          <p:cNvSpPr/>
          <p:nvPr/>
        </p:nvSpPr>
        <p:spPr>
          <a:xfrm>
            <a:off x="4315968" y="1115568"/>
            <a:ext cx="457200" cy="457200"/>
          </a:xfrm>
          <a:prstGeom prst="rect"/>
          <a:noFill/>
        </p:spPr>
        <p:txBody>
          <a:bodyPr anchor="ctr" bIns="0" lIns="0" rIns="0" rtlCol="0" tIns="0" wrap="square"/>
          <a:p>
            <a:pPr algn="ctr" indent="0" marL="0">
              <a:buNone/>
            </a:pPr>
            <a:r>
              <a:rPr b="1" dirty="0" sz="1300" lang="en-US">
                <a:solidFill>
                  <a:srgbClr val="0A1E3F"/>
                </a:solidFill>
                <a:latin typeface="Calibri" pitchFamily="34" charset="0"/>
                <a:ea typeface="Calibri" pitchFamily="34" charset="-122"/>
                <a:cs typeface="Calibri" pitchFamily="34" charset="-120"/>
              </a:rPr>
              <a:t>DS</a:t>
            </a:r>
            <a:endParaRPr dirty="0" sz="1300" lang="en-US"/>
          </a:p>
        </p:txBody>
      </p:sp>
      <p:sp>
        <p:nvSpPr>
          <p:cNvPr id="1048842" name="Text 15"/>
          <p:cNvSpPr/>
          <p:nvPr/>
        </p:nvSpPr>
        <p:spPr>
          <a:xfrm>
            <a:off x="3849624" y="1627632"/>
            <a:ext cx="1389888" cy="457200"/>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Design</a:t>
            </a:r>
            <a:endParaRPr dirty="0" sz="1050" lang="en-US"/>
          </a:p>
        </p:txBody>
      </p:sp>
      <p:sp>
        <p:nvSpPr>
          <p:cNvPr id="1048843" name="Text 16"/>
          <p:cNvSpPr/>
          <p:nvPr/>
        </p:nvSpPr>
        <p:spPr>
          <a:xfrm>
            <a:off x="3849624" y="2121408"/>
            <a:ext cx="1389888" cy="777240"/>
          </a:xfrm>
          <a:prstGeom prst="rect"/>
          <a:noFill/>
        </p:spPr>
        <p:txBody>
          <a:bodyPr anchor="ctr" bIns="0" lIns="0" rIns="0" rtlCol="0" tIns="0" wrap="square"/>
          <a:p>
            <a:pPr algn="ctr" indent="0" marL="0">
              <a:buNone/>
            </a:pPr>
            <a:r>
              <a:rPr dirty="0" sz="950" lang="en-US">
                <a:solidFill>
                  <a:srgbClr val="7A9AB8"/>
                </a:solidFill>
                <a:latin typeface="Calibri" pitchFamily="34" charset="0"/>
                <a:ea typeface="Calibri" pitchFamily="34" charset="-122"/>
                <a:cs typeface="Calibri" pitchFamily="34" charset="-120"/>
              </a:rPr>
              <a:t>Journey map, wireframes, Figma prototype</a:t>
            </a:r>
            <a:endParaRPr dirty="0" sz="950" lang="en-US"/>
          </a:p>
        </p:txBody>
      </p:sp>
      <p:sp>
        <p:nvSpPr>
          <p:cNvPr id="1048844" name="Shape 17"/>
          <p:cNvSpPr/>
          <p:nvPr/>
        </p:nvSpPr>
        <p:spPr>
          <a:xfrm>
            <a:off x="5458968" y="1024128"/>
            <a:ext cx="1536192" cy="1965960"/>
          </a:xfrm>
          <a:prstGeom prst="rect"/>
          <a:solidFill>
            <a:srgbClr val="0D2850"/>
          </a:solidFill>
          <a:ln w="12700">
            <a:solidFill>
              <a:srgbClr val="1D3A5F"/>
            </a:solidFill>
            <a:prstDash val="solid"/>
          </a:ln>
        </p:spPr>
      </p:sp>
      <p:sp>
        <p:nvSpPr>
          <p:cNvPr id="1048845" name="Shape 18"/>
          <p:cNvSpPr/>
          <p:nvPr/>
        </p:nvSpPr>
        <p:spPr>
          <a:xfrm>
            <a:off x="5998464" y="1115568"/>
            <a:ext cx="457200" cy="457200"/>
          </a:xfrm>
          <a:prstGeom prst="ellipse"/>
          <a:solidFill>
            <a:srgbClr val="2DD4BF"/>
          </a:solidFill>
          <a:ln w="12700">
            <a:solidFill>
              <a:srgbClr val="2DD4BF"/>
            </a:solidFill>
            <a:prstDash val="solid"/>
          </a:ln>
        </p:spPr>
      </p:sp>
      <p:sp>
        <p:nvSpPr>
          <p:cNvPr id="1048846" name="Text 19"/>
          <p:cNvSpPr/>
          <p:nvPr/>
        </p:nvSpPr>
        <p:spPr>
          <a:xfrm>
            <a:off x="5998464" y="1115568"/>
            <a:ext cx="457200" cy="457200"/>
          </a:xfrm>
          <a:prstGeom prst="rect"/>
          <a:noFill/>
        </p:spPr>
        <p:txBody>
          <a:bodyPr anchor="ctr" bIns="0" lIns="0" rIns="0" rtlCol="0" tIns="0" wrap="square"/>
          <a:p>
            <a:pPr algn="ctr" indent="0" marL="0">
              <a:buNone/>
            </a:pPr>
            <a:r>
              <a:rPr b="1" dirty="0" sz="1300" lang="en-US">
                <a:solidFill>
                  <a:srgbClr val="0A1E3F"/>
                </a:solidFill>
                <a:latin typeface="Calibri" pitchFamily="34" charset="0"/>
                <a:ea typeface="Calibri" pitchFamily="34" charset="-122"/>
                <a:cs typeface="Calibri" pitchFamily="34" charset="-120"/>
              </a:rPr>
              <a:t>BL</a:t>
            </a:r>
            <a:endParaRPr dirty="0" sz="1300" lang="en-US"/>
          </a:p>
        </p:txBody>
      </p:sp>
      <p:sp>
        <p:nvSpPr>
          <p:cNvPr id="1048847" name="Text 20"/>
          <p:cNvSpPr/>
          <p:nvPr/>
        </p:nvSpPr>
        <p:spPr>
          <a:xfrm>
            <a:off x="5532120" y="1627632"/>
            <a:ext cx="1389888" cy="457200"/>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Build</a:t>
            </a:r>
            <a:endParaRPr dirty="0" sz="1050" lang="en-US"/>
          </a:p>
        </p:txBody>
      </p:sp>
      <p:sp>
        <p:nvSpPr>
          <p:cNvPr id="1048848" name="Text 21"/>
          <p:cNvSpPr/>
          <p:nvPr/>
        </p:nvSpPr>
        <p:spPr>
          <a:xfrm>
            <a:off x="5532120" y="2121408"/>
            <a:ext cx="1389888" cy="777240"/>
          </a:xfrm>
          <a:prstGeom prst="rect"/>
          <a:noFill/>
        </p:spPr>
        <p:txBody>
          <a:bodyPr anchor="ctr" bIns="0" lIns="0" rIns="0" rtlCol="0" tIns="0" wrap="square"/>
          <a:p>
            <a:pPr algn="ctr" indent="0" marL="0">
              <a:buNone/>
            </a:pPr>
            <a:r>
              <a:rPr dirty="0" sz="950" lang="en-US">
                <a:solidFill>
                  <a:srgbClr val="7A9AB8"/>
                </a:solidFill>
                <a:latin typeface="Calibri" pitchFamily="34" charset="0"/>
                <a:ea typeface="Calibri" pitchFamily="34" charset="-122"/>
                <a:cs typeface="Calibri" pitchFamily="34" charset="-120"/>
              </a:rPr>
              <a:t>HTML MVP, GitHub Pages, no-CDN resilience</a:t>
            </a:r>
            <a:endParaRPr dirty="0" sz="950" lang="en-US"/>
          </a:p>
        </p:txBody>
      </p:sp>
      <p:sp>
        <p:nvSpPr>
          <p:cNvPr id="1048849" name="Shape 22"/>
          <p:cNvSpPr/>
          <p:nvPr/>
        </p:nvSpPr>
        <p:spPr>
          <a:xfrm>
            <a:off x="7141464" y="1024128"/>
            <a:ext cx="1536192" cy="1965960"/>
          </a:xfrm>
          <a:prstGeom prst="rect"/>
          <a:solidFill>
            <a:srgbClr val="0D2850"/>
          </a:solidFill>
          <a:ln w="12700">
            <a:solidFill>
              <a:srgbClr val="1D3A5F"/>
            </a:solidFill>
            <a:prstDash val="solid"/>
          </a:ln>
        </p:spPr>
      </p:sp>
      <p:sp>
        <p:nvSpPr>
          <p:cNvPr id="1048850" name="Shape 23"/>
          <p:cNvSpPr/>
          <p:nvPr/>
        </p:nvSpPr>
        <p:spPr>
          <a:xfrm>
            <a:off x="7680960" y="1115568"/>
            <a:ext cx="457200" cy="457200"/>
          </a:xfrm>
          <a:prstGeom prst="ellipse"/>
          <a:solidFill>
            <a:srgbClr val="2DD4BF"/>
          </a:solidFill>
          <a:ln w="12700">
            <a:solidFill>
              <a:srgbClr val="2DD4BF"/>
            </a:solidFill>
            <a:prstDash val="solid"/>
          </a:ln>
        </p:spPr>
      </p:sp>
      <p:sp>
        <p:nvSpPr>
          <p:cNvPr id="1048851" name="Text 24"/>
          <p:cNvSpPr/>
          <p:nvPr/>
        </p:nvSpPr>
        <p:spPr>
          <a:xfrm>
            <a:off x="7680960" y="1115568"/>
            <a:ext cx="457200" cy="457200"/>
          </a:xfrm>
          <a:prstGeom prst="rect"/>
          <a:noFill/>
        </p:spPr>
        <p:txBody>
          <a:bodyPr anchor="ctr" bIns="0" lIns="0" rIns="0" rtlCol="0" tIns="0" wrap="square"/>
          <a:p>
            <a:pPr algn="ctr" indent="0" marL="0">
              <a:buNone/>
            </a:pPr>
            <a:r>
              <a:rPr b="1" dirty="0" sz="1300" lang="en-US">
                <a:solidFill>
                  <a:srgbClr val="0A1E3F"/>
                </a:solidFill>
                <a:latin typeface="Calibri" pitchFamily="34" charset="0"/>
                <a:ea typeface="Calibri" pitchFamily="34" charset="-122"/>
                <a:cs typeface="Calibri" pitchFamily="34" charset="-120"/>
              </a:rPr>
              <a:t>GT</a:t>
            </a:r>
            <a:endParaRPr dirty="0" sz="1300" lang="en-US"/>
          </a:p>
        </p:txBody>
      </p:sp>
      <p:sp>
        <p:nvSpPr>
          <p:cNvPr id="1048852" name="Text 25"/>
          <p:cNvSpPr/>
          <p:nvPr/>
        </p:nvSpPr>
        <p:spPr>
          <a:xfrm>
            <a:off x="7214616" y="1627632"/>
            <a:ext cx="1389888" cy="457200"/>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GTM &amp; Comms</a:t>
            </a:r>
            <a:endParaRPr dirty="0" sz="1050" lang="en-US"/>
          </a:p>
        </p:txBody>
      </p:sp>
      <p:sp>
        <p:nvSpPr>
          <p:cNvPr id="1048853" name="Text 26"/>
          <p:cNvSpPr/>
          <p:nvPr/>
        </p:nvSpPr>
        <p:spPr>
          <a:xfrm>
            <a:off x="7214616" y="2121408"/>
            <a:ext cx="1389888" cy="777240"/>
          </a:xfrm>
          <a:prstGeom prst="rect"/>
          <a:noFill/>
        </p:spPr>
        <p:txBody>
          <a:bodyPr anchor="ctr" bIns="0" lIns="0" rIns="0" rtlCol="0" tIns="0" wrap="square"/>
          <a:p>
            <a:pPr algn="ctr" indent="0" marL="0">
              <a:buNone/>
            </a:pPr>
            <a:r>
              <a:rPr dirty="0" sz="950" lang="en-US">
                <a:solidFill>
                  <a:srgbClr val="7A9AB8"/>
                </a:solidFill>
                <a:latin typeface="Calibri" pitchFamily="34" charset="0"/>
                <a:ea typeface="Calibri" pitchFamily="34" charset="-122"/>
                <a:cs typeface="Calibri" pitchFamily="34" charset="-120"/>
              </a:rPr>
              <a:t>GTM plan, pitch deck, demo-day delivery</a:t>
            </a:r>
            <a:endParaRPr dirty="0" sz="950" lang="en-US"/>
          </a:p>
        </p:txBody>
      </p:sp>
      <p:sp>
        <p:nvSpPr>
          <p:cNvPr id="1048854" name="Shape 27"/>
          <p:cNvSpPr/>
          <p:nvPr/>
        </p:nvSpPr>
        <p:spPr>
          <a:xfrm>
            <a:off x="411480" y="3090672"/>
            <a:ext cx="4937760" cy="1417320"/>
          </a:xfrm>
          <a:prstGeom prst="rect"/>
          <a:solidFill>
            <a:srgbClr val="0D2850"/>
          </a:solidFill>
          <a:ln w="12700">
            <a:solidFill>
              <a:srgbClr val="1D3A5F"/>
            </a:solidFill>
            <a:prstDash val="solid"/>
          </a:ln>
        </p:spPr>
      </p:sp>
      <p:sp>
        <p:nvSpPr>
          <p:cNvPr id="1048855" name="Text 28"/>
          <p:cNvSpPr/>
          <p:nvPr/>
        </p:nvSpPr>
        <p:spPr>
          <a:xfrm>
            <a:off x="548640" y="3163824"/>
            <a:ext cx="4663440" cy="274320"/>
          </a:xfrm>
          <a:prstGeom prst="rect"/>
          <a:noFill/>
        </p:spPr>
        <p:txBody>
          <a:bodyPr anchor="ctr" bIns="0" lIns="0" rIns="0" rtlCol="0" tIns="0" wrap="square"/>
          <a:p>
            <a:pPr indent="0" marL="0">
              <a:buNone/>
            </a:pPr>
            <a:r>
              <a:rPr b="1" dirty="0" sz="1100" lang="en-US">
                <a:solidFill>
                  <a:srgbClr val="2DD4BF"/>
                </a:solidFill>
                <a:latin typeface="Calibri" pitchFamily="34" charset="0"/>
                <a:ea typeface="Calibri" pitchFamily="34" charset="-122"/>
                <a:cs typeface="Calibri" pitchFamily="34" charset="-120"/>
              </a:rPr>
              <a:t>What we learned building LifeLine:</a:t>
            </a:r>
            <a:endParaRPr dirty="0" sz="1100" lang="en-US"/>
          </a:p>
        </p:txBody>
      </p:sp>
      <p:sp>
        <p:nvSpPr>
          <p:cNvPr id="1048856" name="Text 29"/>
          <p:cNvSpPr/>
          <p:nvPr/>
        </p:nvSpPr>
        <p:spPr>
          <a:xfrm>
            <a:off x="548640" y="3493008"/>
            <a:ext cx="4663440" cy="292608"/>
          </a:xfrm>
          <a:prstGeom prst="rect"/>
          <a:noFill/>
        </p:spPr>
        <p:txBody>
          <a:bodyPr anchor="ctr" bIns="0" lIns="0" rIns="0" rtlCol="0" tIns="0" wrap="square"/>
          <a:p>
            <a:pPr indent="0" marL="0">
              <a:buNone/>
            </a:pPr>
            <a:r>
              <a:rPr b="1" dirty="0" sz="1050" lang="en-US">
                <a:solidFill>
                  <a:srgbClr val="86EFAC"/>
                </a:solidFill>
                <a:latin typeface="Calibri" pitchFamily="34" charset="0"/>
                <a:ea typeface="Calibri" pitchFamily="34" charset="-122"/>
                <a:cs typeface="Calibri" pitchFamily="34" charset="-120"/>
              </a:rPr>
              <a:t>✓  </a:t>
            </a:r>
            <a:r>
              <a:rPr dirty="0" sz="1050" lang="en-US">
                <a:solidFill>
                  <a:srgbClr val="A0B8D0"/>
                </a:solidFill>
                <a:latin typeface="Calibri" pitchFamily="34" charset="0"/>
                <a:ea typeface="Calibri" pitchFamily="34" charset="-122"/>
                <a:cs typeface="Calibri" pitchFamily="34" charset="-120"/>
              </a:rPr>
              <a:t>Discovery reshapes products — our SOS-first design became prevention-first after interview #2.</a:t>
            </a:r>
            <a:endParaRPr dirty="0" sz="1050" lang="en-US"/>
          </a:p>
        </p:txBody>
      </p:sp>
      <p:sp>
        <p:nvSpPr>
          <p:cNvPr id="1048857" name="Text 30"/>
          <p:cNvSpPr/>
          <p:nvPr/>
        </p:nvSpPr>
        <p:spPr>
          <a:xfrm>
            <a:off x="548640" y="3813048"/>
            <a:ext cx="4663440" cy="292608"/>
          </a:xfrm>
          <a:prstGeom prst="rect"/>
          <a:noFill/>
        </p:spPr>
        <p:txBody>
          <a:bodyPr anchor="ctr" bIns="0" lIns="0" rIns="0" rtlCol="0" tIns="0" wrap="square"/>
          <a:p>
            <a:pPr indent="0" marL="0">
              <a:buNone/>
            </a:pPr>
            <a:r>
              <a:rPr b="1" dirty="0" sz="1050" lang="en-US">
                <a:solidFill>
                  <a:srgbClr val="86EFAC"/>
                </a:solidFill>
                <a:latin typeface="Calibri" pitchFamily="34" charset="0"/>
                <a:ea typeface="Calibri" pitchFamily="34" charset="-122"/>
                <a:cs typeface="Calibri" pitchFamily="34" charset="-120"/>
              </a:rPr>
              <a:t>✓  </a:t>
            </a:r>
            <a:r>
              <a:rPr dirty="0" sz="1050" lang="en-US">
                <a:solidFill>
                  <a:srgbClr val="A0B8D0"/>
                </a:solidFill>
                <a:latin typeface="Calibri" pitchFamily="34" charset="0"/>
                <a:ea typeface="Calibri" pitchFamily="34" charset="-122"/>
                <a:cs typeface="Calibri" pitchFamily="34" charset="-120"/>
              </a:rPr>
              <a:t>Network constraints are a product requirement, not a deployment problem.</a:t>
            </a:r>
            <a:endParaRPr dirty="0" sz="1050" lang="en-US"/>
          </a:p>
        </p:txBody>
      </p:sp>
      <p:sp>
        <p:nvSpPr>
          <p:cNvPr id="1048858" name="Text 31"/>
          <p:cNvSpPr/>
          <p:nvPr/>
        </p:nvSpPr>
        <p:spPr>
          <a:xfrm>
            <a:off x="548640" y="4133088"/>
            <a:ext cx="4663440" cy="292608"/>
          </a:xfrm>
          <a:prstGeom prst="rect"/>
          <a:noFill/>
        </p:spPr>
        <p:txBody>
          <a:bodyPr anchor="ctr" bIns="0" lIns="0" rIns="0" rtlCol="0" tIns="0" wrap="square"/>
          <a:p>
            <a:pPr indent="0" marL="0">
              <a:buNone/>
            </a:pPr>
            <a:r>
              <a:rPr b="1" dirty="0" sz="1050" lang="en-US">
                <a:solidFill>
                  <a:srgbClr val="86EFAC"/>
                </a:solidFill>
                <a:latin typeface="Calibri" pitchFamily="34" charset="0"/>
                <a:ea typeface="Calibri" pitchFamily="34" charset="-122"/>
                <a:cs typeface="Calibri" pitchFamily="34" charset="-120"/>
              </a:rPr>
              <a:t>✓  </a:t>
            </a:r>
            <a:r>
              <a:rPr dirty="0" sz="1050" lang="en-US">
                <a:solidFill>
                  <a:srgbClr val="A0B8D0"/>
                </a:solidFill>
                <a:latin typeface="Calibri" pitchFamily="34" charset="0"/>
                <a:ea typeface="Calibri" pitchFamily="34" charset="-122"/>
                <a:cs typeface="Calibri" pitchFamily="34" charset="-120"/>
              </a:rPr>
              <a:t>Honest scope beats aspirational scope — every judge can tell.</a:t>
            </a:r>
            <a:endParaRPr dirty="0" sz="1050" lang="en-US"/>
          </a:p>
        </p:txBody>
      </p:sp>
      <p:sp>
        <p:nvSpPr>
          <p:cNvPr id="1048859" name="Shape 32"/>
          <p:cNvSpPr/>
          <p:nvPr/>
        </p:nvSpPr>
        <p:spPr>
          <a:xfrm>
            <a:off x="5532120" y="3090672"/>
            <a:ext cx="3200400" cy="1417320"/>
          </a:xfrm>
          <a:prstGeom prst="rect"/>
          <a:solidFill>
            <a:srgbClr val="2DD4BF"/>
          </a:solidFill>
          <a:ln w="12700">
            <a:solidFill>
              <a:srgbClr val="2DD4BF"/>
            </a:solidFill>
            <a:prstDash val="solid"/>
          </a:ln>
        </p:spPr>
      </p:sp>
      <p:sp>
        <p:nvSpPr>
          <p:cNvPr id="1048860" name="Text 33"/>
          <p:cNvSpPr/>
          <p:nvPr/>
        </p:nvSpPr>
        <p:spPr>
          <a:xfrm>
            <a:off x="5623560" y="3218688"/>
            <a:ext cx="3017520" cy="548640"/>
          </a:xfrm>
          <a:prstGeom prst="rect"/>
          <a:noFill/>
        </p:spPr>
        <p:txBody>
          <a:bodyPr anchor="ctr" bIns="0" lIns="0" rIns="0" rtlCol="0" tIns="0" wrap="square"/>
          <a:p>
            <a:pPr indent="0" marL="0">
              <a:buNone/>
            </a:pPr>
            <a:r>
              <a:rPr b="1" dirty="0" sz="3000" lang="en-US">
                <a:solidFill>
                  <a:srgbClr val="0A1E3F"/>
                </a:solidFill>
                <a:latin typeface="Calibri" pitchFamily="34" charset="0"/>
                <a:ea typeface="Calibri" pitchFamily="34" charset="-122"/>
                <a:cs typeface="Calibri" pitchFamily="34" charset="-120"/>
              </a:rPr>
              <a:t>Thank you.</a:t>
            </a:r>
            <a:endParaRPr dirty="0" sz="3000" lang="en-US"/>
          </a:p>
        </p:txBody>
      </p:sp>
      <p:sp>
        <p:nvSpPr>
          <p:cNvPr id="1048861" name="Text 34"/>
          <p:cNvSpPr/>
          <p:nvPr/>
        </p:nvSpPr>
        <p:spPr>
          <a:xfrm>
            <a:off x="5623560" y="3767328"/>
            <a:ext cx="3017520" cy="274320"/>
          </a:xfrm>
          <a:prstGeom prst="rect"/>
          <a:noFill/>
        </p:spPr>
        <p:txBody>
          <a:bodyPr anchor="ctr" bIns="0" lIns="0" rIns="0" rtlCol="0" tIns="0" wrap="square"/>
          <a:p>
            <a:pPr indent="0" marL="0">
              <a:buNone/>
            </a:pPr>
            <a:r>
              <a:rPr dirty="0" sz="1200" lang="en-US">
                <a:solidFill>
                  <a:srgbClr val="0A1E3F"/>
                </a:solidFill>
                <a:latin typeface="Calibri" pitchFamily="34" charset="0"/>
                <a:ea typeface="Calibri" pitchFamily="34" charset="-122"/>
                <a:cs typeface="Calibri" pitchFamily="34" charset="-120"/>
              </a:rPr>
              <a:t>Questions &amp; feedback welcome.</a:t>
            </a:r>
            <a:endParaRPr dirty="0" sz="1200" lang="en-US"/>
          </a:p>
        </p:txBody>
      </p:sp>
      <p:sp>
        <p:nvSpPr>
          <p:cNvPr id="1048862" name="Text 35"/>
          <p:cNvSpPr/>
          <p:nvPr/>
        </p:nvSpPr>
        <p:spPr>
          <a:xfrm>
            <a:off x="5623560" y="4078224"/>
            <a:ext cx="3017520" cy="292608"/>
          </a:xfrm>
          <a:prstGeom prst="rect"/>
          <a:noFill/>
        </p:spPr>
        <p:txBody>
          <a:bodyPr anchor="ctr" bIns="0" lIns="0" rIns="0" rtlCol="0" tIns="0" wrap="square"/>
          <a:p>
            <a:pPr indent="0" marL="0">
              <a:buNone/>
            </a:pPr>
            <a:r>
              <a:rPr b="1" dirty="0" sz="1200" i="1" lang="en-US">
                <a:solidFill>
                  <a:srgbClr val="0A1E3F"/>
                </a:solidFill>
                <a:latin typeface="Calibri" pitchFamily="34" charset="0"/>
                <a:ea typeface="Calibri" pitchFamily="34" charset="-122"/>
                <a:cs typeface="Calibri" pitchFamily="34" charset="-120"/>
              </a:rPr>
              <a:t>Safety in one tap.</a:t>
            </a:r>
            <a:endParaRPr dirty="0" sz="1200"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creator>SM-N986U</dc:creator>
  <dcterms:created xsi:type="dcterms:W3CDTF">2026-05-23T21:06:56Z</dcterms:created>
  <dcterms:modified xsi:type="dcterms:W3CDTF">2026-05-24T19:00:09Z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868821097f9c4e18ad1ea4b755d80889</vt:lpwstr>
  </property>
</Properties>
</file>